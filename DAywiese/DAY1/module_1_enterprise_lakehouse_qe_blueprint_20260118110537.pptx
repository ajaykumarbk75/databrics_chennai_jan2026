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image" Target="../media/image-9-21.png"/><Relationship Id="rId22" Type="http://schemas.openxmlformats.org/officeDocument/2006/relationships/image" Target="../media/image-9-22.png"/><Relationship Id="rId23" Type="http://schemas.openxmlformats.org/officeDocument/2006/relationships/image" Target="../media/image-9-23.png"/><Relationship Id="rId24" Type="http://schemas.openxmlformats.org/officeDocument/2006/relationships/image" Target="../media/image-9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image" Target="../media/image-11-19.png"/><Relationship Id="rId20" Type="http://schemas.openxmlformats.org/officeDocument/2006/relationships/image" Target="../media/image-11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png"/><Relationship Id="rId17" Type="http://schemas.openxmlformats.org/officeDocument/2006/relationships/image" Target="../media/image-14-17.png"/><Relationship Id="rId18" Type="http://schemas.openxmlformats.org/officeDocument/2006/relationships/image" Target="../media/image-14-18.png"/><Relationship Id="rId19" Type="http://schemas.openxmlformats.org/officeDocument/2006/relationships/image" Target="../media/image-14-19.png"/><Relationship Id="rId20" Type="http://schemas.openxmlformats.org/officeDocument/2006/relationships/image" Target="../media/image-14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png"/><Relationship Id="rId15" Type="http://schemas.openxmlformats.org/officeDocument/2006/relationships/image" Target="../media/image-15-15.png"/><Relationship Id="rId16" Type="http://schemas.openxmlformats.org/officeDocument/2006/relationships/image" Target="../media/image-15-16.png"/><Relationship Id="rId17" Type="http://schemas.openxmlformats.org/officeDocument/2006/relationships/image" Target="../media/image-15-17.png"/><Relationship Id="rId18" Type="http://schemas.openxmlformats.org/officeDocument/2006/relationships/image" Target="../media/image-15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image" Target="../media/image-16-13.png"/><Relationship Id="rId14" Type="http://schemas.openxmlformats.org/officeDocument/2006/relationships/image" Target="../media/image-16-14.png"/><Relationship Id="rId15" Type="http://schemas.openxmlformats.org/officeDocument/2006/relationships/image" Target="../media/image-16-15.png"/><Relationship Id="rId16" Type="http://schemas.openxmlformats.org/officeDocument/2006/relationships/image" Target="../media/image-16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pn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png"/><Relationship Id="rId15" Type="http://schemas.openxmlformats.org/officeDocument/2006/relationships/image" Target="../media/image-17-15.png"/><Relationship Id="rId16" Type="http://schemas.openxmlformats.org/officeDocument/2006/relationships/image" Target="../media/image-17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image" Target="../media/image-22-9.png"/><Relationship Id="rId10" Type="http://schemas.openxmlformats.org/officeDocument/2006/relationships/image" Target="../media/image-22-10.png"/><Relationship Id="rId11" Type="http://schemas.openxmlformats.org/officeDocument/2006/relationships/image" Target="../media/image-22-11.png"/><Relationship Id="rId12" Type="http://schemas.openxmlformats.org/officeDocument/2006/relationships/image" Target="../media/image-22-12.png"/><Relationship Id="rId13" Type="http://schemas.openxmlformats.org/officeDocument/2006/relationships/image" Target="../media/image-22-13.png"/><Relationship Id="rId14" Type="http://schemas.openxmlformats.org/officeDocument/2006/relationships/image" Target="../media/image-22-14.png"/><Relationship Id="rId15" Type="http://schemas.openxmlformats.org/officeDocument/2006/relationships/image" Target="../media/image-22-15.png"/><Relationship Id="rId16" Type="http://schemas.openxmlformats.org/officeDocument/2006/relationships/image" Target="../media/image-22-16.png"/><Relationship Id="rId17" Type="http://schemas.openxmlformats.org/officeDocument/2006/relationships/image" Target="../media/image-22-17.png"/><Relationship Id="rId18" Type="http://schemas.openxmlformats.org/officeDocument/2006/relationships/image" Target="../media/image-22-18.png"/><Relationship Id="rId19" Type="http://schemas.openxmlformats.org/officeDocument/2006/relationships/image" Target="../media/image-22-19.png"/><Relationship Id="rId20" Type="http://schemas.openxmlformats.org/officeDocument/2006/relationships/image" Target="../media/image-22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image" Target="../media/image-23-10.png"/><Relationship Id="rId11" Type="http://schemas.openxmlformats.org/officeDocument/2006/relationships/image" Target="../media/image-23-11.png"/><Relationship Id="rId12" Type="http://schemas.openxmlformats.org/officeDocument/2006/relationships/image" Target="../media/image-23-12.png"/><Relationship Id="rId13" Type="http://schemas.openxmlformats.org/officeDocument/2006/relationships/image" Target="../media/image-23-13.png"/><Relationship Id="rId14" Type="http://schemas.openxmlformats.org/officeDocument/2006/relationships/image" Target="../media/image-23-14.png"/><Relationship Id="rId15" Type="http://schemas.openxmlformats.org/officeDocument/2006/relationships/image" Target="../media/image-23-15.png"/><Relationship Id="rId16" Type="http://schemas.openxmlformats.org/officeDocument/2006/relationships/image" Target="../media/image-23-16.png"/><Relationship Id="rId17" Type="http://schemas.openxmlformats.org/officeDocument/2006/relationships/image" Target="../media/image-23-17.png"/><Relationship Id="rId18" Type="http://schemas.openxmlformats.org/officeDocument/2006/relationships/image" Target="../media/image-23-18.png"/><Relationship Id="rId19" Type="http://schemas.openxmlformats.org/officeDocument/2006/relationships/image" Target="../media/image-23-19.png"/><Relationship Id="rId20" Type="http://schemas.openxmlformats.org/officeDocument/2006/relationships/image" Target="../media/image-23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image" Target="../media/image-24-8.png"/><Relationship Id="rId9" Type="http://schemas.openxmlformats.org/officeDocument/2006/relationships/image" Target="../media/image-24-9.png"/><Relationship Id="rId10" Type="http://schemas.openxmlformats.org/officeDocument/2006/relationships/image" Target="../media/image-24-10.png"/><Relationship Id="rId11" Type="http://schemas.openxmlformats.org/officeDocument/2006/relationships/image" Target="../media/image-24-11.png"/><Relationship Id="rId12" Type="http://schemas.openxmlformats.org/officeDocument/2006/relationships/image" Target="../media/image-24-12.png"/><Relationship Id="rId13" Type="http://schemas.openxmlformats.org/officeDocument/2006/relationships/image" Target="../media/image-24-13.png"/><Relationship Id="rId14" Type="http://schemas.openxmlformats.org/officeDocument/2006/relationships/image" Target="../media/image-24-14.png"/><Relationship Id="rId15" Type="http://schemas.openxmlformats.org/officeDocument/2006/relationships/image" Target="../media/image-24-15.png"/><Relationship Id="rId16" Type="http://schemas.openxmlformats.org/officeDocument/2006/relationships/image" Target="../media/image-24-16.png"/><Relationship Id="rId17" Type="http://schemas.openxmlformats.org/officeDocument/2006/relationships/image" Target="../media/image-24-17.png"/><Relationship Id="rId18" Type="http://schemas.openxmlformats.org/officeDocument/2006/relationships/image" Target="../media/image-24-18.png"/><Relationship Id="rId19" Type="http://schemas.openxmlformats.org/officeDocument/2006/relationships/image" Target="../media/image-24-19.png"/><Relationship Id="rId20" Type="http://schemas.openxmlformats.org/officeDocument/2006/relationships/image" Target="../media/image-24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image" Target="../media/image-27-10.png"/><Relationship Id="rId11" Type="http://schemas.openxmlformats.org/officeDocument/2006/relationships/image" Target="../media/image-27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52705" cy="6858000"/>
          </a:xfrm>
          <a:prstGeom prst="rect">
            <a:avLst/>
          </a:prstGeom>
          <a:solidFill>
            <a:srgbClr val="0056B3"/>
          </a:solidFill>
          <a:ln/>
        </p:spPr>
      </p:sp>
      <p:sp>
        <p:nvSpPr>
          <p:cNvPr id="5" name="Shape 3"/>
          <p:cNvSpPr/>
          <p:nvPr/>
        </p:nvSpPr>
        <p:spPr>
          <a:xfrm>
            <a:off x="6476695" y="3047695"/>
            <a:ext cx="5715000" cy="3810305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6" name="Shape 4"/>
          <p:cNvSpPr/>
          <p:nvPr/>
        </p:nvSpPr>
        <p:spPr>
          <a:xfrm>
            <a:off x="8382305" y="4953305"/>
            <a:ext cx="3810305" cy="1904695"/>
          </a:xfrm>
          <a:prstGeom prst="rect">
            <a:avLst/>
          </a:prstGeom>
          <a:solidFill>
            <a:srgbClr val="DEE2E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805" y="3258007"/>
            <a:ext cx="228600" cy="22860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52805" y="3696919"/>
            <a:ext cx="228600" cy="22860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52805" y="4134917"/>
            <a:ext cx="228600" cy="2286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5106010"/>
            <a:ext cx="7619695" cy="9144"/>
          </a:xfrm>
          <a:prstGeom prst="rect">
            <a:avLst/>
          </a:prstGeom>
          <a:solidFill>
            <a:srgbClr val="DEE2E6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52805" y="5368442"/>
            <a:ext cx="152705" cy="152705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429914" y="5368442"/>
            <a:ext cx="152705" cy="152705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293462" y="5368442"/>
            <a:ext cx="152705" cy="152705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1447495" y="1332281"/>
            <a:ext cx="22247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8-HOUR TRAINING MODULE</a:t>
            </a:r>
            <a:endParaRPr lang="en-US" sz="1000" dirty="0"/>
          </a:p>
        </p:txBody>
      </p:sp>
      <p:sp>
        <p:nvSpPr>
          <p:cNvPr id="15" name="Text 7"/>
          <p:cNvSpPr txBox="1"/>
          <p:nvPr/>
        </p:nvSpPr>
        <p:spPr>
          <a:xfrm>
            <a:off x="952805" y="1675181"/>
            <a:ext cx="9125712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>
                <a:solidFill>
                  <a:srgbClr val="21252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Day 1 — Databricks Quality Engineering Strategy &amp; Architecture</a:t>
            </a:r>
            <a:endParaRPr lang="en-US" sz="4200" dirty="0"/>
          </a:p>
        </p:txBody>
      </p:sp>
      <p:sp>
        <p:nvSpPr>
          <p:cNvPr id="16" name="Text 8"/>
          <p:cNvSpPr txBox="1"/>
          <p:nvPr/>
        </p:nvSpPr>
        <p:spPr>
          <a:xfrm>
            <a:off x="1295705" y="3248863"/>
            <a:ext cx="4401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9505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Databricks-Native Strategy &amp; Architecture Patterns</a:t>
            </a:r>
            <a:endParaRPr lang="en-US" sz="1500" dirty="0"/>
          </a:p>
        </p:txBody>
      </p:sp>
      <p:sp>
        <p:nvSpPr>
          <p:cNvPr id="17" name="Text 9"/>
          <p:cNvSpPr txBox="1"/>
          <p:nvPr/>
        </p:nvSpPr>
        <p:spPr>
          <a:xfrm>
            <a:off x="1295705" y="3686861"/>
            <a:ext cx="46387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9505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Native Validation: Delta Constraints, DLT &amp; Workflows</a:t>
            </a:r>
            <a:endParaRPr lang="en-US" sz="1500" dirty="0"/>
          </a:p>
        </p:txBody>
      </p:sp>
      <p:sp>
        <p:nvSpPr>
          <p:cNvPr id="18" name="Text 10"/>
          <p:cNvSpPr txBox="1"/>
          <p:nvPr/>
        </p:nvSpPr>
        <p:spPr>
          <a:xfrm>
            <a:off x="1295705" y="412485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9505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 Hours | Interactive Strategy + Labs</a:t>
            </a:r>
            <a:endParaRPr lang="en-US" sz="1500" dirty="0"/>
          </a:p>
        </p:txBody>
      </p:sp>
      <p:sp>
        <p:nvSpPr>
          <p:cNvPr id="19" name="Text 11"/>
          <p:cNvSpPr txBox="1"/>
          <p:nvPr/>
        </p:nvSpPr>
        <p:spPr>
          <a:xfrm>
            <a:off x="1181405" y="5363870"/>
            <a:ext cx="19769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Presented by: [Presenter Name]</a:t>
            </a:r>
            <a:endParaRPr lang="en-US" sz="1000" dirty="0"/>
          </a:p>
        </p:txBody>
      </p:sp>
      <p:sp>
        <p:nvSpPr>
          <p:cNvPr id="20" name="Text 12"/>
          <p:cNvSpPr txBox="1"/>
          <p:nvPr/>
        </p:nvSpPr>
        <p:spPr>
          <a:xfrm>
            <a:off x="3658514" y="5363870"/>
            <a:ext cx="135788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[Date: MM/DD/YYYY]</a:t>
            </a:r>
            <a:endParaRPr lang="en-US" sz="1000" dirty="0"/>
          </a:p>
        </p:txBody>
      </p:sp>
      <p:sp>
        <p:nvSpPr>
          <p:cNvPr id="21" name="Text 13"/>
          <p:cNvSpPr txBox="1"/>
          <p:nvPr/>
        </p:nvSpPr>
        <p:spPr>
          <a:xfrm>
            <a:off x="5522062" y="5363870"/>
            <a:ext cx="16724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Enterprise Quality Practice</a:t>
            </a:r>
            <a:endParaRPr lang="en-US" sz="1000" dirty="0"/>
          </a:p>
        </p:txBody>
      </p:sp>
      <p:sp>
        <p:nvSpPr>
          <p:cNvPr id="22" name="Text 14"/>
          <p:cNvSpPr txBox="1"/>
          <p:nvPr/>
        </p:nvSpPr>
        <p:spPr>
          <a:xfrm>
            <a:off x="10497312" y="418795"/>
            <a:ext cx="12957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43A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GENSPARK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81305" y="1105510"/>
            <a:ext cx="114300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1305" y="381305"/>
            <a:ext cx="370057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 Agenda &amp; Outcomes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381305" y="780898"/>
            <a:ext cx="39721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Databricks Quality Engineering Strategy &amp; Architecture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161727" y="647395"/>
            <a:ext cx="1657807" cy="342900"/>
          </a:xfrm>
          <a:prstGeom prst="roundRect">
            <a:avLst>
              <a:gd name="adj" fmla="val 266667"/>
            </a:avLst>
          </a:prstGeom>
          <a:solidFill>
            <a:srgbClr val="EFF6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314432" y="752551"/>
            <a:ext cx="133502" cy="1335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523830" y="724205"/>
            <a:ext cx="12435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Duration: 8 Hours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81305" y="1343254"/>
            <a:ext cx="3685946" cy="1647749"/>
          </a:xfrm>
          <a:prstGeom prst="roundRect">
            <a:avLst>
              <a:gd name="adj" fmla="val 384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841041" y="1352398"/>
            <a:ext cx="1218895" cy="30449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917850" y="1410005"/>
            <a:ext cx="11814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08:30 – 09:00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80644" y="1543507"/>
            <a:ext cx="5385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1011326" y="1543507"/>
            <a:ext cx="228600" cy="342900"/>
          </a:xfrm>
          <a:prstGeom prst="roundRect">
            <a:avLst>
              <a:gd name="adj" fmla="val 133333"/>
            </a:avLst>
          </a:prstGeom>
          <a:solidFill>
            <a:srgbClr val="F3F4F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100" b="-1100"/>
          <a:stretch/>
        </p:blipFill>
        <p:spPr>
          <a:xfrm>
            <a:off x="1068019" y="1655064"/>
            <a:ext cx="114300" cy="13350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80644" y="1962302"/>
            <a:ext cx="18242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Kickoff &amp; Objectives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580644" y="2271370"/>
            <a:ext cx="31720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goals, success criteria, and aligning on the day's roadmap.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254703" y="1343254"/>
            <a:ext cx="3685946" cy="1647749"/>
          </a:xfrm>
          <a:prstGeom prst="roundRect">
            <a:avLst>
              <a:gd name="adj" fmla="val 384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789420" y="1352398"/>
            <a:ext cx="1143000" cy="304495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865315" y="1410005"/>
            <a:ext cx="11055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09:00 – 10:15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4454042" y="1543507"/>
            <a:ext cx="59618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200" dirty="0"/>
          </a:p>
        </p:txBody>
      </p:sp>
      <p:sp>
        <p:nvSpPr>
          <p:cNvPr id="22" name="Shape 18"/>
          <p:cNvSpPr/>
          <p:nvPr/>
        </p:nvSpPr>
        <p:spPr>
          <a:xfrm>
            <a:off x="4941418" y="1543507"/>
            <a:ext cx="228600" cy="342900"/>
          </a:xfrm>
          <a:prstGeom prst="roundRect">
            <a:avLst>
              <a:gd name="adj" fmla="val 133333"/>
            </a:avLst>
          </a:prstGeom>
          <a:solidFill>
            <a:srgbClr val="DBEAFE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100" b="-1100"/>
          <a:stretch/>
        </p:blipFill>
        <p:spPr>
          <a:xfrm>
            <a:off x="4999025" y="1655064"/>
            <a:ext cx="114300" cy="133502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454042" y="1962302"/>
            <a:ext cx="20528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 on Databricks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4454042" y="2271370"/>
            <a:ext cx="28959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QE pillars (Trust, Velocity, Compliance) and defining Lakehouse KPIs.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8128102" y="1343254"/>
            <a:ext cx="3685946" cy="1647749"/>
          </a:xfrm>
          <a:prstGeom prst="roundRect">
            <a:avLst>
              <a:gd name="adj" fmla="val 384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10699394" y="1352398"/>
            <a:ext cx="1104595" cy="304495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10776204" y="1410005"/>
            <a:ext cx="10671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10:30 – 11:45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8328355" y="1543507"/>
            <a:ext cx="59618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200" dirty="0"/>
          </a:p>
        </p:txBody>
      </p:sp>
      <p:sp>
        <p:nvSpPr>
          <p:cNvPr id="30" name="Shape 25"/>
          <p:cNvSpPr/>
          <p:nvPr/>
        </p:nvSpPr>
        <p:spPr>
          <a:xfrm>
            <a:off x="8819388" y="1543507"/>
            <a:ext cx="267005" cy="342900"/>
          </a:xfrm>
          <a:prstGeom prst="roundRect">
            <a:avLst>
              <a:gd name="adj" fmla="val 97847"/>
            </a:avLst>
          </a:prstGeom>
          <a:solidFill>
            <a:srgbClr val="E0E7FF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rcRect l="-837" r="-837" t="0" b="0"/>
          <a:stretch/>
        </p:blipFill>
        <p:spPr>
          <a:xfrm>
            <a:off x="8876995" y="1655064"/>
            <a:ext cx="152705" cy="133502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8328355" y="1962302"/>
            <a:ext cx="11859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8328355" y="2271370"/>
            <a:ext cx="31153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patterns, governance with Unity Catalog, and CI/CD gates.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381305" y="3181198"/>
            <a:ext cx="3685946" cy="1647749"/>
          </a:xfrm>
          <a:prstGeom prst="roundRect">
            <a:avLst>
              <a:gd name="adj" fmla="val 3849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12700" dist="12700" dir="16200000">
              <a:srgbClr val="ffffff">
                <a:alpha val="100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2925166" y="3191256"/>
            <a:ext cx="1133856" cy="304495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3001975" y="3247949"/>
            <a:ext cx="10954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12:45 – 14:45</a:t>
            </a:r>
            <a:endParaRPr lang="en-US" sz="1200" dirty="0"/>
          </a:p>
        </p:txBody>
      </p:sp>
      <p:sp>
        <p:nvSpPr>
          <p:cNvPr id="37" name="Text 31"/>
          <p:cNvSpPr txBox="1"/>
          <p:nvPr/>
        </p:nvSpPr>
        <p:spPr>
          <a:xfrm>
            <a:off x="580644" y="3381451"/>
            <a:ext cx="6053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DE9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200" dirty="0"/>
          </a:p>
        </p:txBody>
      </p:sp>
      <p:sp>
        <p:nvSpPr>
          <p:cNvPr id="38" name="Shape 32"/>
          <p:cNvSpPr/>
          <p:nvPr/>
        </p:nvSpPr>
        <p:spPr>
          <a:xfrm>
            <a:off x="1081735" y="3381451"/>
            <a:ext cx="267005" cy="342900"/>
          </a:xfrm>
          <a:prstGeom prst="roundRect">
            <a:avLst>
              <a:gd name="adj" fmla="val 97847"/>
            </a:avLst>
          </a:prstGeom>
          <a:solidFill>
            <a:srgbClr val="EDE9FE"/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rcRect l="-837" r="-837" t="0" b="0"/>
          <a:stretch/>
        </p:blipFill>
        <p:spPr>
          <a:xfrm>
            <a:off x="1138428" y="3493008"/>
            <a:ext cx="152705" cy="133502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580644" y="3800246"/>
            <a:ext cx="17391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1: Blueprint</a:t>
            </a:r>
            <a:endParaRPr lang="en-US" sz="1300" dirty="0"/>
          </a:p>
        </p:txBody>
      </p:sp>
      <p:sp>
        <p:nvSpPr>
          <p:cNvPr id="41" name="Text 34"/>
          <p:cNvSpPr txBox="1"/>
          <p:nvPr/>
        </p:nvSpPr>
        <p:spPr>
          <a:xfrm>
            <a:off x="580644" y="4110228"/>
            <a:ext cx="29626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dive: Enterprise Lakehouse Quality Engineering Blueprint &amp; RFP Strategy.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4254703" y="3181198"/>
            <a:ext cx="3685946" cy="1647749"/>
          </a:xfrm>
          <a:prstGeom prst="roundRect">
            <a:avLst>
              <a:gd name="adj" fmla="val 384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6869887" y="3247949"/>
            <a:ext cx="11055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15:00 – 16:30</a:t>
            </a:r>
            <a:endParaRPr lang="en-US" sz="1200" dirty="0"/>
          </a:p>
        </p:txBody>
      </p:sp>
      <p:sp>
        <p:nvSpPr>
          <p:cNvPr id="44" name="Text 37"/>
          <p:cNvSpPr txBox="1"/>
          <p:nvPr/>
        </p:nvSpPr>
        <p:spPr>
          <a:xfrm>
            <a:off x="4454042" y="3381451"/>
            <a:ext cx="5861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2200" dirty="0"/>
          </a:p>
        </p:txBody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rcRect l="-1507" r="-1507" t="0" b="0"/>
          <a:stretch/>
        </p:blipFill>
        <p:spPr>
          <a:xfrm>
            <a:off x="4996282" y="3493008"/>
            <a:ext cx="171907" cy="133502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4454042" y="3800246"/>
            <a:ext cx="15581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Validation</a:t>
            </a:r>
            <a:endParaRPr lang="en-US" sz="1300" dirty="0"/>
          </a:p>
        </p:txBody>
      </p:sp>
      <p:sp>
        <p:nvSpPr>
          <p:cNvPr id="47" name="Text 39"/>
          <p:cNvSpPr txBox="1"/>
          <p:nvPr/>
        </p:nvSpPr>
        <p:spPr>
          <a:xfrm>
            <a:off x="4454042" y="4110228"/>
            <a:ext cx="28767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DLT expectations, Delta constraints, and monitoring patterns.</a:t>
            </a:r>
            <a:endParaRPr lang="en-US" sz="900" dirty="0"/>
          </a:p>
        </p:txBody>
      </p:sp>
      <p:sp>
        <p:nvSpPr>
          <p:cNvPr id="48" name="Shape 40"/>
          <p:cNvSpPr/>
          <p:nvPr/>
        </p:nvSpPr>
        <p:spPr>
          <a:xfrm>
            <a:off x="8128102" y="3181198"/>
            <a:ext cx="3685946" cy="1647749"/>
          </a:xfrm>
          <a:prstGeom prst="roundRect">
            <a:avLst>
              <a:gd name="adj" fmla="val 384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Text 41"/>
          <p:cNvSpPr txBox="1"/>
          <p:nvPr/>
        </p:nvSpPr>
        <p:spPr>
          <a:xfrm>
            <a:off x="10754258" y="3247949"/>
            <a:ext cx="10863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16:30 – 17:00</a:t>
            </a:r>
            <a:endParaRPr lang="en-US" sz="1200" dirty="0"/>
          </a:p>
        </p:txBody>
      </p:sp>
      <p:sp>
        <p:nvSpPr>
          <p:cNvPr id="50" name="Text 42"/>
          <p:cNvSpPr txBox="1"/>
          <p:nvPr/>
        </p:nvSpPr>
        <p:spPr>
          <a:xfrm>
            <a:off x="8328355" y="3381451"/>
            <a:ext cx="59618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2200" dirty="0"/>
          </a:p>
        </p:txBody>
      </p:sp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100" b="-1100"/>
          <a:stretch/>
        </p:blipFill>
        <p:spPr>
          <a:xfrm>
            <a:off x="8877910" y="3493008"/>
            <a:ext cx="114300" cy="133502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8328355" y="3800246"/>
            <a:ext cx="14721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Labs &amp; Wrap-up</a:t>
            </a:r>
            <a:endParaRPr lang="en-US" sz="1300" dirty="0"/>
          </a:p>
        </p:txBody>
      </p:sp>
      <p:sp>
        <p:nvSpPr>
          <p:cNvPr id="53" name="Text 44"/>
          <p:cNvSpPr txBox="1"/>
          <p:nvPr/>
        </p:nvSpPr>
        <p:spPr>
          <a:xfrm>
            <a:off x="8328355" y="4110228"/>
            <a:ext cx="32296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Hands-on exercises, Q&amp;A, and readiness checklist review.</a:t>
            </a:r>
            <a:endParaRPr lang="en-US" sz="900" dirty="0"/>
          </a:p>
        </p:txBody>
      </p:sp>
      <p:sp>
        <p:nvSpPr>
          <p:cNvPr id="54" name="Shape 45"/>
          <p:cNvSpPr/>
          <p:nvPr/>
        </p:nvSpPr>
        <p:spPr>
          <a:xfrm>
            <a:off x="381305" y="5057546"/>
            <a:ext cx="11430000" cy="914400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55" name="Shape 46"/>
          <p:cNvSpPr/>
          <p:nvPr/>
        </p:nvSpPr>
        <p:spPr>
          <a:xfrm>
            <a:off x="3343961" y="5286146"/>
            <a:ext cx="9144" cy="457200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56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09905" y="5343754"/>
            <a:ext cx="114300" cy="114300"/>
          </a:xfrm>
          <a:prstGeom prst="rect">
            <a:avLst/>
          </a:prstGeom>
        </p:spPr>
      </p:pic>
      <p:sp>
        <p:nvSpPr>
          <p:cNvPr id="57" name="Text 47"/>
          <p:cNvSpPr txBox="1"/>
          <p:nvPr/>
        </p:nvSpPr>
        <p:spPr>
          <a:xfrm>
            <a:off x="800100" y="5305349"/>
            <a:ext cx="17721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OUTCOMES</a:t>
            </a:r>
            <a:endParaRPr lang="en-US" sz="1200" dirty="0"/>
          </a:p>
        </p:txBody>
      </p:sp>
      <p:sp>
        <p:nvSpPr>
          <p:cNvPr id="58" name="Text 48"/>
          <p:cNvSpPr txBox="1"/>
          <p:nvPr/>
        </p:nvSpPr>
        <p:spPr>
          <a:xfrm>
            <a:off x="609905" y="5533949"/>
            <a:ext cx="12097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 Goals</a:t>
            </a:r>
            <a:endParaRPr lang="en-US" sz="1500" dirty="0"/>
          </a:p>
        </p:txBody>
      </p:sp>
      <p:pic>
        <p:nvPicPr>
          <p:cNvPr id="59" name="Image 8" descr="preencoded.png">    </p:cNvPr>
          <p:cNvPicPr>
            <a:picLocks noChangeAspect="1"/>
          </p:cNvPicPr>
          <p:nvPr/>
        </p:nvPicPr>
        <p:blipFill>
          <a:blip r:embed="rId9"/>
          <a:srcRect l="-2571" r="-2571" t="0" b="0"/>
          <a:stretch/>
        </p:blipFill>
        <p:spPr>
          <a:xfrm>
            <a:off x="3581705" y="5343754"/>
            <a:ext cx="105156" cy="114300"/>
          </a:xfrm>
          <a:prstGeom prst="rect">
            <a:avLst/>
          </a:prstGeom>
        </p:spPr>
      </p:pic>
      <p:sp>
        <p:nvSpPr>
          <p:cNvPr id="60" name="Text 49"/>
          <p:cNvSpPr txBox="1"/>
          <p:nvPr/>
        </p:nvSpPr>
        <p:spPr>
          <a:xfrm>
            <a:off x="3762756" y="5324551"/>
            <a:ext cx="18288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Operating model &amp; RACI defined</a:t>
            </a:r>
            <a:endParaRPr lang="en-US" sz="900" dirty="0"/>
          </a:p>
        </p:txBody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rcRect l="-2571" r="-2571" t="0" b="0"/>
          <a:stretch/>
        </p:blipFill>
        <p:spPr>
          <a:xfrm>
            <a:off x="6299302" y="5343754"/>
            <a:ext cx="105156" cy="114300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6480353" y="5324551"/>
            <a:ext cx="17337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architecture agreed</a:t>
            </a:r>
            <a:endParaRPr lang="en-US" sz="900" dirty="0"/>
          </a:p>
        </p:txBody>
      </p:sp>
      <p:pic>
        <p:nvPicPr>
          <p:cNvPr id="63" name="Image 10" descr="preencoded.png">    </p:cNvPr>
          <p:cNvPicPr>
            <a:picLocks noChangeAspect="1"/>
          </p:cNvPicPr>
          <p:nvPr/>
        </p:nvPicPr>
        <p:blipFill>
          <a:blip r:embed="rId11"/>
          <a:srcRect l="-2571" r="-2571" t="0" b="0"/>
          <a:stretch/>
        </p:blipFill>
        <p:spPr>
          <a:xfrm>
            <a:off x="9016898" y="5343754"/>
            <a:ext cx="105156" cy="114300"/>
          </a:xfrm>
          <a:prstGeom prst="rect">
            <a:avLst/>
          </a:prstGeom>
        </p:spPr>
      </p:pic>
      <p:sp>
        <p:nvSpPr>
          <p:cNvPr id="64" name="Text 51"/>
          <p:cNvSpPr txBox="1"/>
          <p:nvPr/>
        </p:nvSpPr>
        <p:spPr>
          <a:xfrm>
            <a:off x="9197950" y="5324551"/>
            <a:ext cx="14676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validation patterns</a:t>
            </a:r>
            <a:endParaRPr lang="en-US" sz="900" dirty="0"/>
          </a:p>
        </p:txBody>
      </p:sp>
      <p:pic>
        <p:nvPicPr>
          <p:cNvPr id="65" name="Image 11" descr="preencoded.png">    </p:cNvPr>
          <p:cNvPicPr>
            <a:picLocks noChangeAspect="1"/>
          </p:cNvPicPr>
          <p:nvPr/>
        </p:nvPicPr>
        <p:blipFill>
          <a:blip r:embed="rId12"/>
          <a:srcRect l="-2571" r="-2571" t="0" b="0"/>
          <a:stretch/>
        </p:blipFill>
        <p:spPr>
          <a:xfrm>
            <a:off x="3581705" y="5572354"/>
            <a:ext cx="105156" cy="114300"/>
          </a:xfrm>
          <a:prstGeom prst="rect">
            <a:avLst/>
          </a:prstGeom>
        </p:spPr>
      </p:pic>
      <p:sp>
        <p:nvSpPr>
          <p:cNvPr id="66" name="Text 52"/>
          <p:cNvSpPr txBox="1"/>
          <p:nvPr/>
        </p:nvSpPr>
        <p:spPr>
          <a:xfrm>
            <a:off x="3762756" y="5553151"/>
            <a:ext cx="14292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readiness confirmed</a:t>
            </a:r>
            <a:endParaRPr lang="en-US" sz="900" dirty="0"/>
          </a:p>
        </p:txBody>
      </p:sp>
      <p:pic>
        <p:nvPicPr>
          <p:cNvPr id="67" name="Image 12" descr="preencoded.png">    </p:cNvPr>
          <p:cNvPicPr>
            <a:picLocks noChangeAspect="1"/>
          </p:cNvPicPr>
          <p:nvPr/>
        </p:nvPicPr>
        <p:blipFill>
          <a:blip r:embed="rId13"/>
          <a:srcRect l="-2571" r="-2571" t="0" b="0"/>
          <a:stretch/>
        </p:blipFill>
        <p:spPr>
          <a:xfrm>
            <a:off x="6299302" y="5572354"/>
            <a:ext cx="105156" cy="114300"/>
          </a:xfrm>
          <a:prstGeom prst="rect">
            <a:avLst/>
          </a:prstGeom>
        </p:spPr>
      </p:pic>
      <p:sp>
        <p:nvSpPr>
          <p:cNvPr id="68" name="Text 53"/>
          <p:cNvSpPr txBox="1"/>
          <p:nvPr/>
        </p:nvSpPr>
        <p:spPr>
          <a:xfrm>
            <a:off x="6480353" y="5553151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 &amp; SLO baseline set</a:t>
            </a:r>
            <a:endParaRPr lang="en-US" sz="900" dirty="0"/>
          </a:p>
        </p:txBody>
      </p:sp>
      <p:pic>
        <p:nvPicPr>
          <p:cNvPr id="69" name="Image 13" descr="preencoded.png">    </p:cNvPr>
          <p:cNvPicPr>
            <a:picLocks noChangeAspect="1"/>
          </p:cNvPicPr>
          <p:nvPr/>
        </p:nvPicPr>
        <p:blipFill>
          <a:blip r:embed="rId14"/>
          <a:srcRect l="-2571" r="-2571" t="0" b="0"/>
          <a:stretch/>
        </p:blipFill>
        <p:spPr>
          <a:xfrm>
            <a:off x="9016898" y="5572354"/>
            <a:ext cx="105156" cy="114300"/>
          </a:xfrm>
          <a:prstGeom prst="rect">
            <a:avLst/>
          </a:prstGeom>
        </p:spPr>
      </p:pic>
      <p:sp>
        <p:nvSpPr>
          <p:cNvPr id="70" name="Text 54"/>
          <p:cNvSpPr txBox="1"/>
          <p:nvPr/>
        </p:nvSpPr>
        <p:spPr>
          <a:xfrm>
            <a:off x="9197950" y="5553151"/>
            <a:ext cx="15627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RFP scoring rubric mastery</a:t>
            </a:r>
            <a:endParaRPr lang="en-US" sz="900" dirty="0"/>
          </a:p>
        </p:txBody>
      </p:sp>
      <p:sp>
        <p:nvSpPr>
          <p:cNvPr id="71" name="Shape 55"/>
          <p:cNvSpPr/>
          <p:nvPr/>
        </p:nvSpPr>
        <p:spPr>
          <a:xfrm>
            <a:off x="381305" y="6124651"/>
            <a:ext cx="11430000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2" name="Text 56"/>
          <p:cNvSpPr txBox="1"/>
          <p:nvPr/>
        </p:nvSpPr>
        <p:spPr>
          <a:xfrm>
            <a:off x="381305" y="6267298"/>
            <a:ext cx="30102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— Internal Training Material</a:t>
            </a:r>
            <a:endParaRPr lang="en-US" sz="1200" dirty="0"/>
          </a:p>
        </p:txBody>
      </p:sp>
      <p:sp>
        <p:nvSpPr>
          <p:cNvPr id="73" name="Text 57"/>
          <p:cNvSpPr txBox="1"/>
          <p:nvPr/>
        </p:nvSpPr>
        <p:spPr>
          <a:xfrm>
            <a:off x="11310214" y="6267298"/>
            <a:ext cx="6199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90802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71500" y="418795"/>
            <a:ext cx="66010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Learning Objectives &amp; Success Criteria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990295"/>
            <a:ext cx="50776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will achieve in this 8-hour strategy and architecture session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71500" y="1781251"/>
            <a:ext cx="5524805" cy="1152144"/>
          </a:xfrm>
          <a:prstGeom prst="roundRect">
            <a:avLst>
              <a:gd name="adj" fmla="val 52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71500" y="1781251"/>
            <a:ext cx="57607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Shape 7"/>
          <p:cNvSpPr/>
          <p:nvPr/>
        </p:nvSpPr>
        <p:spPr>
          <a:xfrm>
            <a:off x="857707" y="2009851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EFF6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-760" r="-760" t="0" b="0"/>
          <a:stretch/>
        </p:blipFill>
        <p:spPr>
          <a:xfrm>
            <a:off x="972007" y="2115007"/>
            <a:ext cx="152705" cy="17190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390802" y="2038198"/>
            <a:ext cx="17099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QE Strategy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390802" y="2324405"/>
            <a:ext cx="430133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Tailor a Quality Engineering strategy specifically for the Databricks Lakehouse, moving beyond traditional warehouse QA approaches.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1500" y="3161995"/>
            <a:ext cx="5524805" cy="1152144"/>
          </a:xfrm>
          <a:prstGeom prst="roundRect">
            <a:avLst>
              <a:gd name="adj" fmla="val 52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1500" y="3161995"/>
            <a:ext cx="57607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Shape 12"/>
          <p:cNvSpPr/>
          <p:nvPr/>
        </p:nvSpPr>
        <p:spPr>
          <a:xfrm>
            <a:off x="857707" y="3390595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EFF6F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42" b="-842"/>
          <a:stretch/>
        </p:blipFill>
        <p:spPr>
          <a:xfrm>
            <a:off x="952805" y="3495751"/>
            <a:ext cx="190195" cy="171907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390802" y="3419856"/>
            <a:ext cx="25200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 Controls to Architecture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1390802" y="3705149"/>
            <a:ext cx="449153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 quality gates with native components: Unity Catalog for governance, DLT for pipeline health, and Workflows for orchestration.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71500" y="4543654"/>
            <a:ext cx="5524805" cy="1152144"/>
          </a:xfrm>
          <a:prstGeom prst="roundRect">
            <a:avLst>
              <a:gd name="adj" fmla="val 52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71500" y="4543654"/>
            <a:ext cx="57607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Shape 17"/>
          <p:cNvSpPr/>
          <p:nvPr/>
        </p:nvSpPr>
        <p:spPr>
          <a:xfrm>
            <a:off x="857707" y="4772254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EFF6FF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rcRect l="-1064" r="-1064" t="0" b="0"/>
          <a:stretch/>
        </p:blipFill>
        <p:spPr>
          <a:xfrm>
            <a:off x="938174" y="4876495"/>
            <a:ext cx="219456" cy="171907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390802" y="4800600"/>
            <a:ext cx="24533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Native Validation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1390802" y="5086807"/>
            <a:ext cx="4291279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 to apply Delta constraints, DLT expectations, and automated monitoring patterns for both batch and streaming workloads.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572707" y="1781251"/>
            <a:ext cx="5048402" cy="5009998"/>
          </a:xfrm>
          <a:prstGeom prst="roundRect">
            <a:avLst>
              <a:gd name="adj" fmla="val 416"/>
            </a:avLst>
          </a:prstGeom>
          <a:solidFill>
            <a:srgbClr val="F0F9FF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867144" y="2542946"/>
            <a:ext cx="4457700" cy="19202"/>
          </a:xfrm>
          <a:prstGeom prst="rect">
            <a:avLst/>
          </a:prstGeom>
          <a:solidFill>
            <a:srgbClr val="BAE6FD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rcRect l="-1528" r="-1528" t="0" b="0"/>
          <a:stretch/>
        </p:blipFill>
        <p:spPr>
          <a:xfrm>
            <a:off x="6867144" y="2128723"/>
            <a:ext cx="161849" cy="20939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144207" y="2076602"/>
            <a:ext cx="180502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4A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Success Criteria</a:t>
            </a:r>
            <a:endParaRPr lang="en-US" sz="1600" dirty="0"/>
          </a:p>
        </p:txBody>
      </p:sp>
      <p:sp>
        <p:nvSpPr>
          <p:cNvPr id="29" name="Shape 23"/>
          <p:cNvSpPr/>
          <p:nvPr/>
        </p:nvSpPr>
        <p:spPr>
          <a:xfrm>
            <a:off x="6867144" y="2790749"/>
            <a:ext cx="4457700" cy="466344"/>
          </a:xfrm>
          <a:prstGeom prst="roundRect">
            <a:avLst>
              <a:gd name="adj" fmla="val 24010"/>
            </a:avLst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029907" y="2945282"/>
            <a:ext cx="152705" cy="152705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295998" y="2924251"/>
            <a:ext cx="28703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Documented QE operating model &amp; RACI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6867144" y="3405226"/>
            <a:ext cx="4457700" cy="466344"/>
          </a:xfrm>
          <a:prstGeom prst="roundRect">
            <a:avLst>
              <a:gd name="adj" fmla="val 24010"/>
            </a:avLst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029907" y="3559759"/>
            <a:ext cx="152705" cy="152705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295998" y="3538728"/>
            <a:ext cx="278434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architecture diagram agreed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6867144" y="4019702"/>
            <a:ext cx="4457700" cy="466344"/>
          </a:xfrm>
          <a:prstGeom prst="roundRect">
            <a:avLst>
              <a:gd name="adj" fmla="val 24010"/>
            </a:avLst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029907" y="4174236"/>
            <a:ext cx="152705" cy="152705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7295998" y="4153205"/>
            <a:ext cx="268925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KPI/SLO baseline defined and tracked</a:t>
            </a:r>
            <a:endParaRPr lang="en-US" sz="1100" dirty="0"/>
          </a:p>
        </p:txBody>
      </p:sp>
      <p:sp>
        <p:nvSpPr>
          <p:cNvPr id="38" name="Shape 29"/>
          <p:cNvSpPr/>
          <p:nvPr/>
        </p:nvSpPr>
        <p:spPr>
          <a:xfrm>
            <a:off x="6867144" y="4634179"/>
            <a:ext cx="4457700" cy="466344"/>
          </a:xfrm>
          <a:prstGeom prst="roundRect">
            <a:avLst>
              <a:gd name="adj" fmla="val 24010"/>
            </a:avLst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7029907" y="4788713"/>
            <a:ext cx="152705" cy="152705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7295998" y="4767682"/>
            <a:ext cx="277429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Hands-on labs completed successfully</a:t>
            </a:r>
            <a:endParaRPr lang="en-US" sz="1100" dirty="0"/>
          </a:p>
        </p:txBody>
      </p:sp>
      <p:sp>
        <p:nvSpPr>
          <p:cNvPr id="41" name="Shape 31"/>
          <p:cNvSpPr/>
          <p:nvPr/>
        </p:nvSpPr>
        <p:spPr>
          <a:xfrm>
            <a:off x="6867144" y="5095951"/>
            <a:ext cx="4457700" cy="1399946"/>
          </a:xfrm>
          <a:prstGeom prst="roundRect">
            <a:avLst>
              <a:gd name="adj" fmla="val 35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32"/>
          <p:cNvSpPr txBox="1"/>
          <p:nvPr/>
        </p:nvSpPr>
        <p:spPr>
          <a:xfrm>
            <a:off x="7067398" y="5315407"/>
            <a:ext cx="15105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DELIVERABLES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7067398" y="5609844"/>
            <a:ext cx="1028700" cy="304495"/>
          </a:xfrm>
          <a:prstGeom prst="roundRect">
            <a:avLst>
              <a:gd name="adj" fmla="val 18768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34"/>
          <p:cNvSpPr txBox="1"/>
          <p:nvPr/>
        </p:nvSpPr>
        <p:spPr>
          <a:xfrm>
            <a:off x="7191756" y="5686654"/>
            <a:ext cx="8668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 Deck</a:t>
            </a:r>
            <a:endParaRPr lang="en-US" sz="900" dirty="0"/>
          </a:p>
        </p:txBody>
      </p:sp>
      <p:sp>
        <p:nvSpPr>
          <p:cNvPr id="45" name="Shape 35"/>
          <p:cNvSpPr/>
          <p:nvPr/>
        </p:nvSpPr>
        <p:spPr>
          <a:xfrm>
            <a:off x="8164678" y="5609844"/>
            <a:ext cx="895198" cy="304495"/>
          </a:xfrm>
          <a:prstGeom prst="roundRect">
            <a:avLst>
              <a:gd name="adj" fmla="val 18768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36"/>
          <p:cNvSpPr txBox="1"/>
          <p:nvPr/>
        </p:nvSpPr>
        <p:spPr>
          <a:xfrm>
            <a:off x="8288122" y="5686654"/>
            <a:ext cx="7342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RACI Matrix</a:t>
            </a:r>
            <a:endParaRPr lang="en-US" sz="900" dirty="0"/>
          </a:p>
        </p:txBody>
      </p:sp>
      <p:sp>
        <p:nvSpPr>
          <p:cNvPr id="47" name="Shape 37"/>
          <p:cNvSpPr/>
          <p:nvPr/>
        </p:nvSpPr>
        <p:spPr>
          <a:xfrm>
            <a:off x="9130284" y="5609844"/>
            <a:ext cx="1086307" cy="304495"/>
          </a:xfrm>
          <a:prstGeom prst="roundRect">
            <a:avLst>
              <a:gd name="adj" fmla="val 18768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38"/>
          <p:cNvSpPr txBox="1"/>
          <p:nvPr/>
        </p:nvSpPr>
        <p:spPr>
          <a:xfrm>
            <a:off x="9253728" y="5686654"/>
            <a:ext cx="9244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V1</a:t>
            </a:r>
            <a:endParaRPr lang="en-US" sz="900" dirty="0"/>
          </a:p>
        </p:txBody>
      </p:sp>
      <p:sp>
        <p:nvSpPr>
          <p:cNvPr id="49" name="Shape 39"/>
          <p:cNvSpPr/>
          <p:nvPr/>
        </p:nvSpPr>
        <p:spPr>
          <a:xfrm>
            <a:off x="7067398" y="5991149"/>
            <a:ext cx="1076249" cy="304495"/>
          </a:xfrm>
          <a:prstGeom prst="roundRect">
            <a:avLst>
              <a:gd name="adj" fmla="val 18768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0"/>
          <p:cNvSpPr txBox="1"/>
          <p:nvPr/>
        </p:nvSpPr>
        <p:spPr>
          <a:xfrm>
            <a:off x="7191756" y="6067044"/>
            <a:ext cx="9144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Notebooks</a:t>
            </a:r>
            <a:endParaRPr lang="en-US" sz="900" dirty="0"/>
          </a:p>
        </p:txBody>
      </p:sp>
      <p:sp>
        <p:nvSpPr>
          <p:cNvPr id="51" name="Shape 41"/>
          <p:cNvSpPr/>
          <p:nvPr/>
        </p:nvSpPr>
        <p:spPr>
          <a:xfrm>
            <a:off x="0" y="7172554"/>
            <a:ext cx="12191695" cy="1810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42"/>
          <p:cNvSpPr/>
          <p:nvPr/>
        </p:nvSpPr>
        <p:spPr>
          <a:xfrm>
            <a:off x="0" y="7172554"/>
            <a:ext cx="1219169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3" name="Text 43"/>
          <p:cNvSpPr txBox="1"/>
          <p:nvPr/>
        </p:nvSpPr>
        <p:spPr>
          <a:xfrm>
            <a:off x="571500" y="7191756"/>
            <a:ext cx="35058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 — Databricks Quality Engineering Strategy &amp; Architecture</a:t>
            </a:r>
            <a:endParaRPr lang="en-US" sz="900" dirty="0"/>
          </a:p>
        </p:txBody>
      </p:sp>
      <p:sp>
        <p:nvSpPr>
          <p:cNvPr id="54" name="Text 44"/>
          <p:cNvSpPr txBox="1"/>
          <p:nvPr/>
        </p:nvSpPr>
        <p:spPr>
          <a:xfrm>
            <a:off x="10229393" y="7191756"/>
            <a:ext cx="14859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&amp; Proprietary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0"/>
            <a:ext cx="4876495" cy="68580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743700"/>
            <a:ext cx="12191695" cy="1143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485546"/>
            <a:ext cx="609905" cy="38405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5076749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7046" y="5219395"/>
            <a:ext cx="171907" cy="17190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514600" y="5305349"/>
            <a:ext cx="9144" cy="9144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Shape 8"/>
          <p:cNvSpPr/>
          <p:nvPr/>
        </p:nvSpPr>
        <p:spPr>
          <a:xfrm>
            <a:off x="2905049" y="5076749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ECFDF5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-760" r="-760" t="0" b="0"/>
          <a:stretch/>
        </p:blipFill>
        <p:spPr>
          <a:xfrm>
            <a:off x="3057754" y="5219395"/>
            <a:ext cx="152705" cy="171907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505249" y="5305349"/>
            <a:ext cx="9144" cy="9144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4" name="Shape 10"/>
          <p:cNvSpPr/>
          <p:nvPr/>
        </p:nvSpPr>
        <p:spPr>
          <a:xfrm>
            <a:off x="4895698" y="5076749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9FAFB"/>
          </a:solidFill>
          <a:ln w="25400">
            <a:solidFill>
              <a:srgbClr val="4B5563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-1773" r="-1773" t="0" b="0"/>
          <a:stretch/>
        </p:blipFill>
        <p:spPr>
          <a:xfrm>
            <a:off x="5057546" y="5219395"/>
            <a:ext cx="133502" cy="17190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76095" y="418795"/>
            <a:ext cx="10149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01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914400" y="914400"/>
            <a:ext cx="5696712" cy="2115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 — Lakehouse Quality Engineering</a:t>
            </a:r>
            <a:endParaRPr lang="en-US" sz="4500" dirty="0"/>
          </a:p>
        </p:txBody>
      </p:sp>
      <p:sp>
        <p:nvSpPr>
          <p:cNvPr id="18" name="Text 13"/>
          <p:cNvSpPr txBox="1"/>
          <p:nvPr/>
        </p:nvSpPr>
        <p:spPr>
          <a:xfrm>
            <a:off x="914400" y="3400654"/>
            <a:ext cx="5867705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Defining the strategic pillars that drive trust, ensure velocity, and guarantee compliance on the Databricks Data Intelligence Platform.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914400" y="5648249"/>
            <a:ext cx="6099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1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914400" y="5867705"/>
            <a:ext cx="5769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914400" y="6143854"/>
            <a:ext cx="75255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 &amp; Consistency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2905049" y="5648249"/>
            <a:ext cx="6291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2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2905049" y="5867705"/>
            <a:ext cx="8247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Velocity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2905049" y="6143854"/>
            <a:ext cx="12765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Speed via Automation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4895698" y="5648249"/>
            <a:ext cx="6291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3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4895698" y="5867705"/>
            <a:ext cx="11292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4895698" y="6143854"/>
            <a:ext cx="11622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&amp; Audit</a:t>
            </a:r>
            <a:endParaRPr lang="en-US" sz="9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5" b="-5"/>
          <a:stretch/>
        </p:blipFill>
        <p:spPr>
          <a:xfrm>
            <a:off x="8229600" y="1218895"/>
            <a:ext cx="3047695" cy="400050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8908999" y="5458054"/>
            <a:ext cx="17958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Alignment Model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9905" y="428854"/>
            <a:ext cx="774405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Databricks QE Strategy — Pillars &amp; Principles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1000354"/>
            <a:ext cx="68918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foundational pillars ensuring trust, velocity, and compliance in the Lakehouse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9905" y="1514246"/>
            <a:ext cx="3276295" cy="3810305"/>
          </a:xfrm>
          <a:prstGeom prst="roundRect">
            <a:avLst>
              <a:gd name="adj" fmla="val 9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9049" y="1524305"/>
            <a:ext cx="3258007" cy="80010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8" name="Shape 6"/>
          <p:cNvSpPr/>
          <p:nvPr/>
        </p:nvSpPr>
        <p:spPr>
          <a:xfrm>
            <a:off x="619049" y="2315261"/>
            <a:ext cx="3258007" cy="9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-2660" r="-2660" t="0" b="0"/>
          <a:stretch/>
        </p:blipFill>
        <p:spPr>
          <a:xfrm>
            <a:off x="847649" y="1717243"/>
            <a:ext cx="181051" cy="17190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04595" y="1705356"/>
            <a:ext cx="7580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47649" y="1981505"/>
            <a:ext cx="16175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 &amp; Completeness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47649" y="2510028"/>
            <a:ext cx="11914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PRINCIPLES</a:t>
            </a:r>
            <a:endParaRPr lang="en-US" sz="9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958" b="-1958"/>
          <a:stretch/>
        </p:blipFill>
        <p:spPr>
          <a:xfrm>
            <a:off x="847649" y="2776118"/>
            <a:ext cx="75895" cy="1051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923544" y="2776118"/>
            <a:ext cx="175107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Contracts-first development</a:t>
            </a:r>
            <a:endParaRPr lang="en-US" sz="9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-1677" r="-1677" t="0" b="0"/>
          <a:stretch/>
        </p:blipFill>
        <p:spPr>
          <a:xfrm>
            <a:off x="847649" y="3025750"/>
            <a:ext cx="95098" cy="10515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42746" y="3025750"/>
            <a:ext cx="168432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SLO-driven pipeline design</a:t>
            </a:r>
            <a:endParaRPr lang="en-US" sz="9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-1677" r="-1677" t="0" b="0"/>
          <a:stretch/>
        </p:blipFill>
        <p:spPr>
          <a:xfrm>
            <a:off x="847649" y="3275381"/>
            <a:ext cx="95098" cy="10515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42746" y="3275381"/>
            <a:ext cx="155082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reconciliation</a:t>
            </a:r>
            <a:endParaRPr lang="en-US" sz="9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47649" y="3525012"/>
            <a:ext cx="105156" cy="10515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52805" y="3525012"/>
            <a:ext cx="128381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Quarantine bad data</a:t>
            </a:r>
            <a:endParaRPr lang="en-US" sz="900" dirty="0"/>
          </a:p>
        </p:txBody>
      </p:sp>
      <p:sp>
        <p:nvSpPr>
          <p:cNvPr id="21" name="Shape 14"/>
          <p:cNvSpPr/>
          <p:nvPr/>
        </p:nvSpPr>
        <p:spPr>
          <a:xfrm>
            <a:off x="847649" y="4562856"/>
            <a:ext cx="2800807" cy="562356"/>
          </a:xfrm>
          <a:prstGeom prst="roundRect">
            <a:avLst>
              <a:gd name="adj" fmla="val 16536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952805" y="4677156"/>
            <a:ext cx="40325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</a:t>
            </a:r>
            <a:endParaRPr lang="en-US" sz="800" dirty="0"/>
          </a:p>
        </p:txBody>
      </p:sp>
      <p:sp>
        <p:nvSpPr>
          <p:cNvPr id="23" name="Text 16"/>
          <p:cNvSpPr txBox="1"/>
          <p:nvPr/>
        </p:nvSpPr>
        <p:spPr>
          <a:xfrm>
            <a:off x="2697480" y="4677156"/>
            <a:ext cx="9272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DQ Incident Rate</a:t>
            </a:r>
            <a:endParaRPr lang="en-US" sz="800" dirty="0"/>
          </a:p>
        </p:txBody>
      </p:sp>
      <p:sp>
        <p:nvSpPr>
          <p:cNvPr id="24" name="Text 17"/>
          <p:cNvSpPr txBox="1"/>
          <p:nvPr/>
        </p:nvSpPr>
        <p:spPr>
          <a:xfrm>
            <a:off x="952805" y="4871923"/>
            <a:ext cx="45079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Tooling</a:t>
            </a:r>
            <a:endParaRPr lang="en-US" sz="800" dirty="0"/>
          </a:p>
        </p:txBody>
      </p:sp>
      <p:sp>
        <p:nvSpPr>
          <p:cNvPr id="25" name="Text 18"/>
          <p:cNvSpPr txBox="1"/>
          <p:nvPr/>
        </p:nvSpPr>
        <p:spPr>
          <a:xfrm>
            <a:off x="2348179" y="4871923"/>
            <a:ext cx="127924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DLT Expectations, Soda</a:t>
            </a:r>
            <a:endParaRPr lang="en-US" sz="800" dirty="0"/>
          </a:p>
        </p:txBody>
      </p:sp>
      <p:sp>
        <p:nvSpPr>
          <p:cNvPr id="26" name="Shape 19"/>
          <p:cNvSpPr/>
          <p:nvPr/>
        </p:nvSpPr>
        <p:spPr>
          <a:xfrm>
            <a:off x="4457700" y="1514246"/>
            <a:ext cx="3276295" cy="3810305"/>
          </a:xfrm>
          <a:prstGeom prst="roundRect">
            <a:avLst>
              <a:gd name="adj" fmla="val 9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466844" y="1524305"/>
            <a:ext cx="3258007" cy="80010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8" name="Shape 21"/>
          <p:cNvSpPr/>
          <p:nvPr/>
        </p:nvSpPr>
        <p:spPr>
          <a:xfrm>
            <a:off x="4466844" y="2315261"/>
            <a:ext cx="3258007" cy="9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rcRect l="-3799" r="-3799" t="0" b="0"/>
          <a:stretch/>
        </p:blipFill>
        <p:spPr>
          <a:xfrm>
            <a:off x="4695444" y="1717243"/>
            <a:ext cx="161849" cy="171907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4934102" y="1705356"/>
            <a:ext cx="10716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VELOCITY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4695444" y="1981505"/>
            <a:ext cx="124541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 &amp; CI/CD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4695444" y="2510028"/>
            <a:ext cx="11914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PRINCIPLES</a:t>
            </a:r>
            <a:endParaRPr lang="en-US" sz="9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rcRect l="-1677" r="-1677" t="0" b="0"/>
          <a:stretch/>
        </p:blipFill>
        <p:spPr>
          <a:xfrm>
            <a:off x="4695444" y="2776118"/>
            <a:ext cx="95098" cy="105156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4791456" y="2776118"/>
            <a:ext cx="161757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Shift-left QE in Repos/PRs</a:t>
            </a:r>
            <a:endParaRPr lang="en-US" sz="90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rcRect l="-783" r="-783" t="0" b="0"/>
          <a:stretch/>
        </p:blipFill>
        <p:spPr>
          <a:xfrm>
            <a:off x="4695444" y="3025750"/>
            <a:ext cx="133502" cy="105156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4828946" y="3025750"/>
            <a:ext cx="141732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Self-service templates</a:t>
            </a:r>
            <a:endParaRPr lang="en-US" sz="9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695444" y="3275381"/>
            <a:ext cx="105156" cy="105156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4800600" y="3275381"/>
            <a:ext cx="163677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Isolated test environments</a:t>
            </a:r>
            <a:endParaRPr lang="en-US" sz="900" dirty="0"/>
          </a:p>
        </p:txBody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4695444" y="3525012"/>
            <a:ext cx="105156" cy="105156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4800600" y="3525012"/>
            <a:ext cx="123626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rollback</a:t>
            </a:r>
            <a:endParaRPr lang="en-US" sz="900" dirty="0"/>
          </a:p>
        </p:txBody>
      </p:sp>
      <p:sp>
        <p:nvSpPr>
          <p:cNvPr id="41" name="Shape 29"/>
          <p:cNvSpPr/>
          <p:nvPr/>
        </p:nvSpPr>
        <p:spPr>
          <a:xfrm>
            <a:off x="4695444" y="4562856"/>
            <a:ext cx="2800807" cy="562356"/>
          </a:xfrm>
          <a:prstGeom prst="roundRect">
            <a:avLst>
              <a:gd name="adj" fmla="val 16536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2" name="Text 30"/>
          <p:cNvSpPr txBox="1"/>
          <p:nvPr/>
        </p:nvSpPr>
        <p:spPr>
          <a:xfrm>
            <a:off x="4800600" y="4677156"/>
            <a:ext cx="40325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</a:t>
            </a:r>
            <a:endParaRPr lang="en-US" sz="800" dirty="0"/>
          </a:p>
        </p:txBody>
      </p:sp>
      <p:sp>
        <p:nvSpPr>
          <p:cNvPr id="43" name="Text 31"/>
          <p:cNvSpPr txBox="1"/>
          <p:nvPr/>
        </p:nvSpPr>
        <p:spPr>
          <a:xfrm>
            <a:off x="6078017" y="4677156"/>
            <a:ext cx="139354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Frequency / MTTR</a:t>
            </a:r>
            <a:endParaRPr lang="en-US" sz="800" dirty="0"/>
          </a:p>
        </p:txBody>
      </p:sp>
      <p:sp>
        <p:nvSpPr>
          <p:cNvPr id="44" name="Text 32"/>
          <p:cNvSpPr txBox="1"/>
          <p:nvPr/>
        </p:nvSpPr>
        <p:spPr>
          <a:xfrm>
            <a:off x="4800600" y="4871923"/>
            <a:ext cx="45079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Tooling</a:t>
            </a:r>
            <a:endParaRPr lang="en-US" sz="800" dirty="0"/>
          </a:p>
        </p:txBody>
      </p:sp>
      <p:sp>
        <p:nvSpPr>
          <p:cNvPr id="45" name="Text 33"/>
          <p:cNvSpPr txBox="1"/>
          <p:nvPr/>
        </p:nvSpPr>
        <p:spPr>
          <a:xfrm>
            <a:off x="6064301" y="4871923"/>
            <a:ext cx="141274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Workflows, Asset Bundles</a:t>
            </a:r>
            <a:endParaRPr lang="en-US" sz="800" dirty="0"/>
          </a:p>
        </p:txBody>
      </p:sp>
      <p:sp>
        <p:nvSpPr>
          <p:cNvPr id="46" name="Shape 34"/>
          <p:cNvSpPr/>
          <p:nvPr/>
        </p:nvSpPr>
        <p:spPr>
          <a:xfrm>
            <a:off x="8305495" y="1514246"/>
            <a:ext cx="3276295" cy="3810305"/>
          </a:xfrm>
          <a:prstGeom prst="roundRect">
            <a:avLst>
              <a:gd name="adj" fmla="val 9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47" name="Shape 35"/>
          <p:cNvSpPr/>
          <p:nvPr/>
        </p:nvSpPr>
        <p:spPr>
          <a:xfrm>
            <a:off x="8315554" y="1524305"/>
            <a:ext cx="3258007" cy="8001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8" name="Shape 36"/>
          <p:cNvSpPr/>
          <p:nvPr/>
        </p:nvSpPr>
        <p:spPr>
          <a:xfrm>
            <a:off x="8315554" y="2315261"/>
            <a:ext cx="3258007" cy="9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11"/>
          <a:srcRect l="-1064" r="-1064" t="0" b="0"/>
          <a:stretch/>
        </p:blipFill>
        <p:spPr>
          <a:xfrm>
            <a:off x="8544154" y="1717243"/>
            <a:ext cx="219456" cy="171907"/>
          </a:xfrm>
          <a:prstGeom prst="rect">
            <a:avLst/>
          </a:prstGeom>
        </p:spPr>
      </p:pic>
      <p:sp>
        <p:nvSpPr>
          <p:cNvPr id="50" name="Text 37"/>
          <p:cNvSpPr txBox="1"/>
          <p:nvPr/>
        </p:nvSpPr>
        <p:spPr>
          <a:xfrm>
            <a:off x="8839505" y="1705356"/>
            <a:ext cx="13862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</a:t>
            </a:r>
            <a:endParaRPr lang="en-US" sz="1300" dirty="0"/>
          </a:p>
        </p:txBody>
      </p:sp>
      <p:sp>
        <p:nvSpPr>
          <p:cNvPr id="51" name="Text 38"/>
          <p:cNvSpPr txBox="1"/>
          <p:nvPr/>
        </p:nvSpPr>
        <p:spPr>
          <a:xfrm>
            <a:off x="8544154" y="1981505"/>
            <a:ext cx="157916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&amp; Auditability</a:t>
            </a:r>
            <a:endParaRPr lang="en-US" sz="900" dirty="0"/>
          </a:p>
        </p:txBody>
      </p:sp>
      <p:sp>
        <p:nvSpPr>
          <p:cNvPr id="52" name="Text 39"/>
          <p:cNvSpPr txBox="1"/>
          <p:nvPr/>
        </p:nvSpPr>
        <p:spPr>
          <a:xfrm>
            <a:off x="8544154" y="2510028"/>
            <a:ext cx="11914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PRINCIPLES</a:t>
            </a:r>
            <a:endParaRPr lang="en-US" sz="900" dirty="0"/>
          </a:p>
        </p:txBody>
      </p:sp>
      <p:pic>
        <p:nvPicPr>
          <p:cNvPr id="53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1750" b="-1750"/>
          <a:stretch/>
        </p:blipFill>
        <p:spPr>
          <a:xfrm>
            <a:off x="8544154" y="2776118"/>
            <a:ext cx="114300" cy="105156"/>
          </a:xfrm>
          <a:prstGeom prst="rect">
            <a:avLst/>
          </a:prstGeom>
        </p:spPr>
      </p:pic>
      <p:sp>
        <p:nvSpPr>
          <p:cNvPr id="54" name="Text 40"/>
          <p:cNvSpPr txBox="1"/>
          <p:nvPr/>
        </p:nvSpPr>
        <p:spPr>
          <a:xfrm>
            <a:off x="8658454" y="2776118"/>
            <a:ext cx="149321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Observability by default</a:t>
            </a:r>
            <a:endParaRPr lang="en-US" sz="900" dirty="0"/>
          </a:p>
        </p:txBody>
      </p:sp>
      <p:pic>
        <p:nvPicPr>
          <p:cNvPr id="55" name="Image 12" descr="preencoded.png">    </p:cNvPr>
          <p:cNvPicPr>
            <a:picLocks noChangeAspect="1"/>
          </p:cNvPicPr>
          <p:nvPr/>
        </p:nvPicPr>
        <p:blipFill>
          <a:blip r:embed="rId13"/>
          <a:srcRect l="-1677" r="-1677" t="0" b="0"/>
          <a:stretch/>
        </p:blipFill>
        <p:spPr>
          <a:xfrm>
            <a:off x="8544154" y="3025750"/>
            <a:ext cx="95098" cy="105156"/>
          </a:xfrm>
          <a:prstGeom prst="rect">
            <a:avLst/>
          </a:prstGeom>
        </p:spPr>
      </p:pic>
      <p:sp>
        <p:nvSpPr>
          <p:cNvPr id="56" name="Text 41"/>
          <p:cNvSpPr txBox="1"/>
          <p:nvPr/>
        </p:nvSpPr>
        <p:spPr>
          <a:xfrm>
            <a:off x="8639251" y="3025750"/>
            <a:ext cx="175107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Fine-grained access (RBAC)</a:t>
            </a:r>
            <a:endParaRPr lang="en-US" sz="900" dirty="0"/>
          </a:p>
        </p:txBody>
      </p:sp>
      <p:pic>
        <p:nvPicPr>
          <p:cNvPr id="57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1750" b="-1750"/>
          <a:stretch/>
        </p:blipFill>
        <p:spPr>
          <a:xfrm>
            <a:off x="8544154" y="3275381"/>
            <a:ext cx="114300" cy="105156"/>
          </a:xfrm>
          <a:prstGeom prst="rect">
            <a:avLst/>
          </a:prstGeom>
        </p:spPr>
      </p:pic>
      <p:sp>
        <p:nvSpPr>
          <p:cNvPr id="58" name="Text 42"/>
          <p:cNvSpPr txBox="1"/>
          <p:nvPr/>
        </p:nvSpPr>
        <p:spPr>
          <a:xfrm>
            <a:off x="8658454" y="3275381"/>
            <a:ext cx="122712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lineage</a:t>
            </a:r>
            <a:endParaRPr lang="en-US" sz="900" dirty="0"/>
          </a:p>
        </p:txBody>
      </p:sp>
      <p:pic>
        <p:nvPicPr>
          <p:cNvPr id="59" name="Image 14" descr="preencoded.png">    </p:cNvPr>
          <p:cNvPicPr>
            <a:picLocks noChangeAspect="1"/>
          </p:cNvPicPr>
          <p:nvPr/>
        </p:nvPicPr>
        <p:blipFill>
          <a:blip r:embed="rId15"/>
          <a:srcRect l="-1677" r="-1677" t="0" b="0"/>
          <a:stretch/>
        </p:blipFill>
        <p:spPr>
          <a:xfrm>
            <a:off x="8544154" y="3525012"/>
            <a:ext cx="95098" cy="105156"/>
          </a:xfrm>
          <a:prstGeom prst="rect">
            <a:avLst/>
          </a:prstGeom>
        </p:spPr>
      </p:pic>
      <p:sp>
        <p:nvSpPr>
          <p:cNvPr id="60" name="Text 43"/>
          <p:cNvSpPr txBox="1"/>
          <p:nvPr/>
        </p:nvSpPr>
        <p:spPr>
          <a:xfrm>
            <a:off x="8639251" y="3525012"/>
            <a:ext cx="136977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Auto-PII classification</a:t>
            </a:r>
            <a:endParaRPr lang="en-US" sz="900" dirty="0"/>
          </a:p>
        </p:txBody>
      </p:sp>
      <p:sp>
        <p:nvSpPr>
          <p:cNvPr id="61" name="Shape 44"/>
          <p:cNvSpPr/>
          <p:nvPr/>
        </p:nvSpPr>
        <p:spPr>
          <a:xfrm>
            <a:off x="8544154" y="4562856"/>
            <a:ext cx="2800807" cy="562356"/>
          </a:xfrm>
          <a:prstGeom prst="roundRect">
            <a:avLst>
              <a:gd name="adj" fmla="val 16536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2" name="Text 45"/>
          <p:cNvSpPr txBox="1"/>
          <p:nvPr/>
        </p:nvSpPr>
        <p:spPr>
          <a:xfrm>
            <a:off x="8648395" y="4677156"/>
            <a:ext cx="40325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</a:t>
            </a:r>
            <a:endParaRPr lang="en-US" sz="800" dirty="0"/>
          </a:p>
        </p:txBody>
      </p:sp>
      <p:sp>
        <p:nvSpPr>
          <p:cNvPr id="63" name="Text 46"/>
          <p:cNvSpPr txBox="1"/>
          <p:nvPr/>
        </p:nvSpPr>
        <p:spPr>
          <a:xfrm>
            <a:off x="9928555" y="4677156"/>
            <a:ext cx="139354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Findings / Coverage</a:t>
            </a:r>
            <a:endParaRPr lang="en-US" sz="800" dirty="0"/>
          </a:p>
        </p:txBody>
      </p:sp>
      <p:sp>
        <p:nvSpPr>
          <p:cNvPr id="64" name="Text 47"/>
          <p:cNvSpPr txBox="1"/>
          <p:nvPr/>
        </p:nvSpPr>
        <p:spPr>
          <a:xfrm>
            <a:off x="8648395" y="4871923"/>
            <a:ext cx="45079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Tooling</a:t>
            </a:r>
            <a:endParaRPr lang="en-US" sz="800" dirty="0"/>
          </a:p>
        </p:txBody>
      </p:sp>
      <p:sp>
        <p:nvSpPr>
          <p:cNvPr id="65" name="Text 48"/>
          <p:cNvSpPr txBox="1"/>
          <p:nvPr/>
        </p:nvSpPr>
        <p:spPr>
          <a:xfrm>
            <a:off x="10100462" y="4871923"/>
            <a:ext cx="122163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Unity Catalog, Monitor</a:t>
            </a:r>
            <a:endParaRPr lang="en-US" sz="800" dirty="0"/>
          </a:p>
        </p:txBody>
      </p:sp>
      <p:sp>
        <p:nvSpPr>
          <p:cNvPr id="66" name="Shape 49"/>
          <p:cNvSpPr/>
          <p:nvPr/>
        </p:nvSpPr>
        <p:spPr>
          <a:xfrm>
            <a:off x="609905" y="5553151"/>
            <a:ext cx="10972800" cy="685800"/>
          </a:xfrm>
          <a:prstGeom prst="roundRect">
            <a:avLst>
              <a:gd name="adj" fmla="val 1481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50"/>
          <p:cNvSpPr txBox="1"/>
          <p:nvPr/>
        </p:nvSpPr>
        <p:spPr>
          <a:xfrm>
            <a:off x="847649" y="5731459"/>
            <a:ext cx="11914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OPERATING MODEL</a:t>
            </a:r>
            <a:endParaRPr lang="en-US" sz="900" dirty="0"/>
          </a:p>
        </p:txBody>
      </p:sp>
      <p:sp>
        <p:nvSpPr>
          <p:cNvPr id="68" name="Text 51"/>
          <p:cNvSpPr txBox="1"/>
          <p:nvPr/>
        </p:nvSpPr>
        <p:spPr>
          <a:xfrm>
            <a:off x="847649" y="5903366"/>
            <a:ext cx="7818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</a:t>
            </a:r>
            <a:endParaRPr lang="en-US" sz="900" dirty="0"/>
          </a:p>
        </p:txBody>
      </p:sp>
      <p:sp>
        <p:nvSpPr>
          <p:cNvPr id="69" name="Text 52"/>
          <p:cNvSpPr txBox="1"/>
          <p:nvPr/>
        </p:nvSpPr>
        <p:spPr>
          <a:xfrm>
            <a:off x="2870302" y="5695798"/>
            <a:ext cx="10908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 (Bronze)</a:t>
            </a:r>
            <a:endParaRPr lang="en-US" sz="1000" dirty="0"/>
          </a:p>
        </p:txBody>
      </p:sp>
      <p:sp>
        <p:nvSpPr>
          <p:cNvPr id="70" name="Shape 53"/>
          <p:cNvSpPr/>
          <p:nvPr/>
        </p:nvSpPr>
        <p:spPr>
          <a:xfrm>
            <a:off x="2875788" y="5896051"/>
            <a:ext cx="981151" cy="219456"/>
          </a:xfrm>
          <a:prstGeom prst="roundRect">
            <a:avLst>
              <a:gd name="adj" fmla="val 2173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71" name="Image 15" descr="preencoded.png">    </p:cNvPr>
          <p:cNvPicPr>
            <a:picLocks noChangeAspect="1"/>
          </p:cNvPicPr>
          <p:nvPr/>
        </p:nvPicPr>
        <p:blipFill>
          <a:blip r:embed="rId16"/>
          <a:srcRect l="-783" r="-783" t="0" b="0"/>
          <a:stretch/>
        </p:blipFill>
        <p:spPr>
          <a:xfrm>
            <a:off x="2961742" y="5947258"/>
            <a:ext cx="133502" cy="105156"/>
          </a:xfrm>
          <a:prstGeom prst="rect">
            <a:avLst/>
          </a:prstGeom>
        </p:spPr>
      </p:pic>
      <p:sp>
        <p:nvSpPr>
          <p:cNvPr id="72" name="Text 54"/>
          <p:cNvSpPr txBox="1"/>
          <p:nvPr/>
        </p:nvSpPr>
        <p:spPr>
          <a:xfrm>
            <a:off x="3132734" y="5934456"/>
            <a:ext cx="71689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Eng</a:t>
            </a:r>
            <a:endParaRPr lang="en-US" sz="800" dirty="0"/>
          </a:p>
        </p:txBody>
      </p:sp>
      <p:pic>
        <p:nvPicPr>
          <p:cNvPr id="73" name="Image 16" descr="preencoded.png">    </p:cNvPr>
          <p:cNvPicPr>
            <a:picLocks noChangeAspect="1"/>
          </p:cNvPicPr>
          <p:nvPr/>
        </p:nvPicPr>
        <p:blipFill>
          <a:blip r:embed="rId17"/>
          <a:srcRect l="-3120" r="-3120" t="0" b="0"/>
          <a:stretch/>
        </p:blipFill>
        <p:spPr>
          <a:xfrm>
            <a:off x="5045659" y="5836615"/>
            <a:ext cx="75895" cy="114300"/>
          </a:xfrm>
          <a:prstGeom prst="rect">
            <a:avLst/>
          </a:prstGeom>
        </p:spPr>
      </p:pic>
      <p:sp>
        <p:nvSpPr>
          <p:cNvPr id="74" name="Text 55"/>
          <p:cNvSpPr txBox="1"/>
          <p:nvPr/>
        </p:nvSpPr>
        <p:spPr>
          <a:xfrm>
            <a:off x="6313018" y="5695798"/>
            <a:ext cx="10341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Curate (Silver)</a:t>
            </a:r>
            <a:endParaRPr lang="en-US" sz="1000" dirty="0"/>
          </a:p>
        </p:txBody>
      </p:sp>
      <p:sp>
        <p:nvSpPr>
          <p:cNvPr id="75" name="Shape 56"/>
          <p:cNvSpPr/>
          <p:nvPr/>
        </p:nvSpPr>
        <p:spPr>
          <a:xfrm>
            <a:off x="6309360" y="5896051"/>
            <a:ext cx="942746" cy="219456"/>
          </a:xfrm>
          <a:prstGeom prst="roundRect">
            <a:avLst>
              <a:gd name="adj" fmla="val 2173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76" name="Image 17" descr="preencoded.png">    </p:cNvPr>
          <p:cNvPicPr>
            <a:picLocks noChangeAspect="1"/>
          </p:cNvPicPr>
          <p:nvPr/>
        </p:nvPicPr>
        <p:blipFill>
          <a:blip r:embed="rId18"/>
          <a:srcRect l="-783" r="-783" t="0" b="0"/>
          <a:stretch/>
        </p:blipFill>
        <p:spPr>
          <a:xfrm>
            <a:off x="6395314" y="5947258"/>
            <a:ext cx="133502" cy="105156"/>
          </a:xfrm>
          <a:prstGeom prst="rect">
            <a:avLst/>
          </a:prstGeom>
        </p:spPr>
      </p:pic>
      <p:sp>
        <p:nvSpPr>
          <p:cNvPr id="77" name="Text 57"/>
          <p:cNvSpPr txBox="1"/>
          <p:nvPr/>
        </p:nvSpPr>
        <p:spPr>
          <a:xfrm>
            <a:off x="6566306" y="5934456"/>
            <a:ext cx="67939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 Eng</a:t>
            </a:r>
            <a:endParaRPr lang="en-US" sz="800" dirty="0"/>
          </a:p>
        </p:txBody>
      </p:sp>
      <p:pic>
        <p:nvPicPr>
          <p:cNvPr id="78" name="Image 18" descr="preencoded.png">    </p:cNvPr>
          <p:cNvPicPr>
            <a:picLocks noChangeAspect="1"/>
          </p:cNvPicPr>
          <p:nvPr/>
        </p:nvPicPr>
        <p:blipFill>
          <a:blip r:embed="rId19"/>
          <a:srcRect l="-3120" r="-3120" t="0" b="0"/>
          <a:stretch/>
        </p:blipFill>
        <p:spPr>
          <a:xfrm>
            <a:off x="8435340" y="5836615"/>
            <a:ext cx="75895" cy="114300"/>
          </a:xfrm>
          <a:prstGeom prst="rect">
            <a:avLst/>
          </a:prstGeom>
        </p:spPr>
      </p:pic>
      <p:sp>
        <p:nvSpPr>
          <p:cNvPr id="79" name="Text 58"/>
          <p:cNvSpPr txBox="1"/>
          <p:nvPr/>
        </p:nvSpPr>
        <p:spPr>
          <a:xfrm>
            <a:off x="9820656" y="5695798"/>
            <a:ext cx="9098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 (Gold)</a:t>
            </a:r>
            <a:endParaRPr lang="en-US" sz="1000" dirty="0"/>
          </a:p>
        </p:txBody>
      </p:sp>
      <p:sp>
        <p:nvSpPr>
          <p:cNvPr id="80" name="Shape 59"/>
          <p:cNvSpPr/>
          <p:nvPr/>
        </p:nvSpPr>
        <p:spPr>
          <a:xfrm>
            <a:off x="9699041" y="5896051"/>
            <a:ext cx="1057046" cy="219456"/>
          </a:xfrm>
          <a:prstGeom prst="roundRect">
            <a:avLst>
              <a:gd name="adj" fmla="val 2173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1" name="Image 19" descr="preencoded.png">    </p:cNvPr>
          <p:cNvPicPr>
            <a:picLocks noChangeAspect="1"/>
          </p:cNvPicPr>
          <p:nvPr/>
        </p:nvPicPr>
        <p:blipFill>
          <a:blip r:embed="rId20"/>
          <a:srcRect l="-1677" r="-1677" t="0" b="0"/>
          <a:stretch/>
        </p:blipFill>
        <p:spPr>
          <a:xfrm>
            <a:off x="9784994" y="5947258"/>
            <a:ext cx="95098" cy="105156"/>
          </a:xfrm>
          <a:prstGeom prst="rect">
            <a:avLst/>
          </a:prstGeom>
        </p:spPr>
      </p:pic>
      <p:sp>
        <p:nvSpPr>
          <p:cNvPr id="82" name="Text 60"/>
          <p:cNvSpPr txBox="1"/>
          <p:nvPr/>
        </p:nvSpPr>
        <p:spPr>
          <a:xfrm>
            <a:off x="9918497" y="5934456"/>
            <a:ext cx="83119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Owner</a:t>
            </a:r>
            <a:endParaRPr lang="en-US" sz="800" dirty="0"/>
          </a:p>
        </p:txBody>
      </p:sp>
      <p:sp>
        <p:nvSpPr>
          <p:cNvPr id="83" name="Shape 61"/>
          <p:cNvSpPr/>
          <p:nvPr/>
        </p:nvSpPr>
        <p:spPr>
          <a:xfrm>
            <a:off x="609905" y="6234379"/>
            <a:ext cx="10972800" cy="9144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84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0" b="0"/>
          <a:stretch/>
        </p:blipFill>
        <p:spPr>
          <a:xfrm>
            <a:off x="609905" y="6420002"/>
            <a:ext cx="114300" cy="114300"/>
          </a:xfrm>
          <a:prstGeom prst="rect">
            <a:avLst/>
          </a:prstGeom>
        </p:spPr>
      </p:pic>
      <p:sp>
        <p:nvSpPr>
          <p:cNvPr id="85" name="Text 62"/>
          <p:cNvSpPr txBox="1"/>
          <p:nvPr/>
        </p:nvSpPr>
        <p:spPr>
          <a:xfrm>
            <a:off x="724205" y="6405372"/>
            <a:ext cx="25630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 Databricks Quality Engineering Strategy</a:t>
            </a:r>
            <a:endParaRPr lang="en-US" sz="900" dirty="0"/>
          </a:p>
        </p:txBody>
      </p:sp>
      <p:sp>
        <p:nvSpPr>
          <p:cNvPr id="86" name="Text 63"/>
          <p:cNvSpPr txBox="1"/>
          <p:nvPr/>
        </p:nvSpPr>
        <p:spPr>
          <a:xfrm>
            <a:off x="8929116" y="6405372"/>
            <a:ext cx="27432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1: Strategy + Architecture + Native Validation</a:t>
            </a:r>
            <a:endParaRPr lang="en-US" sz="900" dirty="0"/>
          </a:p>
        </p:txBody>
      </p:sp>
      <p:sp>
        <p:nvSpPr>
          <p:cNvPr id="87" name="Shape 64"/>
          <p:cNvSpPr/>
          <p:nvPr/>
        </p:nvSpPr>
        <p:spPr>
          <a:xfrm>
            <a:off x="3886200" y="3419856"/>
            <a:ext cx="571500" cy="1920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8" name="Shape 65"/>
          <p:cNvSpPr/>
          <p:nvPr/>
        </p:nvSpPr>
        <p:spPr>
          <a:xfrm>
            <a:off x="7733995" y="3419856"/>
            <a:ext cx="571500" cy="1920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9" name="Shape 66"/>
          <p:cNvSpPr/>
          <p:nvPr/>
        </p:nvSpPr>
        <p:spPr>
          <a:xfrm>
            <a:off x="4019702" y="3267151"/>
            <a:ext cx="304495" cy="30449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</p:sp>
      <p:pic>
        <p:nvPicPr>
          <p:cNvPr id="90" name="Image 21" descr="preencoded.png">    </p:cNvPr>
          <p:cNvPicPr>
            <a:picLocks noChangeAspect="1"/>
          </p:cNvPicPr>
          <p:nvPr/>
        </p:nvPicPr>
        <p:blipFill>
          <a:blip r:embed="rId22"/>
          <a:srcRect l="-2571" r="-2571" t="0" b="0"/>
          <a:stretch/>
        </p:blipFill>
        <p:spPr>
          <a:xfrm>
            <a:off x="4119372" y="3362249"/>
            <a:ext cx="105156" cy="114300"/>
          </a:xfrm>
          <a:prstGeom prst="rect">
            <a:avLst/>
          </a:prstGeom>
        </p:spPr>
      </p:pic>
      <p:sp>
        <p:nvSpPr>
          <p:cNvPr id="91" name="Shape 67"/>
          <p:cNvSpPr/>
          <p:nvPr/>
        </p:nvSpPr>
        <p:spPr>
          <a:xfrm>
            <a:off x="7867498" y="3267151"/>
            <a:ext cx="304495" cy="30449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</p:sp>
      <p:pic>
        <p:nvPicPr>
          <p:cNvPr id="92" name="Image 22" descr="preencoded.png">    </p:cNvPr>
          <p:cNvPicPr>
            <a:picLocks noChangeAspect="1"/>
          </p:cNvPicPr>
          <p:nvPr/>
        </p:nvPicPr>
        <p:blipFill>
          <a:blip r:embed="rId23"/>
          <a:srcRect l="-2571" r="-2571" t="0" b="0"/>
          <a:stretch/>
        </p:blipFill>
        <p:spPr>
          <a:xfrm>
            <a:off x="7968082" y="3362249"/>
            <a:ext cx="105156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4191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410005"/>
            <a:ext cx="12191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304495"/>
            <a:ext cx="819302" cy="228600"/>
          </a:xfrm>
          <a:prstGeom prst="roundRect">
            <a:avLst>
              <a:gd name="adj" fmla="val 66667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33095" y="342900"/>
            <a:ext cx="7525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381658" y="342900"/>
            <a:ext cx="28291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DATABRICKS QE STRATEGY &amp; ARCHITECTURE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09905"/>
            <a:ext cx="35579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Operating Model &amp; RACI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019556"/>
            <a:ext cx="37481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Clarifying ownership across the data lifecycle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45882" y="110459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3B82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36992" y="1076249"/>
            <a:ext cx="872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Responsible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9046159" y="1076249"/>
            <a:ext cx="9006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Accountable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991649" y="1104595"/>
            <a:ext cx="114300" cy="114300"/>
          </a:xfrm>
          <a:prstGeom prst="roundRect">
            <a:avLst>
              <a:gd name="adj" fmla="val 800000"/>
            </a:avLst>
          </a:prstGeom>
          <a:noFill/>
          <a:ln w="254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181844" y="1076249"/>
            <a:ext cx="7479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975543" y="1104595"/>
            <a:ext cx="114300" cy="114300"/>
          </a:xfrm>
          <a:prstGeom prst="roundRect">
            <a:avLst>
              <a:gd name="adj" fmla="val 800000"/>
            </a:avLst>
          </a:prstGeom>
          <a:noFill/>
          <a:ln w="254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166653" y="1076249"/>
            <a:ext cx="6720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1305" y="1800454"/>
            <a:ext cx="8382305" cy="4619549"/>
          </a:xfrm>
          <a:prstGeom prst="roundRect">
            <a:avLst>
              <a:gd name="adj" fmla="val 49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90449" y="2667305"/>
            <a:ext cx="8363102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3154" y="2361895"/>
            <a:ext cx="11247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ACTIVITY / ROLE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783994" y="1809598"/>
            <a:ext cx="9144" cy="857707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842" b="-842"/>
          <a:stretch/>
        </p:blipFill>
        <p:spPr>
          <a:xfrm>
            <a:off x="2390242" y="1962302"/>
            <a:ext cx="190195" cy="171907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2172614" y="2210105"/>
            <a:ext cx="7150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2364638" y="2361895"/>
            <a:ext cx="333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178454" y="1809598"/>
            <a:ext cx="9144" cy="857707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rcRect l="-1064" r="-1064" t="0" b="0"/>
          <a:stretch/>
        </p:blipFill>
        <p:spPr>
          <a:xfrm>
            <a:off x="3770071" y="1962302"/>
            <a:ext cx="219456" cy="171907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3638398" y="2210105"/>
            <a:ext cx="571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3758184" y="2361895"/>
            <a:ext cx="333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4572000" y="1809598"/>
            <a:ext cx="9144" cy="857707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188306" y="1962302"/>
            <a:ext cx="171907" cy="171907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5194706" y="2210105"/>
            <a:ext cx="2478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QE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5055718" y="2361895"/>
            <a:ext cx="5239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5965546" y="1809598"/>
            <a:ext cx="9144" cy="857707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rcRect l="-760" r="-760" t="0" b="0"/>
          <a:stretch/>
        </p:blipFill>
        <p:spPr>
          <a:xfrm>
            <a:off x="6590995" y="1962302"/>
            <a:ext cx="152705" cy="171907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6515100" y="2210105"/>
            <a:ext cx="3913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900" dirty="0"/>
          </a:p>
        </p:txBody>
      </p:sp>
      <p:sp>
        <p:nvSpPr>
          <p:cNvPr id="36" name="Text 30"/>
          <p:cNvSpPr txBox="1"/>
          <p:nvPr/>
        </p:nvSpPr>
        <p:spPr>
          <a:xfrm>
            <a:off x="6380683" y="2361895"/>
            <a:ext cx="6675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STEWARD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7360006" y="1809598"/>
            <a:ext cx="9144" cy="857707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975397" y="1962302"/>
            <a:ext cx="171907" cy="171907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7911389" y="2210105"/>
            <a:ext cx="3913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 /</a:t>
            </a:r>
            <a:endParaRPr lang="en-US" sz="900" dirty="0"/>
          </a:p>
        </p:txBody>
      </p:sp>
      <p:sp>
        <p:nvSpPr>
          <p:cNvPr id="40" name="Text 33"/>
          <p:cNvSpPr txBox="1"/>
          <p:nvPr/>
        </p:nvSpPr>
        <p:spPr>
          <a:xfrm>
            <a:off x="7933334" y="2361895"/>
            <a:ext cx="3429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390449" y="3200400"/>
            <a:ext cx="8363102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2" name="Text 35"/>
          <p:cNvSpPr txBox="1"/>
          <p:nvPr/>
        </p:nvSpPr>
        <p:spPr>
          <a:xfrm>
            <a:off x="543154" y="2762402"/>
            <a:ext cx="88148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Standards &amp; Templates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1783994" y="2790749"/>
            <a:ext cx="9144" cy="30449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4" name="Shape 37"/>
          <p:cNvSpPr/>
          <p:nvPr/>
        </p:nvSpPr>
        <p:spPr>
          <a:xfrm>
            <a:off x="2333549" y="2790749"/>
            <a:ext cx="304495" cy="304495"/>
          </a:xfrm>
          <a:prstGeom prst="ellipse">
            <a:avLst/>
          </a:prstGeom>
          <a:solidFill>
            <a:srgbClr val="1E293B"/>
          </a:solidFill>
          <a:ln w="25400">
            <a:solidFill>
              <a:srgbClr val="1E293B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2435962" y="2842870"/>
            <a:ext cx="2048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3178454" y="2790749"/>
            <a:ext cx="9144" cy="30449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7" name="Shape 40"/>
          <p:cNvSpPr/>
          <p:nvPr/>
        </p:nvSpPr>
        <p:spPr>
          <a:xfrm>
            <a:off x="3727094" y="2790749"/>
            <a:ext cx="304495" cy="30449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</p:sp>
      <p:sp>
        <p:nvSpPr>
          <p:cNvPr id="48" name="Text 41"/>
          <p:cNvSpPr txBox="1"/>
          <p:nvPr/>
        </p:nvSpPr>
        <p:spPr>
          <a:xfrm>
            <a:off x="3860597" y="2842870"/>
            <a:ext cx="1389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</a:t>
            </a:r>
            <a:endParaRPr lang="en-US" sz="1000" dirty="0"/>
          </a:p>
        </p:txBody>
      </p:sp>
      <p:sp>
        <p:nvSpPr>
          <p:cNvPr id="49" name="Shape 42"/>
          <p:cNvSpPr/>
          <p:nvPr/>
        </p:nvSpPr>
        <p:spPr>
          <a:xfrm>
            <a:off x="4572000" y="2790749"/>
            <a:ext cx="9144" cy="30449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0" name="Shape 43"/>
          <p:cNvSpPr/>
          <p:nvPr/>
        </p:nvSpPr>
        <p:spPr>
          <a:xfrm>
            <a:off x="5121554" y="2790749"/>
            <a:ext cx="304495" cy="30449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51" name="Text 44"/>
          <p:cNvSpPr txBox="1"/>
          <p:nvPr/>
        </p:nvSpPr>
        <p:spPr>
          <a:xfrm>
            <a:off x="5223967" y="2842870"/>
            <a:ext cx="2048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360006" y="2790749"/>
            <a:ext cx="9144" cy="30449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3" name="Shape 46"/>
          <p:cNvSpPr/>
          <p:nvPr/>
        </p:nvSpPr>
        <p:spPr>
          <a:xfrm>
            <a:off x="7908646" y="2790749"/>
            <a:ext cx="304495" cy="30449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54" name="Text 47"/>
          <p:cNvSpPr txBox="1"/>
          <p:nvPr/>
        </p:nvSpPr>
        <p:spPr>
          <a:xfrm>
            <a:off x="8011973" y="2842870"/>
            <a:ext cx="2048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000" dirty="0"/>
          </a:p>
        </p:txBody>
      </p:sp>
      <p:sp>
        <p:nvSpPr>
          <p:cNvPr id="55" name="Shape 48"/>
          <p:cNvSpPr/>
          <p:nvPr/>
        </p:nvSpPr>
        <p:spPr>
          <a:xfrm>
            <a:off x="390449" y="3733495"/>
            <a:ext cx="8363102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6" name="Text 49"/>
          <p:cNvSpPr txBox="1"/>
          <p:nvPr/>
        </p:nvSpPr>
        <p:spPr>
          <a:xfrm>
            <a:off x="543154" y="3386023"/>
            <a:ext cx="10625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Contracts</a:t>
            </a:r>
            <a:endParaRPr lang="en-US" sz="1000" dirty="0"/>
          </a:p>
        </p:txBody>
      </p:sp>
      <p:sp>
        <p:nvSpPr>
          <p:cNvPr id="57" name="Shape 50"/>
          <p:cNvSpPr/>
          <p:nvPr/>
        </p:nvSpPr>
        <p:spPr>
          <a:xfrm>
            <a:off x="3178454" y="3319272"/>
            <a:ext cx="9144" cy="30449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8" name="Shape 51"/>
          <p:cNvSpPr/>
          <p:nvPr/>
        </p:nvSpPr>
        <p:spPr>
          <a:xfrm>
            <a:off x="3727094" y="3319272"/>
            <a:ext cx="304495" cy="304495"/>
          </a:xfrm>
          <a:prstGeom prst="ellipse">
            <a:avLst/>
          </a:prstGeom>
          <a:solidFill>
            <a:srgbClr val="3B82F6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9" name="Text 52"/>
          <p:cNvSpPr txBox="1"/>
          <p:nvPr/>
        </p:nvSpPr>
        <p:spPr>
          <a:xfrm>
            <a:off x="3835908" y="3372307"/>
            <a:ext cx="1956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</a:t>
            </a:r>
            <a:endParaRPr lang="en-US" sz="1000" dirty="0"/>
          </a:p>
        </p:txBody>
      </p:sp>
      <p:sp>
        <p:nvSpPr>
          <p:cNvPr id="60" name="Shape 53"/>
          <p:cNvSpPr/>
          <p:nvPr/>
        </p:nvSpPr>
        <p:spPr>
          <a:xfrm>
            <a:off x="4572000" y="3319272"/>
            <a:ext cx="9144" cy="30449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1" name="Shape 54"/>
          <p:cNvSpPr/>
          <p:nvPr/>
        </p:nvSpPr>
        <p:spPr>
          <a:xfrm>
            <a:off x="5121554" y="3319272"/>
            <a:ext cx="304495" cy="30449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62" name="Text 55"/>
          <p:cNvSpPr txBox="1"/>
          <p:nvPr/>
        </p:nvSpPr>
        <p:spPr>
          <a:xfrm>
            <a:off x="5223967" y="3372307"/>
            <a:ext cx="2048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000" dirty="0"/>
          </a:p>
        </p:txBody>
      </p:sp>
      <p:sp>
        <p:nvSpPr>
          <p:cNvPr id="63" name="Shape 56"/>
          <p:cNvSpPr/>
          <p:nvPr/>
        </p:nvSpPr>
        <p:spPr>
          <a:xfrm>
            <a:off x="5965546" y="3319272"/>
            <a:ext cx="9144" cy="30449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4" name="Shape 57"/>
          <p:cNvSpPr/>
          <p:nvPr/>
        </p:nvSpPr>
        <p:spPr>
          <a:xfrm>
            <a:off x="6515100" y="3319272"/>
            <a:ext cx="304495" cy="304495"/>
          </a:xfrm>
          <a:prstGeom prst="ellipse">
            <a:avLst/>
          </a:prstGeom>
          <a:solidFill>
            <a:srgbClr val="1E293B"/>
          </a:solidFill>
          <a:ln w="25400">
            <a:solidFill>
              <a:srgbClr val="1E293B"/>
            </a:solidFill>
            <a:prstDash val="solid"/>
          </a:ln>
        </p:spPr>
      </p:sp>
      <p:sp>
        <p:nvSpPr>
          <p:cNvPr id="65" name="Text 58"/>
          <p:cNvSpPr txBox="1"/>
          <p:nvPr/>
        </p:nvSpPr>
        <p:spPr>
          <a:xfrm>
            <a:off x="6617513" y="3372307"/>
            <a:ext cx="2048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000" dirty="0"/>
          </a:p>
        </p:txBody>
      </p:sp>
      <p:sp>
        <p:nvSpPr>
          <p:cNvPr id="66" name="Shape 59"/>
          <p:cNvSpPr/>
          <p:nvPr/>
        </p:nvSpPr>
        <p:spPr>
          <a:xfrm>
            <a:off x="7360006" y="3319272"/>
            <a:ext cx="9144" cy="30449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7" name="Shape 60"/>
          <p:cNvSpPr/>
          <p:nvPr/>
        </p:nvSpPr>
        <p:spPr>
          <a:xfrm>
            <a:off x="7908646" y="3319272"/>
            <a:ext cx="304495" cy="30449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</p:sp>
      <p:sp>
        <p:nvSpPr>
          <p:cNvPr id="68" name="Text 61"/>
          <p:cNvSpPr txBox="1"/>
          <p:nvPr/>
        </p:nvSpPr>
        <p:spPr>
          <a:xfrm>
            <a:off x="8042148" y="3372307"/>
            <a:ext cx="1389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</a:t>
            </a:r>
            <a:endParaRPr lang="en-US" sz="1000" dirty="0"/>
          </a:p>
        </p:txBody>
      </p:sp>
      <p:sp>
        <p:nvSpPr>
          <p:cNvPr id="69" name="Shape 62"/>
          <p:cNvSpPr/>
          <p:nvPr/>
        </p:nvSpPr>
        <p:spPr>
          <a:xfrm>
            <a:off x="390449" y="4267505"/>
            <a:ext cx="8363102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0" name="Text 63"/>
          <p:cNvSpPr txBox="1"/>
          <p:nvPr/>
        </p:nvSpPr>
        <p:spPr>
          <a:xfrm>
            <a:off x="543154" y="3919118"/>
            <a:ext cx="10341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Pipelines</a:t>
            </a:r>
            <a:endParaRPr lang="en-US" sz="1000" dirty="0"/>
          </a:p>
        </p:txBody>
      </p:sp>
      <p:sp>
        <p:nvSpPr>
          <p:cNvPr id="71" name="Shape 64"/>
          <p:cNvSpPr/>
          <p:nvPr/>
        </p:nvSpPr>
        <p:spPr>
          <a:xfrm>
            <a:off x="1783994" y="3853282"/>
            <a:ext cx="9144" cy="30449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2" name="Shape 65"/>
          <p:cNvSpPr/>
          <p:nvPr/>
        </p:nvSpPr>
        <p:spPr>
          <a:xfrm>
            <a:off x="2333549" y="3853282"/>
            <a:ext cx="304495" cy="30449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73" name="Text 66"/>
          <p:cNvSpPr txBox="1"/>
          <p:nvPr/>
        </p:nvSpPr>
        <p:spPr>
          <a:xfrm>
            <a:off x="2436876" y="3905402"/>
            <a:ext cx="2048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000" dirty="0"/>
          </a:p>
        </p:txBody>
      </p:sp>
      <p:sp>
        <p:nvSpPr>
          <p:cNvPr id="74" name="Shape 67"/>
          <p:cNvSpPr/>
          <p:nvPr/>
        </p:nvSpPr>
        <p:spPr>
          <a:xfrm>
            <a:off x="3178454" y="3853282"/>
            <a:ext cx="9144" cy="30449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5" name="Shape 68"/>
          <p:cNvSpPr/>
          <p:nvPr/>
        </p:nvSpPr>
        <p:spPr>
          <a:xfrm>
            <a:off x="3727094" y="3853282"/>
            <a:ext cx="304495" cy="304495"/>
          </a:xfrm>
          <a:prstGeom prst="ellipse">
            <a:avLst/>
          </a:prstGeom>
          <a:solidFill>
            <a:srgbClr val="3B82F6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76" name="Text 69"/>
          <p:cNvSpPr txBox="1"/>
          <p:nvPr/>
        </p:nvSpPr>
        <p:spPr>
          <a:xfrm>
            <a:off x="3835908" y="3905402"/>
            <a:ext cx="1956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</a:t>
            </a:r>
            <a:endParaRPr lang="en-US" sz="1000" dirty="0"/>
          </a:p>
        </p:txBody>
      </p:sp>
      <p:sp>
        <p:nvSpPr>
          <p:cNvPr id="77" name="Shape 70"/>
          <p:cNvSpPr/>
          <p:nvPr/>
        </p:nvSpPr>
        <p:spPr>
          <a:xfrm>
            <a:off x="4572000" y="3853282"/>
            <a:ext cx="9144" cy="30449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8" name="Shape 71"/>
          <p:cNvSpPr/>
          <p:nvPr/>
        </p:nvSpPr>
        <p:spPr>
          <a:xfrm>
            <a:off x="5121554" y="3853282"/>
            <a:ext cx="304495" cy="30449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</p:sp>
      <p:sp>
        <p:nvSpPr>
          <p:cNvPr id="79" name="Text 72"/>
          <p:cNvSpPr txBox="1"/>
          <p:nvPr/>
        </p:nvSpPr>
        <p:spPr>
          <a:xfrm>
            <a:off x="5255057" y="3905402"/>
            <a:ext cx="1389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</a:t>
            </a:r>
            <a:endParaRPr lang="en-US" sz="1000" dirty="0"/>
          </a:p>
        </p:txBody>
      </p:sp>
      <p:sp>
        <p:nvSpPr>
          <p:cNvPr id="80" name="Shape 73"/>
          <p:cNvSpPr/>
          <p:nvPr/>
        </p:nvSpPr>
        <p:spPr>
          <a:xfrm>
            <a:off x="390449" y="4800600"/>
            <a:ext cx="8363102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1" name="Shape 74"/>
          <p:cNvSpPr/>
          <p:nvPr/>
        </p:nvSpPr>
        <p:spPr>
          <a:xfrm>
            <a:off x="390449" y="4276649"/>
            <a:ext cx="38405" cy="53309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2" name="Text 75"/>
          <p:cNvSpPr txBox="1"/>
          <p:nvPr/>
        </p:nvSpPr>
        <p:spPr>
          <a:xfrm>
            <a:off x="543154" y="4362602"/>
            <a:ext cx="102412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Tests &amp; SLOs</a:t>
            </a:r>
            <a:endParaRPr lang="en-US" sz="1000" dirty="0"/>
          </a:p>
        </p:txBody>
      </p:sp>
      <p:sp>
        <p:nvSpPr>
          <p:cNvPr id="83" name="Shape 76"/>
          <p:cNvSpPr/>
          <p:nvPr/>
        </p:nvSpPr>
        <p:spPr>
          <a:xfrm>
            <a:off x="3178454" y="4390949"/>
            <a:ext cx="9144" cy="30449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4" name="Shape 77"/>
          <p:cNvSpPr/>
          <p:nvPr/>
        </p:nvSpPr>
        <p:spPr>
          <a:xfrm>
            <a:off x="3727094" y="4390949"/>
            <a:ext cx="304495" cy="30449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85" name="Text 78"/>
          <p:cNvSpPr txBox="1"/>
          <p:nvPr/>
        </p:nvSpPr>
        <p:spPr>
          <a:xfrm>
            <a:off x="3830422" y="4443070"/>
            <a:ext cx="2048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000" dirty="0"/>
          </a:p>
        </p:txBody>
      </p:sp>
      <p:sp>
        <p:nvSpPr>
          <p:cNvPr id="86" name="Shape 79"/>
          <p:cNvSpPr/>
          <p:nvPr/>
        </p:nvSpPr>
        <p:spPr>
          <a:xfrm>
            <a:off x="4572000" y="4390949"/>
            <a:ext cx="9144" cy="30449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7" name="Shape 80"/>
          <p:cNvSpPr/>
          <p:nvPr/>
        </p:nvSpPr>
        <p:spPr>
          <a:xfrm>
            <a:off x="5121554" y="4390949"/>
            <a:ext cx="304495" cy="304495"/>
          </a:xfrm>
          <a:prstGeom prst="ellipse">
            <a:avLst/>
          </a:prstGeom>
          <a:solidFill>
            <a:srgbClr val="3B82F6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88" name="Text 81"/>
          <p:cNvSpPr txBox="1"/>
          <p:nvPr/>
        </p:nvSpPr>
        <p:spPr>
          <a:xfrm>
            <a:off x="5229454" y="4443070"/>
            <a:ext cx="1956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</a:t>
            </a:r>
            <a:endParaRPr lang="en-US" sz="1000" dirty="0"/>
          </a:p>
        </p:txBody>
      </p:sp>
      <p:sp>
        <p:nvSpPr>
          <p:cNvPr id="89" name="Shape 82"/>
          <p:cNvSpPr/>
          <p:nvPr/>
        </p:nvSpPr>
        <p:spPr>
          <a:xfrm>
            <a:off x="5965546" y="4390949"/>
            <a:ext cx="9144" cy="30449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90" name="Shape 83"/>
          <p:cNvSpPr/>
          <p:nvPr/>
        </p:nvSpPr>
        <p:spPr>
          <a:xfrm>
            <a:off x="6515100" y="4390949"/>
            <a:ext cx="304495" cy="304495"/>
          </a:xfrm>
          <a:prstGeom prst="ellipse">
            <a:avLst/>
          </a:prstGeom>
          <a:solidFill>
            <a:srgbClr val="1E293B"/>
          </a:solidFill>
          <a:ln w="25400">
            <a:solidFill>
              <a:srgbClr val="1E293B"/>
            </a:solidFill>
            <a:prstDash val="solid"/>
          </a:ln>
        </p:spPr>
      </p:sp>
      <p:sp>
        <p:nvSpPr>
          <p:cNvPr id="91" name="Text 84"/>
          <p:cNvSpPr txBox="1"/>
          <p:nvPr/>
        </p:nvSpPr>
        <p:spPr>
          <a:xfrm>
            <a:off x="6617513" y="4443070"/>
            <a:ext cx="2048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000" dirty="0"/>
          </a:p>
        </p:txBody>
      </p:sp>
      <p:sp>
        <p:nvSpPr>
          <p:cNvPr id="92" name="Shape 85"/>
          <p:cNvSpPr/>
          <p:nvPr/>
        </p:nvSpPr>
        <p:spPr>
          <a:xfrm>
            <a:off x="390449" y="5333695"/>
            <a:ext cx="8363102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93" name="Text 86"/>
          <p:cNvSpPr txBox="1"/>
          <p:nvPr/>
        </p:nvSpPr>
        <p:spPr>
          <a:xfrm>
            <a:off x="543154" y="4895698"/>
            <a:ext cx="719633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&amp; Respond</a:t>
            </a:r>
            <a:endParaRPr lang="en-US" sz="1000" dirty="0"/>
          </a:p>
        </p:txBody>
      </p:sp>
      <p:sp>
        <p:nvSpPr>
          <p:cNvPr id="94" name="Shape 87"/>
          <p:cNvSpPr/>
          <p:nvPr/>
        </p:nvSpPr>
        <p:spPr>
          <a:xfrm>
            <a:off x="1783994" y="4924044"/>
            <a:ext cx="9144" cy="30449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95" name="Shape 88"/>
          <p:cNvSpPr/>
          <p:nvPr/>
        </p:nvSpPr>
        <p:spPr>
          <a:xfrm>
            <a:off x="2333549" y="4924044"/>
            <a:ext cx="304495" cy="30449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</p:sp>
      <p:sp>
        <p:nvSpPr>
          <p:cNvPr id="96" name="Text 89"/>
          <p:cNvSpPr txBox="1"/>
          <p:nvPr/>
        </p:nvSpPr>
        <p:spPr>
          <a:xfrm>
            <a:off x="2467051" y="4977079"/>
            <a:ext cx="1389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</a:t>
            </a:r>
            <a:endParaRPr lang="en-US" sz="1000" dirty="0"/>
          </a:p>
        </p:txBody>
      </p:sp>
      <p:sp>
        <p:nvSpPr>
          <p:cNvPr id="97" name="Shape 90"/>
          <p:cNvSpPr/>
          <p:nvPr/>
        </p:nvSpPr>
        <p:spPr>
          <a:xfrm>
            <a:off x="3178454" y="4924044"/>
            <a:ext cx="9144" cy="30449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98" name="Shape 91"/>
          <p:cNvSpPr/>
          <p:nvPr/>
        </p:nvSpPr>
        <p:spPr>
          <a:xfrm>
            <a:off x="3727094" y="4924044"/>
            <a:ext cx="304495" cy="304495"/>
          </a:xfrm>
          <a:prstGeom prst="ellipse">
            <a:avLst/>
          </a:prstGeom>
          <a:solidFill>
            <a:srgbClr val="3B82F6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99" name="Text 92"/>
          <p:cNvSpPr txBox="1"/>
          <p:nvPr/>
        </p:nvSpPr>
        <p:spPr>
          <a:xfrm>
            <a:off x="3835908" y="4977079"/>
            <a:ext cx="1956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</a:t>
            </a:r>
            <a:endParaRPr lang="en-US" sz="1000" dirty="0"/>
          </a:p>
        </p:txBody>
      </p:sp>
      <p:sp>
        <p:nvSpPr>
          <p:cNvPr id="100" name="Shape 93"/>
          <p:cNvSpPr/>
          <p:nvPr/>
        </p:nvSpPr>
        <p:spPr>
          <a:xfrm>
            <a:off x="4572000" y="4924044"/>
            <a:ext cx="9144" cy="30449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1" name="Shape 94"/>
          <p:cNvSpPr/>
          <p:nvPr/>
        </p:nvSpPr>
        <p:spPr>
          <a:xfrm>
            <a:off x="5121554" y="4924044"/>
            <a:ext cx="304495" cy="30449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02" name="Text 95"/>
          <p:cNvSpPr txBox="1"/>
          <p:nvPr/>
        </p:nvSpPr>
        <p:spPr>
          <a:xfrm>
            <a:off x="5223967" y="4977079"/>
            <a:ext cx="2048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000" dirty="0"/>
          </a:p>
        </p:txBody>
      </p:sp>
      <p:sp>
        <p:nvSpPr>
          <p:cNvPr id="103" name="Shape 96"/>
          <p:cNvSpPr/>
          <p:nvPr/>
        </p:nvSpPr>
        <p:spPr>
          <a:xfrm>
            <a:off x="390449" y="5867705"/>
            <a:ext cx="8363102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4" name="Text 97"/>
          <p:cNvSpPr txBox="1"/>
          <p:nvPr/>
        </p:nvSpPr>
        <p:spPr>
          <a:xfrm>
            <a:off x="543154" y="5429707"/>
            <a:ext cx="100492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&amp; Access</a:t>
            </a:r>
            <a:endParaRPr lang="en-US" sz="1000" dirty="0"/>
          </a:p>
        </p:txBody>
      </p:sp>
      <p:sp>
        <p:nvSpPr>
          <p:cNvPr id="105" name="Shape 98"/>
          <p:cNvSpPr/>
          <p:nvPr/>
        </p:nvSpPr>
        <p:spPr>
          <a:xfrm>
            <a:off x="1783994" y="5458054"/>
            <a:ext cx="9144" cy="30449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6" name="Shape 99"/>
          <p:cNvSpPr/>
          <p:nvPr/>
        </p:nvSpPr>
        <p:spPr>
          <a:xfrm>
            <a:off x="2333549" y="5458054"/>
            <a:ext cx="304495" cy="30449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07" name="Text 100"/>
          <p:cNvSpPr txBox="1"/>
          <p:nvPr/>
        </p:nvSpPr>
        <p:spPr>
          <a:xfrm>
            <a:off x="2436876" y="5510174"/>
            <a:ext cx="2048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000" dirty="0"/>
          </a:p>
        </p:txBody>
      </p:sp>
      <p:sp>
        <p:nvSpPr>
          <p:cNvPr id="108" name="Shape 101"/>
          <p:cNvSpPr/>
          <p:nvPr/>
        </p:nvSpPr>
        <p:spPr>
          <a:xfrm>
            <a:off x="3178454" y="5458054"/>
            <a:ext cx="9144" cy="30449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9" name="Shape 102"/>
          <p:cNvSpPr/>
          <p:nvPr/>
        </p:nvSpPr>
        <p:spPr>
          <a:xfrm>
            <a:off x="3727094" y="5458054"/>
            <a:ext cx="304495" cy="30449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</p:sp>
      <p:sp>
        <p:nvSpPr>
          <p:cNvPr id="110" name="Text 103"/>
          <p:cNvSpPr txBox="1"/>
          <p:nvPr/>
        </p:nvSpPr>
        <p:spPr>
          <a:xfrm>
            <a:off x="3860597" y="5510174"/>
            <a:ext cx="1389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</a:t>
            </a:r>
            <a:endParaRPr lang="en-US" sz="1000" dirty="0"/>
          </a:p>
        </p:txBody>
      </p:sp>
      <p:sp>
        <p:nvSpPr>
          <p:cNvPr id="111" name="Shape 104"/>
          <p:cNvSpPr/>
          <p:nvPr/>
        </p:nvSpPr>
        <p:spPr>
          <a:xfrm>
            <a:off x="4572000" y="5458054"/>
            <a:ext cx="9144" cy="30449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12" name="Shape 105"/>
          <p:cNvSpPr/>
          <p:nvPr/>
        </p:nvSpPr>
        <p:spPr>
          <a:xfrm>
            <a:off x="5121554" y="5458054"/>
            <a:ext cx="304495" cy="30449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</p:sp>
      <p:sp>
        <p:nvSpPr>
          <p:cNvPr id="113" name="Text 106"/>
          <p:cNvSpPr txBox="1"/>
          <p:nvPr/>
        </p:nvSpPr>
        <p:spPr>
          <a:xfrm>
            <a:off x="5255057" y="5510174"/>
            <a:ext cx="1389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</a:t>
            </a:r>
            <a:endParaRPr lang="en-US" sz="1000" dirty="0"/>
          </a:p>
        </p:txBody>
      </p:sp>
      <p:sp>
        <p:nvSpPr>
          <p:cNvPr id="114" name="Shape 107"/>
          <p:cNvSpPr/>
          <p:nvPr/>
        </p:nvSpPr>
        <p:spPr>
          <a:xfrm>
            <a:off x="5965546" y="5458054"/>
            <a:ext cx="9144" cy="30449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15" name="Shape 108"/>
          <p:cNvSpPr/>
          <p:nvPr/>
        </p:nvSpPr>
        <p:spPr>
          <a:xfrm>
            <a:off x="6515100" y="5458054"/>
            <a:ext cx="304495" cy="30449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16" name="Text 109"/>
          <p:cNvSpPr txBox="1"/>
          <p:nvPr/>
        </p:nvSpPr>
        <p:spPr>
          <a:xfrm>
            <a:off x="6617513" y="5510174"/>
            <a:ext cx="2048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000" dirty="0"/>
          </a:p>
        </p:txBody>
      </p:sp>
      <p:sp>
        <p:nvSpPr>
          <p:cNvPr id="117" name="Shape 110"/>
          <p:cNvSpPr/>
          <p:nvPr/>
        </p:nvSpPr>
        <p:spPr>
          <a:xfrm>
            <a:off x="7360006" y="5458054"/>
            <a:ext cx="9144" cy="30449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18" name="Shape 111"/>
          <p:cNvSpPr/>
          <p:nvPr/>
        </p:nvSpPr>
        <p:spPr>
          <a:xfrm>
            <a:off x="7908646" y="5458054"/>
            <a:ext cx="304495" cy="304495"/>
          </a:xfrm>
          <a:prstGeom prst="ellipse">
            <a:avLst/>
          </a:prstGeom>
          <a:solidFill>
            <a:srgbClr val="1E293B"/>
          </a:solidFill>
          <a:ln w="25400">
            <a:solidFill>
              <a:srgbClr val="1E293B"/>
            </a:solidFill>
            <a:prstDash val="solid"/>
          </a:ln>
        </p:spPr>
      </p:sp>
      <p:sp>
        <p:nvSpPr>
          <p:cNvPr id="119" name="Text 112"/>
          <p:cNvSpPr txBox="1"/>
          <p:nvPr/>
        </p:nvSpPr>
        <p:spPr>
          <a:xfrm>
            <a:off x="8011058" y="5510174"/>
            <a:ext cx="2048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000" dirty="0"/>
          </a:p>
        </p:txBody>
      </p:sp>
      <p:sp>
        <p:nvSpPr>
          <p:cNvPr id="120" name="Text 113"/>
          <p:cNvSpPr txBox="1"/>
          <p:nvPr/>
        </p:nvSpPr>
        <p:spPr>
          <a:xfrm>
            <a:off x="543154" y="6057900"/>
            <a:ext cx="10625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Evidence</a:t>
            </a:r>
            <a:endParaRPr lang="en-US" sz="1000" dirty="0"/>
          </a:p>
        </p:txBody>
      </p:sp>
      <p:sp>
        <p:nvSpPr>
          <p:cNvPr id="121" name="Shape 114"/>
          <p:cNvSpPr/>
          <p:nvPr/>
        </p:nvSpPr>
        <p:spPr>
          <a:xfrm>
            <a:off x="1783994" y="5991149"/>
            <a:ext cx="9144" cy="30449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2" name="Shape 115"/>
          <p:cNvSpPr/>
          <p:nvPr/>
        </p:nvSpPr>
        <p:spPr>
          <a:xfrm>
            <a:off x="2333549" y="5991149"/>
            <a:ext cx="304495" cy="30449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</p:sp>
      <p:sp>
        <p:nvSpPr>
          <p:cNvPr id="123" name="Text 116"/>
          <p:cNvSpPr txBox="1"/>
          <p:nvPr/>
        </p:nvSpPr>
        <p:spPr>
          <a:xfrm>
            <a:off x="2467051" y="6043270"/>
            <a:ext cx="1389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</a:t>
            </a:r>
            <a:endParaRPr lang="en-US" sz="1000" dirty="0"/>
          </a:p>
        </p:txBody>
      </p:sp>
      <p:sp>
        <p:nvSpPr>
          <p:cNvPr id="124" name="Shape 117"/>
          <p:cNvSpPr/>
          <p:nvPr/>
        </p:nvSpPr>
        <p:spPr>
          <a:xfrm>
            <a:off x="3178454" y="5991149"/>
            <a:ext cx="9144" cy="30449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5" name="Shape 118"/>
          <p:cNvSpPr/>
          <p:nvPr/>
        </p:nvSpPr>
        <p:spPr>
          <a:xfrm>
            <a:off x="3727094" y="5991149"/>
            <a:ext cx="304495" cy="30449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26" name="Text 119"/>
          <p:cNvSpPr txBox="1"/>
          <p:nvPr/>
        </p:nvSpPr>
        <p:spPr>
          <a:xfrm>
            <a:off x="3830422" y="6043270"/>
            <a:ext cx="2048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000" dirty="0"/>
          </a:p>
        </p:txBody>
      </p:sp>
      <p:sp>
        <p:nvSpPr>
          <p:cNvPr id="127" name="Shape 120"/>
          <p:cNvSpPr/>
          <p:nvPr/>
        </p:nvSpPr>
        <p:spPr>
          <a:xfrm>
            <a:off x="4572000" y="5991149"/>
            <a:ext cx="9144" cy="30449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8" name="Shape 121"/>
          <p:cNvSpPr/>
          <p:nvPr/>
        </p:nvSpPr>
        <p:spPr>
          <a:xfrm>
            <a:off x="5121554" y="5991149"/>
            <a:ext cx="304495" cy="304495"/>
          </a:xfrm>
          <a:prstGeom prst="ellipse">
            <a:avLst/>
          </a:prstGeom>
          <a:solidFill>
            <a:srgbClr val="3B82F6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29" name="Text 122"/>
          <p:cNvSpPr txBox="1"/>
          <p:nvPr/>
        </p:nvSpPr>
        <p:spPr>
          <a:xfrm>
            <a:off x="5229454" y="6043270"/>
            <a:ext cx="1956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</a:t>
            </a:r>
            <a:endParaRPr lang="en-US" sz="1000" dirty="0"/>
          </a:p>
        </p:txBody>
      </p:sp>
      <p:sp>
        <p:nvSpPr>
          <p:cNvPr id="130" name="Shape 123"/>
          <p:cNvSpPr/>
          <p:nvPr/>
        </p:nvSpPr>
        <p:spPr>
          <a:xfrm>
            <a:off x="7360006" y="5991149"/>
            <a:ext cx="9144" cy="30449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31" name="Shape 124"/>
          <p:cNvSpPr/>
          <p:nvPr/>
        </p:nvSpPr>
        <p:spPr>
          <a:xfrm>
            <a:off x="7908646" y="5991149"/>
            <a:ext cx="304495" cy="304495"/>
          </a:xfrm>
          <a:prstGeom prst="ellipse">
            <a:avLst/>
          </a:prstGeom>
          <a:solidFill>
            <a:srgbClr val="1E293B"/>
          </a:solidFill>
          <a:ln w="25400">
            <a:solidFill>
              <a:srgbClr val="1E293B"/>
            </a:solidFill>
            <a:prstDash val="solid"/>
          </a:ln>
        </p:spPr>
      </p:sp>
      <p:sp>
        <p:nvSpPr>
          <p:cNvPr id="132" name="Text 125"/>
          <p:cNvSpPr txBox="1"/>
          <p:nvPr/>
        </p:nvSpPr>
        <p:spPr>
          <a:xfrm>
            <a:off x="8011058" y="6043270"/>
            <a:ext cx="2048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000" dirty="0"/>
          </a:p>
        </p:txBody>
      </p:sp>
      <p:sp>
        <p:nvSpPr>
          <p:cNvPr id="133" name="Shape 126"/>
          <p:cNvSpPr/>
          <p:nvPr/>
        </p:nvSpPr>
        <p:spPr>
          <a:xfrm>
            <a:off x="9258300" y="2333549"/>
            <a:ext cx="23618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34" name="Text 127"/>
          <p:cNvSpPr txBox="1"/>
          <p:nvPr/>
        </p:nvSpPr>
        <p:spPr>
          <a:xfrm>
            <a:off x="9258300" y="2018995"/>
            <a:ext cx="17675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Rituals</a:t>
            </a:r>
            <a:endParaRPr lang="en-US" sz="1300" dirty="0"/>
          </a:p>
        </p:txBody>
      </p:sp>
      <p:sp>
        <p:nvSpPr>
          <p:cNvPr id="135" name="Text 128"/>
          <p:cNvSpPr txBox="1"/>
          <p:nvPr/>
        </p:nvSpPr>
        <p:spPr>
          <a:xfrm>
            <a:off x="9258300" y="2505456"/>
            <a:ext cx="10625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Review</a:t>
            </a:r>
            <a:endParaRPr lang="en-US" sz="1000" dirty="0"/>
          </a:p>
        </p:txBody>
      </p:sp>
      <p:sp>
        <p:nvSpPr>
          <p:cNvPr id="136" name="Text 129"/>
          <p:cNvSpPr txBox="1"/>
          <p:nvPr/>
        </p:nvSpPr>
        <p:spPr>
          <a:xfrm>
            <a:off x="11149279" y="2514600"/>
            <a:ext cx="4864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</a:t>
            </a:r>
            <a:endParaRPr lang="en-US" sz="900" dirty="0"/>
          </a:p>
        </p:txBody>
      </p:sp>
      <p:sp>
        <p:nvSpPr>
          <p:cNvPr id="137" name="Text 130"/>
          <p:cNvSpPr txBox="1"/>
          <p:nvPr/>
        </p:nvSpPr>
        <p:spPr>
          <a:xfrm>
            <a:off x="9258300" y="2743200"/>
            <a:ext cx="22384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&amp; QE validate schema changes before dev begins.</a:t>
            </a:r>
            <a:endParaRPr lang="en-US" sz="900" dirty="0"/>
          </a:p>
        </p:txBody>
      </p:sp>
      <p:sp>
        <p:nvSpPr>
          <p:cNvPr id="138" name="Text 131"/>
          <p:cNvSpPr txBox="1"/>
          <p:nvPr/>
        </p:nvSpPr>
        <p:spPr>
          <a:xfrm>
            <a:off x="9258300" y="3295498"/>
            <a:ext cx="9573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 Gate</a:t>
            </a:r>
            <a:endParaRPr lang="en-US" sz="1000" dirty="0"/>
          </a:p>
        </p:txBody>
      </p:sp>
      <p:sp>
        <p:nvSpPr>
          <p:cNvPr id="139" name="Text 132"/>
          <p:cNvSpPr txBox="1"/>
          <p:nvPr/>
        </p:nvSpPr>
        <p:spPr>
          <a:xfrm>
            <a:off x="11183112" y="3305556"/>
            <a:ext cx="4480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PR</a:t>
            </a:r>
            <a:endParaRPr lang="en-US" sz="900" dirty="0"/>
          </a:p>
        </p:txBody>
      </p:sp>
      <p:sp>
        <p:nvSpPr>
          <p:cNvPr id="140" name="Text 133"/>
          <p:cNvSpPr txBox="1"/>
          <p:nvPr/>
        </p:nvSpPr>
        <p:spPr>
          <a:xfrm>
            <a:off x="9258300" y="3534156"/>
            <a:ext cx="24387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blocking on failed contract tests or PII scan.</a:t>
            </a:r>
            <a:endParaRPr lang="en-US" sz="900" dirty="0"/>
          </a:p>
        </p:txBody>
      </p:sp>
      <p:sp>
        <p:nvSpPr>
          <p:cNvPr id="141" name="Text 134"/>
          <p:cNvSpPr txBox="1"/>
          <p:nvPr/>
        </p:nvSpPr>
        <p:spPr>
          <a:xfrm>
            <a:off x="9258300" y="4086454"/>
            <a:ext cx="8906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RCA</a:t>
            </a:r>
            <a:endParaRPr lang="en-US" sz="1000" dirty="0"/>
          </a:p>
        </p:txBody>
      </p:sp>
      <p:sp>
        <p:nvSpPr>
          <p:cNvPr id="142" name="Text 135"/>
          <p:cNvSpPr txBox="1"/>
          <p:nvPr/>
        </p:nvSpPr>
        <p:spPr>
          <a:xfrm>
            <a:off x="11091672" y="4095598"/>
            <a:ext cx="5431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Post-Inc</a:t>
            </a:r>
            <a:endParaRPr lang="en-US" sz="900" dirty="0"/>
          </a:p>
        </p:txBody>
      </p:sp>
      <p:sp>
        <p:nvSpPr>
          <p:cNvPr id="143" name="Text 136"/>
          <p:cNvSpPr txBox="1"/>
          <p:nvPr/>
        </p:nvSpPr>
        <p:spPr>
          <a:xfrm>
            <a:off x="9258300" y="4324198"/>
            <a:ext cx="244876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Blameless retrospective for any Sev1/2 data quality incident.</a:t>
            </a:r>
            <a:endParaRPr lang="en-US" sz="900" dirty="0"/>
          </a:p>
        </p:txBody>
      </p:sp>
      <p:sp>
        <p:nvSpPr>
          <p:cNvPr id="144" name="Shape 137"/>
          <p:cNvSpPr/>
          <p:nvPr/>
        </p:nvSpPr>
        <p:spPr>
          <a:xfrm>
            <a:off x="9068105" y="5095951"/>
            <a:ext cx="2743200" cy="1162202"/>
          </a:xfrm>
          <a:prstGeom prst="roundRect">
            <a:avLst>
              <a:gd name="adj" fmla="val 7739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145" name="Image 5" descr="preencoded.png">    </p:cNvPr>
          <p:cNvPicPr>
            <a:picLocks noChangeAspect="1"/>
          </p:cNvPicPr>
          <p:nvPr/>
        </p:nvPicPr>
        <p:blipFill>
          <a:blip r:embed="rId6"/>
          <a:srcRect l="-57" r="-57" t="0" b="0"/>
          <a:stretch/>
        </p:blipFill>
        <p:spPr>
          <a:xfrm>
            <a:off x="9229954" y="5257800"/>
            <a:ext cx="200254" cy="228600"/>
          </a:xfrm>
          <a:prstGeom prst="rect">
            <a:avLst/>
          </a:prstGeom>
        </p:spPr>
      </p:pic>
      <p:sp>
        <p:nvSpPr>
          <p:cNvPr id="146" name="Text 138"/>
          <p:cNvSpPr txBox="1"/>
          <p:nvPr/>
        </p:nvSpPr>
        <p:spPr>
          <a:xfrm>
            <a:off x="11586362" y="6515100"/>
            <a:ext cx="4672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6</a:t>
            </a:r>
            <a:endParaRPr lang="en-US" sz="900" dirty="0"/>
          </a:p>
        </p:txBody>
      </p:sp>
      <p:sp>
        <p:nvSpPr>
          <p:cNvPr id="147" name="Text 139"/>
          <p:cNvSpPr txBox="1"/>
          <p:nvPr/>
        </p:nvSpPr>
        <p:spPr>
          <a:xfrm>
            <a:off x="9344254" y="5305349"/>
            <a:ext cx="2129638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"Quality is everyone's responsibility, but without clear ownership, it becomes no one's execution."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90500" dist="12700" dir="16200000">
              <a:srgbClr val="000000">
                <a:alpha val="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3"/>
          <p:cNvSpPr/>
          <p:nvPr/>
        </p:nvSpPr>
        <p:spPr>
          <a:xfrm>
            <a:off x="381305" y="381305"/>
            <a:ext cx="875995" cy="228600"/>
          </a:xfrm>
          <a:prstGeom prst="roundRect">
            <a:avLst>
              <a:gd name="adj" fmla="val 66667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418795"/>
            <a:ext cx="8101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409651"/>
            <a:ext cx="27294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Databricks Lakehouse Quality Monitoring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81305" y="685800"/>
            <a:ext cx="50246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KPIs &amp; SLOs for Lakehouse Quality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81305" y="1333195"/>
            <a:ext cx="2667305" cy="952805"/>
          </a:xfrm>
          <a:prstGeom prst="roundRect">
            <a:avLst>
              <a:gd name="adj" fmla="val 76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1305" y="1333195"/>
            <a:ext cx="38405" cy="95280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09905" y="1533449"/>
            <a:ext cx="135056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DQ INCIDENT RATE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09905" y="1747418"/>
            <a:ext cx="10479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0.4%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2293315" y="1880921"/>
            <a:ext cx="571500" cy="209398"/>
          </a:xfrm>
          <a:prstGeom prst="roundRect">
            <a:avLst>
              <a:gd name="adj" fmla="val 238189"/>
            </a:avLst>
          </a:prstGeom>
          <a:solidFill>
            <a:srgbClr val="DCFCE7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rcRect l="-133" r="-133" t="0" b="0"/>
          <a:stretch/>
        </p:blipFill>
        <p:spPr>
          <a:xfrm>
            <a:off x="2370125" y="1928470"/>
            <a:ext cx="85954" cy="11430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2493569" y="1900123"/>
            <a:ext cx="3813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-12%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38805" y="1333195"/>
            <a:ext cx="2667305" cy="952805"/>
          </a:xfrm>
          <a:prstGeom prst="roundRect">
            <a:avLst>
              <a:gd name="adj" fmla="val 76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38805" y="1333195"/>
            <a:ext cx="38405" cy="95280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467405" y="1533449"/>
            <a:ext cx="12170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 ADHERENCE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3467405" y="1747418"/>
            <a:ext cx="122895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99.9%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5067605" y="1880921"/>
            <a:ext cx="657454" cy="209398"/>
          </a:xfrm>
          <a:prstGeom prst="roundRect">
            <a:avLst>
              <a:gd name="adj" fmla="val 238189"/>
            </a:avLst>
          </a:prstGeom>
          <a:solidFill>
            <a:srgbClr val="DCFCE7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rcRect l="-133" r="-133" t="0" b="0"/>
          <a:stretch/>
        </p:blipFill>
        <p:spPr>
          <a:xfrm>
            <a:off x="5143500" y="1928470"/>
            <a:ext cx="85954" cy="11430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5266944" y="1900123"/>
            <a:ext cx="4672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+0.2%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6096305" y="1333195"/>
            <a:ext cx="2667305" cy="952805"/>
          </a:xfrm>
          <a:prstGeom prst="roundRect">
            <a:avLst>
              <a:gd name="adj" fmla="val 76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096305" y="1333195"/>
            <a:ext cx="38405" cy="95280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324905" y="1533449"/>
            <a:ext cx="90251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MTTR (AVG)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6324905" y="1747418"/>
            <a:ext cx="8385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18m</a:t>
            </a:r>
            <a:endParaRPr lang="en-US" sz="2400" dirty="0"/>
          </a:p>
        </p:txBody>
      </p:sp>
      <p:sp>
        <p:nvSpPr>
          <p:cNvPr id="27" name="Shape 23"/>
          <p:cNvSpPr/>
          <p:nvPr/>
        </p:nvSpPr>
        <p:spPr>
          <a:xfrm>
            <a:off x="8070494" y="1880921"/>
            <a:ext cx="504749" cy="209398"/>
          </a:xfrm>
          <a:prstGeom prst="roundRect">
            <a:avLst>
              <a:gd name="adj" fmla="val 238189"/>
            </a:avLst>
          </a:prstGeom>
          <a:solidFill>
            <a:srgbClr val="DCFCE7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rcRect l="-133" r="-133" t="0" b="0"/>
          <a:stretch/>
        </p:blipFill>
        <p:spPr>
          <a:xfrm>
            <a:off x="8146390" y="1928470"/>
            <a:ext cx="85954" cy="11430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8269834" y="1900123"/>
            <a:ext cx="3145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-5m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381305" y="2471623"/>
            <a:ext cx="2667305" cy="952805"/>
          </a:xfrm>
          <a:prstGeom prst="roundRect">
            <a:avLst>
              <a:gd name="adj" fmla="val 76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381305" y="2471623"/>
            <a:ext cx="38405" cy="95280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609905" y="2671877"/>
            <a:ext cx="120792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COVERAGE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609905" y="2885846"/>
            <a:ext cx="9336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endParaRPr lang="en-US" sz="2400" dirty="0"/>
          </a:p>
        </p:txBody>
      </p:sp>
      <p:sp>
        <p:nvSpPr>
          <p:cNvPr id="34" name="Shape 29"/>
          <p:cNvSpPr/>
          <p:nvPr/>
        </p:nvSpPr>
        <p:spPr>
          <a:xfrm>
            <a:off x="2316175" y="3019349"/>
            <a:ext cx="543154" cy="209398"/>
          </a:xfrm>
          <a:prstGeom prst="roundRect">
            <a:avLst>
              <a:gd name="adj" fmla="val 238189"/>
            </a:avLst>
          </a:prstGeom>
          <a:solidFill>
            <a:srgbClr val="DCFCE7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rcRect l="-133" r="-133" t="0" b="0"/>
          <a:stretch/>
        </p:blipFill>
        <p:spPr>
          <a:xfrm>
            <a:off x="2392985" y="3066898"/>
            <a:ext cx="85954" cy="114300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2516429" y="3038551"/>
            <a:ext cx="3529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+8%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3238805" y="2471623"/>
            <a:ext cx="2667305" cy="952805"/>
          </a:xfrm>
          <a:prstGeom prst="roundRect">
            <a:avLst>
              <a:gd name="adj" fmla="val 76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3238805" y="2471623"/>
            <a:ext cx="38405" cy="95280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9" name="Text 33"/>
          <p:cNvSpPr txBox="1"/>
          <p:nvPr/>
        </p:nvSpPr>
        <p:spPr>
          <a:xfrm>
            <a:off x="3467405" y="2671877"/>
            <a:ext cx="119786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ADOPTION</a:t>
            </a:r>
            <a:endParaRPr lang="en-US" sz="900" dirty="0"/>
          </a:p>
        </p:txBody>
      </p:sp>
      <p:sp>
        <p:nvSpPr>
          <p:cNvPr id="40" name="Text 34"/>
          <p:cNvSpPr txBox="1"/>
          <p:nvPr/>
        </p:nvSpPr>
        <p:spPr>
          <a:xfrm>
            <a:off x="3467405" y="2885846"/>
            <a:ext cx="8385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1.2k</a:t>
            </a:r>
            <a:endParaRPr lang="en-US" sz="2400" dirty="0"/>
          </a:p>
        </p:txBody>
      </p:sp>
      <p:sp>
        <p:nvSpPr>
          <p:cNvPr id="41" name="Shape 35"/>
          <p:cNvSpPr/>
          <p:nvPr/>
        </p:nvSpPr>
        <p:spPr>
          <a:xfrm>
            <a:off x="5110582" y="3019349"/>
            <a:ext cx="609905" cy="209398"/>
          </a:xfrm>
          <a:prstGeom prst="roundRect">
            <a:avLst>
              <a:gd name="adj" fmla="val 238189"/>
            </a:avLst>
          </a:prstGeom>
          <a:solidFill>
            <a:srgbClr val="DCFCE7"/>
          </a:solidFill>
          <a:ln/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5187391" y="3066898"/>
            <a:ext cx="142646" cy="114300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5368442" y="3038551"/>
            <a:ext cx="3621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+150</a:t>
            </a:r>
            <a:endParaRPr lang="en-US" sz="900" dirty="0"/>
          </a:p>
        </p:txBody>
      </p:sp>
      <p:sp>
        <p:nvSpPr>
          <p:cNvPr id="44" name="Shape 37"/>
          <p:cNvSpPr/>
          <p:nvPr/>
        </p:nvSpPr>
        <p:spPr>
          <a:xfrm>
            <a:off x="6096305" y="2471623"/>
            <a:ext cx="2667305" cy="952805"/>
          </a:xfrm>
          <a:prstGeom prst="roundRect">
            <a:avLst>
              <a:gd name="adj" fmla="val 76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6096305" y="2471623"/>
            <a:ext cx="38405" cy="95280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6" name="Text 39"/>
          <p:cNvSpPr txBox="1"/>
          <p:nvPr/>
        </p:nvSpPr>
        <p:spPr>
          <a:xfrm>
            <a:off x="6324905" y="2671877"/>
            <a:ext cx="118872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FINDINGS</a:t>
            </a:r>
            <a:endParaRPr lang="en-US" sz="900" dirty="0"/>
          </a:p>
        </p:txBody>
      </p:sp>
      <p:sp>
        <p:nvSpPr>
          <p:cNvPr id="47" name="Text 40"/>
          <p:cNvSpPr txBox="1"/>
          <p:nvPr/>
        </p:nvSpPr>
        <p:spPr>
          <a:xfrm>
            <a:off x="6324905" y="2885846"/>
            <a:ext cx="4389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2400" dirty="0"/>
          </a:p>
        </p:txBody>
      </p:sp>
      <p:sp>
        <p:nvSpPr>
          <p:cNvPr id="48" name="Shape 41"/>
          <p:cNvSpPr/>
          <p:nvPr/>
        </p:nvSpPr>
        <p:spPr>
          <a:xfrm>
            <a:off x="7927848" y="3019349"/>
            <a:ext cx="647395" cy="209398"/>
          </a:xfrm>
          <a:prstGeom prst="roundRect">
            <a:avLst>
              <a:gd name="adj" fmla="val 238189"/>
            </a:avLst>
          </a:prstGeom>
          <a:solidFill>
            <a:srgbClr val="F1F5F9"/>
          </a:solidFill>
          <a:ln/>
        </p:spPr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rcRect l="-2571" r="-2571" t="0" b="0"/>
          <a:stretch/>
        </p:blipFill>
        <p:spPr>
          <a:xfrm>
            <a:off x="8003743" y="3066898"/>
            <a:ext cx="105156" cy="114300"/>
          </a:xfrm>
          <a:prstGeom prst="rect">
            <a:avLst/>
          </a:prstGeom>
        </p:spPr>
      </p:pic>
      <p:sp>
        <p:nvSpPr>
          <p:cNvPr id="50" name="Text 42"/>
          <p:cNvSpPr txBox="1"/>
          <p:nvPr/>
        </p:nvSpPr>
        <p:spPr>
          <a:xfrm>
            <a:off x="8146390" y="3038551"/>
            <a:ext cx="4389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Stable</a:t>
            </a:r>
            <a:endParaRPr lang="en-US" sz="900" dirty="0"/>
          </a:p>
        </p:txBody>
      </p:sp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81305" y="3771900"/>
            <a:ext cx="171907" cy="171907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629107" y="3724351"/>
            <a:ext cx="27962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Level Objectives (SLOs)</a:t>
            </a:r>
            <a:endParaRPr lang="en-US" sz="1300" dirty="0"/>
          </a:p>
        </p:txBody>
      </p:sp>
      <p:sp>
        <p:nvSpPr>
          <p:cNvPr id="53" name="Shape 44"/>
          <p:cNvSpPr/>
          <p:nvPr/>
        </p:nvSpPr>
        <p:spPr>
          <a:xfrm>
            <a:off x="381305" y="4143146"/>
            <a:ext cx="2648102" cy="2095805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pic>
        <p:nvPicPr>
          <p:cNvPr id="54" name="Image 7" descr="preencoded.png">    </p:cNvPr>
          <p:cNvPicPr>
            <a:picLocks noChangeAspect="1"/>
          </p:cNvPicPr>
          <p:nvPr/>
        </p:nvPicPr>
        <p:blipFill>
          <a:blip r:embed="rId8"/>
          <a:srcRect l="-6" r="-6" t="0" b="0"/>
          <a:stretch/>
        </p:blipFill>
        <p:spPr>
          <a:xfrm>
            <a:off x="476402" y="4238244"/>
            <a:ext cx="2447849" cy="1904695"/>
          </a:xfrm>
          <a:prstGeom prst="rect">
            <a:avLst/>
          </a:prstGeom>
        </p:spPr>
      </p:pic>
      <p:sp>
        <p:nvSpPr>
          <p:cNvPr id="55" name="Shape 45"/>
          <p:cNvSpPr/>
          <p:nvPr/>
        </p:nvSpPr>
        <p:spPr>
          <a:xfrm>
            <a:off x="3251606" y="4143146"/>
            <a:ext cx="2648102" cy="2095805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9"/>
          <a:srcRect l="-6" r="-6" t="0" b="0"/>
          <a:stretch/>
        </p:blipFill>
        <p:spPr>
          <a:xfrm>
            <a:off x="3346704" y="4238244"/>
            <a:ext cx="2447849" cy="1904695"/>
          </a:xfrm>
          <a:prstGeom prst="rect">
            <a:avLst/>
          </a:prstGeom>
        </p:spPr>
      </p:pic>
      <p:sp>
        <p:nvSpPr>
          <p:cNvPr id="57" name="Shape 46"/>
          <p:cNvSpPr/>
          <p:nvPr/>
        </p:nvSpPr>
        <p:spPr>
          <a:xfrm>
            <a:off x="6120994" y="4143146"/>
            <a:ext cx="2648102" cy="2095805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pic>
        <p:nvPicPr>
          <p:cNvPr id="58" name="Image 9" descr="preencoded.png">    </p:cNvPr>
          <p:cNvPicPr>
            <a:picLocks noChangeAspect="1"/>
          </p:cNvPicPr>
          <p:nvPr/>
        </p:nvPicPr>
        <p:blipFill>
          <a:blip r:embed="rId10"/>
          <a:srcRect l="-6" r="-6" t="0" b="0"/>
          <a:stretch/>
        </p:blipFill>
        <p:spPr>
          <a:xfrm>
            <a:off x="6217006" y="4238244"/>
            <a:ext cx="2447849" cy="1904695"/>
          </a:xfrm>
          <a:prstGeom prst="rect">
            <a:avLst/>
          </a:prstGeom>
        </p:spPr>
      </p:pic>
      <p:sp>
        <p:nvSpPr>
          <p:cNvPr id="59" name="Shape 47"/>
          <p:cNvSpPr/>
          <p:nvPr/>
        </p:nvSpPr>
        <p:spPr>
          <a:xfrm>
            <a:off x="9144000" y="0"/>
            <a:ext cx="3047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0" name="Shape 48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1" name="Text 49"/>
          <p:cNvSpPr txBox="1"/>
          <p:nvPr/>
        </p:nvSpPr>
        <p:spPr>
          <a:xfrm>
            <a:off x="9439351" y="400507"/>
            <a:ext cx="1305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Signals</a:t>
            </a:r>
            <a:endParaRPr lang="en-US" sz="1500" dirty="0"/>
          </a:p>
        </p:txBody>
      </p:sp>
      <p:sp>
        <p:nvSpPr>
          <p:cNvPr id="62" name="Text 50"/>
          <p:cNvSpPr txBox="1"/>
          <p:nvPr/>
        </p:nvSpPr>
        <p:spPr>
          <a:xfrm>
            <a:off x="9439351" y="694944"/>
            <a:ext cx="18150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metrics are sourced</a:t>
            </a:r>
            <a:endParaRPr lang="en-US" sz="1000" dirty="0"/>
          </a:p>
        </p:txBody>
      </p:sp>
      <p:sp>
        <p:nvSpPr>
          <p:cNvPr id="63" name="Shape 51"/>
          <p:cNvSpPr/>
          <p:nvPr/>
        </p:nvSpPr>
        <p:spPr>
          <a:xfrm>
            <a:off x="9439351" y="1848917"/>
            <a:ext cx="2467051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4" name="Shape 52"/>
          <p:cNvSpPr/>
          <p:nvPr/>
        </p:nvSpPr>
        <p:spPr>
          <a:xfrm>
            <a:off x="9439351" y="1324051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1E293B"/>
          </a:solidFill>
          <a:ln/>
        </p:spPr>
      </p:sp>
      <p:pic>
        <p:nvPicPr>
          <p:cNvPr id="65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9553651" y="1438351"/>
            <a:ext cx="152705" cy="152705"/>
          </a:xfrm>
          <a:prstGeom prst="rect">
            <a:avLst/>
          </a:prstGeom>
        </p:spPr>
      </p:pic>
      <p:sp>
        <p:nvSpPr>
          <p:cNvPr id="66" name="Text 53"/>
          <p:cNvSpPr txBox="1"/>
          <p:nvPr/>
        </p:nvSpPr>
        <p:spPr>
          <a:xfrm>
            <a:off x="9963302" y="1352398"/>
            <a:ext cx="10625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Tables</a:t>
            </a:r>
            <a:endParaRPr lang="en-US" sz="1000" dirty="0"/>
          </a:p>
        </p:txBody>
      </p:sp>
      <p:sp>
        <p:nvSpPr>
          <p:cNvPr id="67" name="Text 54"/>
          <p:cNvSpPr txBox="1"/>
          <p:nvPr/>
        </p:nvSpPr>
        <p:spPr>
          <a:xfrm>
            <a:off x="9963302" y="1543507"/>
            <a:ext cx="18105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system.information_schema</a:t>
            </a:r>
            <a:endParaRPr lang="en-US" sz="900" dirty="0"/>
          </a:p>
        </p:txBody>
      </p:sp>
      <p:sp>
        <p:nvSpPr>
          <p:cNvPr id="68" name="Shape 55"/>
          <p:cNvSpPr/>
          <p:nvPr/>
        </p:nvSpPr>
        <p:spPr>
          <a:xfrm>
            <a:off x="9439351" y="2601468"/>
            <a:ext cx="2467051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9" name="Shape 56"/>
          <p:cNvSpPr/>
          <p:nvPr/>
        </p:nvSpPr>
        <p:spPr>
          <a:xfrm>
            <a:off x="9439351" y="2076602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1E293B"/>
          </a:solidFill>
          <a:ln/>
        </p:spPr>
      </p:sp>
      <p:pic>
        <p:nvPicPr>
          <p:cNvPr id="70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9553651" y="2190902"/>
            <a:ext cx="152705" cy="152705"/>
          </a:xfrm>
          <a:prstGeom prst="rect">
            <a:avLst/>
          </a:prstGeom>
        </p:spPr>
      </p:pic>
      <p:sp>
        <p:nvSpPr>
          <p:cNvPr id="71" name="Text 57"/>
          <p:cNvSpPr txBox="1"/>
          <p:nvPr/>
        </p:nvSpPr>
        <p:spPr>
          <a:xfrm>
            <a:off x="9963302" y="2104949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DLT Event Log</a:t>
            </a:r>
            <a:endParaRPr lang="en-US" sz="1000" dirty="0"/>
          </a:p>
        </p:txBody>
      </p:sp>
      <p:sp>
        <p:nvSpPr>
          <p:cNvPr id="72" name="Text 58"/>
          <p:cNvSpPr txBox="1"/>
          <p:nvPr/>
        </p:nvSpPr>
        <p:spPr>
          <a:xfrm>
            <a:off x="9963302" y="2295144"/>
            <a:ext cx="18105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event_log (flow_progress)</a:t>
            </a:r>
            <a:endParaRPr lang="en-US" sz="900" dirty="0"/>
          </a:p>
        </p:txBody>
      </p:sp>
      <p:sp>
        <p:nvSpPr>
          <p:cNvPr id="73" name="Shape 59"/>
          <p:cNvSpPr/>
          <p:nvPr/>
        </p:nvSpPr>
        <p:spPr>
          <a:xfrm>
            <a:off x="9439351" y="3354019"/>
            <a:ext cx="2467051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4" name="Shape 60"/>
          <p:cNvSpPr/>
          <p:nvPr/>
        </p:nvSpPr>
        <p:spPr>
          <a:xfrm>
            <a:off x="9439351" y="2829154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1E293B"/>
          </a:solidFill>
          <a:ln/>
        </p:spPr>
      </p:sp>
      <p:pic>
        <p:nvPicPr>
          <p:cNvPr id="75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9553651" y="2943454"/>
            <a:ext cx="152705" cy="152705"/>
          </a:xfrm>
          <a:prstGeom prst="rect">
            <a:avLst/>
          </a:prstGeom>
        </p:spPr>
      </p:pic>
      <p:sp>
        <p:nvSpPr>
          <p:cNvPr id="76" name="Text 61"/>
          <p:cNvSpPr txBox="1"/>
          <p:nvPr/>
        </p:nvSpPr>
        <p:spPr>
          <a:xfrm>
            <a:off x="9963302" y="2857500"/>
            <a:ext cx="15581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Lakehouse Monitoring</a:t>
            </a:r>
            <a:endParaRPr lang="en-US" sz="1000" dirty="0"/>
          </a:p>
        </p:txBody>
      </p:sp>
      <p:sp>
        <p:nvSpPr>
          <p:cNvPr id="77" name="Text 62"/>
          <p:cNvSpPr txBox="1"/>
          <p:nvPr/>
        </p:nvSpPr>
        <p:spPr>
          <a:xfrm>
            <a:off x="9963302" y="3047695"/>
            <a:ext cx="17337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Profile Metrics &amp; Drifts</a:t>
            </a:r>
            <a:endParaRPr lang="en-US" sz="900" dirty="0"/>
          </a:p>
        </p:txBody>
      </p:sp>
      <p:sp>
        <p:nvSpPr>
          <p:cNvPr id="78" name="Shape 63"/>
          <p:cNvSpPr/>
          <p:nvPr/>
        </p:nvSpPr>
        <p:spPr>
          <a:xfrm>
            <a:off x="9439351" y="3581705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1E293B"/>
          </a:solidFill>
          <a:ln/>
        </p:spPr>
      </p:sp>
      <p:pic>
        <p:nvPicPr>
          <p:cNvPr id="79" name="Image 13" descr="preencoded.png">    </p:cNvPr>
          <p:cNvPicPr>
            <a:picLocks noChangeAspect="1"/>
          </p:cNvPicPr>
          <p:nvPr/>
        </p:nvPicPr>
        <p:blipFill>
          <a:blip r:embed="rId14"/>
          <a:srcRect l="-33" r="-33" t="0" b="0"/>
          <a:stretch/>
        </p:blipFill>
        <p:spPr>
          <a:xfrm>
            <a:off x="9544507" y="3696005"/>
            <a:ext cx="171907" cy="152705"/>
          </a:xfrm>
          <a:prstGeom prst="rect">
            <a:avLst/>
          </a:prstGeom>
        </p:spPr>
      </p:pic>
      <p:sp>
        <p:nvSpPr>
          <p:cNvPr id="80" name="Text 64"/>
          <p:cNvSpPr txBox="1"/>
          <p:nvPr/>
        </p:nvSpPr>
        <p:spPr>
          <a:xfrm>
            <a:off x="9963302" y="3610051"/>
            <a:ext cx="9866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Unity Catalog</a:t>
            </a:r>
            <a:endParaRPr lang="en-US" sz="1000" dirty="0"/>
          </a:p>
        </p:txBody>
      </p:sp>
      <p:sp>
        <p:nvSpPr>
          <p:cNvPr id="81" name="Text 65"/>
          <p:cNvSpPr txBox="1"/>
          <p:nvPr/>
        </p:nvSpPr>
        <p:spPr>
          <a:xfrm>
            <a:off x="9963302" y="3800246"/>
            <a:ext cx="10479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Lineage &amp; Tags</a:t>
            </a:r>
            <a:endParaRPr lang="en-US" sz="900" dirty="0"/>
          </a:p>
        </p:txBody>
      </p:sp>
      <p:sp>
        <p:nvSpPr>
          <p:cNvPr id="82" name="Shape 66"/>
          <p:cNvSpPr/>
          <p:nvPr/>
        </p:nvSpPr>
        <p:spPr>
          <a:xfrm>
            <a:off x="9439351" y="5458054"/>
            <a:ext cx="2467051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3" name="Shape 67"/>
          <p:cNvSpPr/>
          <p:nvPr/>
        </p:nvSpPr>
        <p:spPr>
          <a:xfrm>
            <a:off x="9439351" y="5695798"/>
            <a:ext cx="2467051" cy="780898"/>
          </a:xfrm>
          <a:prstGeom prst="roundRect">
            <a:avLst>
              <a:gd name="adj" fmla="val 5712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4" name="Text 68"/>
          <p:cNvSpPr txBox="1"/>
          <p:nvPr/>
        </p:nvSpPr>
        <p:spPr>
          <a:xfrm>
            <a:off x="9601200" y="5857646"/>
            <a:ext cx="13341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ALERTING CHANNELS</a:t>
            </a:r>
            <a:endParaRPr lang="en-US" sz="900" dirty="0"/>
          </a:p>
        </p:txBody>
      </p:sp>
      <p:pic>
        <p:nvPicPr>
          <p:cNvPr id="85" name="Image 14" descr="preencoded.png">    </p:cNvPr>
          <p:cNvPicPr>
            <a:picLocks noChangeAspect="1"/>
          </p:cNvPicPr>
          <p:nvPr/>
        </p:nvPicPr>
        <p:blipFill>
          <a:blip r:embed="rId15"/>
          <a:srcRect l="-57" r="-57" t="0" b="0"/>
          <a:stretch/>
        </p:blipFill>
        <p:spPr>
          <a:xfrm>
            <a:off x="9601200" y="6086246"/>
            <a:ext cx="200254" cy="228600"/>
          </a:xfrm>
          <a:prstGeom prst="rect">
            <a:avLst/>
          </a:prstGeom>
        </p:spPr>
      </p:pic>
      <p:pic>
        <p:nvPicPr>
          <p:cNvPr id="86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9915754" y="6086246"/>
            <a:ext cx="228600" cy="228600"/>
          </a:xfrm>
          <a:prstGeom prst="rect">
            <a:avLst/>
          </a:prstGeom>
        </p:spPr>
      </p:pic>
      <p:pic>
        <p:nvPicPr>
          <p:cNvPr id="87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10258654" y="6086246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0"/>
            <a:ext cx="4876495" cy="68580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743700"/>
            <a:ext cx="12191695" cy="1143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224382"/>
            <a:ext cx="609905" cy="3840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5253228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FFFF"/>
          </a:solidFill>
          <a:ln w="25400">
            <a:solidFill>
              <a:srgbClr val="9CA3A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10082" y="5367528"/>
            <a:ext cx="181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55594" y="5253228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3621"/>
          </a:solidFill>
          <a:ln w="254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335731" y="536752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28716" y="5253228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FFFF"/>
          </a:solidFill>
          <a:ln w="25400">
            <a:solidFill>
              <a:srgbClr val="9CA3A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07938" y="536752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676095" y="1157630"/>
            <a:ext cx="10433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1652321"/>
            <a:ext cx="5848502" cy="1400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— Reference Patterns</a:t>
            </a:r>
            <a:endParaRPr lang="en-US" sz="45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3424428"/>
            <a:ext cx="5401361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Enabling quality-by-design by integrating native Databricks components into a robust engineering framework.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24305" y="5253228"/>
            <a:ext cx="5056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524305" y="5471770"/>
            <a:ext cx="8531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764585" y="5253228"/>
            <a:ext cx="6766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36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3764585" y="5471770"/>
            <a:ext cx="11859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337706" y="5253228"/>
            <a:ext cx="5056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337706" y="5471770"/>
            <a:ext cx="9765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</a:t>
            </a:r>
            <a:endParaRPr lang="en-US" sz="13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9" b="-9"/>
          <a:stretch/>
        </p:blipFill>
        <p:spPr>
          <a:xfrm>
            <a:off x="8229600" y="1276502"/>
            <a:ext cx="3047695" cy="3810305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8861450" y="5400446"/>
            <a:ext cx="18909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 Component Design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04495" y="1343254"/>
            <a:ext cx="11582705" cy="400507"/>
          </a:xfrm>
          <a:prstGeom prst="roundRect">
            <a:avLst>
              <a:gd name="adj" fmla="val 434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3" b="-43"/>
          <a:stretch/>
        </p:blipFill>
        <p:spPr>
          <a:xfrm>
            <a:off x="504749" y="1466698"/>
            <a:ext cx="133502" cy="1527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14146" y="1457554"/>
            <a:ext cx="10433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 &amp; CI/CD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808683" y="1466698"/>
            <a:ext cx="9144" cy="152705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970532" y="1476756"/>
            <a:ext cx="24195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40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Start: PR Validations &amp; Unit Tests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0016338" y="1457554"/>
            <a:ext cx="15480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Databricks Workflows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535156" y="1466698"/>
            <a:ext cx="152705" cy="15270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04495" y="3176626"/>
            <a:ext cx="1828800" cy="1248156"/>
          </a:xfrm>
          <a:prstGeom prst="roundRect">
            <a:avLst>
              <a:gd name="adj" fmla="val 44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-2838" r="-2838" t="0" b="0"/>
          <a:stretch/>
        </p:blipFill>
        <p:spPr>
          <a:xfrm>
            <a:off x="466344" y="3372307"/>
            <a:ext cx="123444" cy="13350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66598" y="3338474"/>
            <a:ext cx="7955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</a:t>
            </a:r>
            <a:endParaRPr lang="en-US" sz="10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-133" r="-133" t="0" b="0"/>
          <a:stretch/>
        </p:blipFill>
        <p:spPr>
          <a:xfrm>
            <a:off x="466344" y="3672230"/>
            <a:ext cx="85954" cy="1143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29107" y="3653028"/>
            <a:ext cx="9336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Files (S3/ADLS)</a:t>
            </a:r>
            <a:endParaRPr lang="en-US" sz="9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66344" y="3900830"/>
            <a:ext cx="114300" cy="11430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57454" y="3881628"/>
            <a:ext cx="6574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Databases</a:t>
            </a:r>
            <a:endParaRPr lang="en-US" sz="9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66344" y="4129430"/>
            <a:ext cx="114300" cy="11430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657454" y="4110228"/>
            <a:ext cx="9628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Kafka/EventHub</a:t>
            </a:r>
            <a:endParaRPr lang="en-US" sz="900" dirty="0"/>
          </a:p>
        </p:txBody>
      </p:sp>
      <p:sp>
        <p:nvSpPr>
          <p:cNvPr id="20" name="Shape 12"/>
          <p:cNvSpPr/>
          <p:nvPr/>
        </p:nvSpPr>
        <p:spPr>
          <a:xfrm>
            <a:off x="2286000" y="1971446"/>
            <a:ext cx="7010705" cy="3657600"/>
          </a:xfrm>
          <a:prstGeom prst="roundRect">
            <a:avLst>
              <a:gd name="adj" fmla="val 78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1" name="Shape 13"/>
          <p:cNvSpPr/>
          <p:nvPr/>
        </p:nvSpPr>
        <p:spPr>
          <a:xfrm>
            <a:off x="2447849" y="1867205"/>
            <a:ext cx="990295" cy="1527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14"/>
          <p:cNvSpPr txBox="1"/>
          <p:nvPr/>
        </p:nvSpPr>
        <p:spPr>
          <a:xfrm>
            <a:off x="2523744" y="1867205"/>
            <a:ext cx="9244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PIPELINE</a:t>
            </a:r>
            <a:endParaRPr lang="en-US" sz="900" dirty="0"/>
          </a:p>
        </p:txBody>
      </p:sp>
      <p:sp>
        <p:nvSpPr>
          <p:cNvPr id="23" name="Shape 15"/>
          <p:cNvSpPr/>
          <p:nvPr/>
        </p:nvSpPr>
        <p:spPr>
          <a:xfrm>
            <a:off x="2447849" y="2928823"/>
            <a:ext cx="1772107" cy="1742846"/>
          </a:xfrm>
          <a:prstGeom prst="roundRect">
            <a:avLst>
              <a:gd name="adj" fmla="val 2294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24" name="Text 16"/>
          <p:cNvSpPr txBox="1"/>
          <p:nvPr/>
        </p:nvSpPr>
        <p:spPr>
          <a:xfrm>
            <a:off x="2833726" y="3062326"/>
            <a:ext cx="11009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 (Bronze)</a:t>
            </a:r>
            <a:endParaRPr lang="en-US" sz="1000" dirty="0"/>
          </a:p>
        </p:txBody>
      </p:sp>
      <p:sp>
        <p:nvSpPr>
          <p:cNvPr id="25" name="Text 17"/>
          <p:cNvSpPr txBox="1"/>
          <p:nvPr/>
        </p:nvSpPr>
        <p:spPr>
          <a:xfrm>
            <a:off x="2948026" y="3243377"/>
            <a:ext cx="8577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/ Landing</a:t>
            </a:r>
            <a:endParaRPr lang="en-US" sz="9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rcRect l="-2571" r="-2571" t="0" b="0"/>
          <a:stretch/>
        </p:blipFill>
        <p:spPr>
          <a:xfrm>
            <a:off x="2937967" y="3600907"/>
            <a:ext cx="105156" cy="11430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3042209" y="3586277"/>
            <a:ext cx="7717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 Loader</a:t>
            </a:r>
            <a:endParaRPr lang="en-US" sz="900" dirty="0"/>
          </a:p>
        </p:txBody>
      </p:sp>
      <p:sp>
        <p:nvSpPr>
          <p:cNvPr id="28" name="Shape 19"/>
          <p:cNvSpPr/>
          <p:nvPr/>
        </p:nvSpPr>
        <p:spPr>
          <a:xfrm>
            <a:off x="2847442" y="3967582"/>
            <a:ext cx="972007" cy="256946"/>
          </a:xfrm>
          <a:prstGeom prst="roundRect">
            <a:avLst>
              <a:gd name="adj" fmla="val 158166"/>
            </a:avLst>
          </a:prstGeom>
          <a:solidFill>
            <a:srgbClr val="7E22CE"/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38100" dist="25400" dir="5400000">
              <a:srgbClr val="7e22ce">
                <a:alpha val="20000"/>
              </a:srgbClr>
            </a:outerShdw>
          </a:effectLst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2932481" y="4040734"/>
            <a:ext cx="105156" cy="105156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3076042" y="4015130"/>
            <a:ext cx="73609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Drift</a:t>
            </a:r>
            <a:endParaRPr lang="en-US" sz="800" dirty="0"/>
          </a:p>
        </p:txBody>
      </p:sp>
      <p:sp>
        <p:nvSpPr>
          <p:cNvPr id="31" name="Shape 21"/>
          <p:cNvSpPr/>
          <p:nvPr/>
        </p:nvSpPr>
        <p:spPr>
          <a:xfrm>
            <a:off x="2957170" y="4295851"/>
            <a:ext cx="752551" cy="256946"/>
          </a:xfrm>
          <a:prstGeom prst="roundRect">
            <a:avLst>
              <a:gd name="adj" fmla="val 158166"/>
            </a:avLst>
          </a:prstGeom>
          <a:solidFill>
            <a:srgbClr val="7E22CE"/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38100" dist="25400" dir="5400000">
              <a:srgbClr val="7e22ce">
                <a:alpha val="20000"/>
              </a:srgbClr>
            </a:outerShdw>
          </a:effectLst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rcRect l="-783" r="-783" t="0" b="0"/>
          <a:stretch/>
        </p:blipFill>
        <p:spPr>
          <a:xfrm>
            <a:off x="3043123" y="4369918"/>
            <a:ext cx="133502" cy="105156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3214116" y="4343400"/>
            <a:ext cx="48829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PII Scan</a:t>
            </a:r>
            <a:endParaRPr lang="en-US" sz="8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1087" b="-1087"/>
          <a:stretch/>
        </p:blipFill>
        <p:spPr>
          <a:xfrm>
            <a:off x="4508906" y="3715207"/>
            <a:ext cx="105156" cy="171907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4906670" y="2928823"/>
            <a:ext cx="1772107" cy="1742846"/>
          </a:xfrm>
          <a:prstGeom prst="roundRect">
            <a:avLst>
              <a:gd name="adj" fmla="val 2294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36" name="Text 24"/>
          <p:cNvSpPr txBox="1"/>
          <p:nvPr/>
        </p:nvSpPr>
        <p:spPr>
          <a:xfrm>
            <a:off x="5319979" y="3062326"/>
            <a:ext cx="10433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Curate (Silver)</a:t>
            </a:r>
            <a:endParaRPr lang="en-US" sz="1000" dirty="0"/>
          </a:p>
        </p:txBody>
      </p:sp>
      <p:sp>
        <p:nvSpPr>
          <p:cNvPr id="37" name="Text 25"/>
          <p:cNvSpPr txBox="1"/>
          <p:nvPr/>
        </p:nvSpPr>
        <p:spPr>
          <a:xfrm>
            <a:off x="5278831" y="3243377"/>
            <a:ext cx="11146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/ Conformed</a:t>
            </a:r>
            <a:endParaRPr lang="en-US" sz="900" dirty="0"/>
          </a:p>
        </p:txBody>
      </p:sp>
      <p:sp>
        <p:nvSpPr>
          <p:cNvPr id="38" name="Shape 26"/>
          <p:cNvSpPr/>
          <p:nvPr/>
        </p:nvSpPr>
        <p:spPr>
          <a:xfrm>
            <a:off x="5031029" y="3510382"/>
            <a:ext cx="1524305" cy="304495"/>
          </a:xfrm>
          <a:prstGeom prst="roundRect">
            <a:avLst>
              <a:gd name="adj" fmla="val 37538"/>
            </a:avLst>
          </a:prstGeom>
          <a:solidFill>
            <a:srgbClr val="EFF6FF"/>
          </a:solidFill>
          <a:ln/>
        </p:spPr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5432450" y="3600907"/>
            <a:ext cx="114300" cy="114300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5546750" y="3586277"/>
            <a:ext cx="6958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DLT / Delta</a:t>
            </a:r>
            <a:endParaRPr lang="en-US" sz="900" dirty="0"/>
          </a:p>
        </p:txBody>
      </p:sp>
      <p:sp>
        <p:nvSpPr>
          <p:cNvPr id="41" name="Shape 28"/>
          <p:cNvSpPr/>
          <p:nvPr/>
        </p:nvSpPr>
        <p:spPr>
          <a:xfrm>
            <a:off x="5341010" y="3967582"/>
            <a:ext cx="905256" cy="256946"/>
          </a:xfrm>
          <a:prstGeom prst="roundRect">
            <a:avLst>
              <a:gd name="adj" fmla="val 158166"/>
            </a:avLst>
          </a:prstGeom>
          <a:solidFill>
            <a:srgbClr val="7E22CE"/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38100" dist="25400" dir="5400000">
              <a:srgbClr val="7e22ce">
                <a:alpha val="20000"/>
              </a:srgbClr>
            </a:outerShdw>
          </a:effectLst>
        </p:spPr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5426964" y="4040734"/>
            <a:ext cx="105156" cy="105156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5569610" y="4015130"/>
            <a:ext cx="66934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Constraints</a:t>
            </a:r>
            <a:endParaRPr lang="en-US" sz="800" dirty="0"/>
          </a:p>
        </p:txBody>
      </p:sp>
      <p:sp>
        <p:nvSpPr>
          <p:cNvPr id="44" name="Shape 30"/>
          <p:cNvSpPr/>
          <p:nvPr/>
        </p:nvSpPr>
        <p:spPr>
          <a:xfrm>
            <a:off x="5309006" y="4295851"/>
            <a:ext cx="972007" cy="256946"/>
          </a:xfrm>
          <a:prstGeom prst="roundRect">
            <a:avLst>
              <a:gd name="adj" fmla="val 158166"/>
            </a:avLst>
          </a:prstGeom>
          <a:solidFill>
            <a:srgbClr val="7E22CE"/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38100" dist="25400" dir="5400000">
              <a:srgbClr val="7e22ce">
                <a:alpha val="20000"/>
              </a:srgbClr>
            </a:outerShdw>
          </a:effectLst>
        </p:spPr>
      </p:sp>
      <p:pic>
        <p:nvPicPr>
          <p:cNvPr id="45" name="Image 12" descr="preencoded.png">    </p:cNvPr>
          <p:cNvPicPr>
            <a:picLocks noChangeAspect="1"/>
          </p:cNvPicPr>
          <p:nvPr/>
        </p:nvPicPr>
        <p:blipFill>
          <a:blip r:embed="rId13"/>
          <a:srcRect l="-1677" r="-1677" t="0" b="0"/>
          <a:stretch/>
        </p:blipFill>
        <p:spPr>
          <a:xfrm>
            <a:off x="5394960" y="4369918"/>
            <a:ext cx="95098" cy="105156"/>
          </a:xfrm>
          <a:prstGeom prst="rect">
            <a:avLst/>
          </a:prstGeom>
        </p:spPr>
      </p:pic>
      <p:sp>
        <p:nvSpPr>
          <p:cNvPr id="46" name="Text 31"/>
          <p:cNvSpPr txBox="1"/>
          <p:nvPr/>
        </p:nvSpPr>
        <p:spPr>
          <a:xfrm>
            <a:off x="5528462" y="4343400"/>
            <a:ext cx="74615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Expectations</a:t>
            </a:r>
            <a:endParaRPr lang="en-US" sz="800" dirty="0"/>
          </a:p>
        </p:txBody>
      </p:sp>
      <p:pic>
        <p:nvPicPr>
          <p:cNvPr id="47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1087" b="-1087"/>
          <a:stretch/>
        </p:blipFill>
        <p:spPr>
          <a:xfrm>
            <a:off x="6968642" y="3715207"/>
            <a:ext cx="105156" cy="171907"/>
          </a:xfrm>
          <a:prstGeom prst="rect">
            <a:avLst/>
          </a:prstGeom>
        </p:spPr>
      </p:pic>
      <p:sp>
        <p:nvSpPr>
          <p:cNvPr id="48" name="Shape 32"/>
          <p:cNvSpPr/>
          <p:nvPr/>
        </p:nvSpPr>
        <p:spPr>
          <a:xfrm>
            <a:off x="7366406" y="2928823"/>
            <a:ext cx="1772107" cy="1742846"/>
          </a:xfrm>
          <a:prstGeom prst="roundRect">
            <a:avLst>
              <a:gd name="adj" fmla="val 2294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49" name="Text 33"/>
          <p:cNvSpPr txBox="1"/>
          <p:nvPr/>
        </p:nvSpPr>
        <p:spPr>
          <a:xfrm>
            <a:off x="7842809" y="3062326"/>
            <a:ext cx="9198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 (Gold)</a:t>
            </a:r>
            <a:endParaRPr lang="en-US" sz="1000" dirty="0"/>
          </a:p>
        </p:txBody>
      </p:sp>
      <p:sp>
        <p:nvSpPr>
          <p:cNvPr id="50" name="Text 34"/>
          <p:cNvSpPr txBox="1"/>
          <p:nvPr/>
        </p:nvSpPr>
        <p:spPr>
          <a:xfrm>
            <a:off x="7828178" y="3243377"/>
            <a:ext cx="9336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Aggregated / BI</a:t>
            </a:r>
            <a:endParaRPr lang="en-US" sz="900" dirty="0"/>
          </a:p>
        </p:txBody>
      </p:sp>
      <p:sp>
        <p:nvSpPr>
          <p:cNvPr id="51" name="Shape 35"/>
          <p:cNvSpPr/>
          <p:nvPr/>
        </p:nvSpPr>
        <p:spPr>
          <a:xfrm>
            <a:off x="7489850" y="3510382"/>
            <a:ext cx="1524305" cy="304495"/>
          </a:xfrm>
          <a:prstGeom prst="roundRect">
            <a:avLst>
              <a:gd name="adj" fmla="val 37538"/>
            </a:avLst>
          </a:prstGeom>
          <a:solidFill>
            <a:srgbClr val="FFFBEB"/>
          </a:solidFill>
          <a:ln/>
        </p:spPr>
      </p:sp>
      <p:pic>
        <p:nvPicPr>
          <p:cNvPr id="52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-80" b="-80"/>
          <a:stretch/>
        </p:blipFill>
        <p:spPr>
          <a:xfrm>
            <a:off x="7733995" y="3600907"/>
            <a:ext cx="142646" cy="114300"/>
          </a:xfrm>
          <a:prstGeom prst="rect">
            <a:avLst/>
          </a:prstGeom>
        </p:spPr>
      </p:pic>
      <p:sp>
        <p:nvSpPr>
          <p:cNvPr id="53" name="Text 36"/>
          <p:cNvSpPr txBox="1"/>
          <p:nvPr/>
        </p:nvSpPr>
        <p:spPr>
          <a:xfrm>
            <a:off x="7876642" y="3586277"/>
            <a:ext cx="9811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Warehouse</a:t>
            </a:r>
            <a:endParaRPr lang="en-US" sz="900" dirty="0"/>
          </a:p>
        </p:txBody>
      </p:sp>
      <p:sp>
        <p:nvSpPr>
          <p:cNvPr id="54" name="Shape 37"/>
          <p:cNvSpPr/>
          <p:nvPr/>
        </p:nvSpPr>
        <p:spPr>
          <a:xfrm>
            <a:off x="7781544" y="3967582"/>
            <a:ext cx="942746" cy="256946"/>
          </a:xfrm>
          <a:prstGeom prst="roundRect">
            <a:avLst>
              <a:gd name="adj" fmla="val 158166"/>
            </a:avLst>
          </a:prstGeom>
          <a:solidFill>
            <a:srgbClr val="7E22CE"/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38100" dist="25400" dir="5400000">
              <a:srgbClr val="7e22ce">
                <a:alpha val="20000"/>
              </a:srgbClr>
            </a:outerShdw>
          </a:effectLst>
        </p:spPr>
      </p:sp>
      <p:pic>
        <p:nvPicPr>
          <p:cNvPr id="55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7867498" y="4040734"/>
            <a:ext cx="105156" cy="105156"/>
          </a:xfrm>
          <a:prstGeom prst="rect">
            <a:avLst/>
          </a:prstGeom>
        </p:spPr>
      </p:pic>
      <p:sp>
        <p:nvSpPr>
          <p:cNvPr id="56" name="Text 38"/>
          <p:cNvSpPr txBox="1"/>
          <p:nvPr/>
        </p:nvSpPr>
        <p:spPr>
          <a:xfrm>
            <a:off x="8010144" y="4015130"/>
            <a:ext cx="70774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 Monitor</a:t>
            </a:r>
            <a:endParaRPr lang="en-US" sz="800" dirty="0"/>
          </a:p>
        </p:txBody>
      </p:sp>
      <p:sp>
        <p:nvSpPr>
          <p:cNvPr id="57" name="Shape 39"/>
          <p:cNvSpPr/>
          <p:nvPr/>
        </p:nvSpPr>
        <p:spPr>
          <a:xfrm>
            <a:off x="7805318" y="4295851"/>
            <a:ext cx="895198" cy="256946"/>
          </a:xfrm>
          <a:prstGeom prst="roundRect">
            <a:avLst>
              <a:gd name="adj" fmla="val 158166"/>
            </a:avLst>
          </a:prstGeom>
          <a:solidFill>
            <a:srgbClr val="7E22CE"/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38100" dist="25400" dir="5400000">
              <a:srgbClr val="7e22ce">
                <a:alpha val="20000"/>
              </a:srgbClr>
            </a:outerShdw>
          </a:effectLst>
        </p:spPr>
      </p:sp>
      <p:pic>
        <p:nvPicPr>
          <p:cNvPr id="58" name="Image 16" descr="preencoded.png">    </p:cNvPr>
          <p:cNvPicPr>
            <a:picLocks noChangeAspect="1"/>
          </p:cNvPicPr>
          <p:nvPr/>
        </p:nvPicPr>
        <p:blipFill>
          <a:blip r:embed="rId17"/>
          <a:srcRect l="-1677" r="-1677" t="0" b="0"/>
          <a:stretch/>
        </p:blipFill>
        <p:spPr>
          <a:xfrm>
            <a:off x="7891272" y="4369918"/>
            <a:ext cx="95098" cy="105156"/>
          </a:xfrm>
          <a:prstGeom prst="rect">
            <a:avLst/>
          </a:prstGeom>
        </p:spPr>
      </p:pic>
      <p:sp>
        <p:nvSpPr>
          <p:cNvPr id="59" name="Text 40"/>
          <p:cNvSpPr txBox="1"/>
          <p:nvPr/>
        </p:nvSpPr>
        <p:spPr>
          <a:xfrm>
            <a:off x="8024774" y="4343400"/>
            <a:ext cx="66934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Delta Share</a:t>
            </a:r>
            <a:endParaRPr lang="en-US" sz="800" dirty="0"/>
          </a:p>
        </p:txBody>
      </p:sp>
      <p:sp>
        <p:nvSpPr>
          <p:cNvPr id="60" name="Shape 41"/>
          <p:cNvSpPr/>
          <p:nvPr/>
        </p:nvSpPr>
        <p:spPr>
          <a:xfrm>
            <a:off x="9448495" y="1971446"/>
            <a:ext cx="2438705" cy="3657600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61" name="Shape 42"/>
          <p:cNvSpPr/>
          <p:nvPr/>
        </p:nvSpPr>
        <p:spPr>
          <a:xfrm>
            <a:off x="9610344" y="2410358"/>
            <a:ext cx="2115007" cy="9144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62" name="Image 17" descr="preencoded.png">    </p:cNvPr>
          <p:cNvPicPr>
            <a:picLocks noChangeAspect="1"/>
          </p:cNvPicPr>
          <p:nvPr/>
        </p:nvPicPr>
        <p:blipFill>
          <a:blip r:embed="rId18"/>
          <a:srcRect l="-837" r="-837" t="0" b="0"/>
          <a:stretch/>
        </p:blipFill>
        <p:spPr>
          <a:xfrm>
            <a:off x="9610344" y="2167128"/>
            <a:ext cx="152705" cy="133502"/>
          </a:xfrm>
          <a:prstGeom prst="rect">
            <a:avLst/>
          </a:prstGeom>
        </p:spPr>
      </p:pic>
      <p:sp>
        <p:nvSpPr>
          <p:cNvPr id="63" name="Text 43"/>
          <p:cNvSpPr txBox="1"/>
          <p:nvPr/>
        </p:nvSpPr>
        <p:spPr>
          <a:xfrm>
            <a:off x="9838944" y="2133295"/>
            <a:ext cx="12527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OBSERVABILITY</a:t>
            </a:r>
            <a:endParaRPr lang="en-US" sz="1000" dirty="0"/>
          </a:p>
        </p:txBody>
      </p:sp>
      <p:sp>
        <p:nvSpPr>
          <p:cNvPr id="64" name="Text 44"/>
          <p:cNvSpPr txBox="1"/>
          <p:nvPr/>
        </p:nvSpPr>
        <p:spPr>
          <a:xfrm>
            <a:off x="9724644" y="2648102"/>
            <a:ext cx="15718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LAKEHOUSE MONITORING</a:t>
            </a:r>
            <a:endParaRPr lang="en-US" sz="900" dirty="0"/>
          </a:p>
        </p:txBody>
      </p:sp>
      <p:sp>
        <p:nvSpPr>
          <p:cNvPr id="65" name="Text 45"/>
          <p:cNvSpPr txBox="1"/>
          <p:nvPr/>
        </p:nvSpPr>
        <p:spPr>
          <a:xfrm>
            <a:off x="9724644" y="2857500"/>
            <a:ext cx="155265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 metrics, Drift detection, Quality scorecards</a:t>
            </a:r>
            <a:endParaRPr lang="en-US" sz="1200" dirty="0"/>
          </a:p>
        </p:txBody>
      </p:sp>
      <p:sp>
        <p:nvSpPr>
          <p:cNvPr id="66" name="Text 46"/>
          <p:cNvSpPr txBox="1"/>
          <p:nvPr/>
        </p:nvSpPr>
        <p:spPr>
          <a:xfrm>
            <a:off x="9724644" y="3905402"/>
            <a:ext cx="10387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TABLES</a:t>
            </a:r>
            <a:endParaRPr lang="en-US" sz="900" dirty="0"/>
          </a:p>
        </p:txBody>
      </p:sp>
      <p:sp>
        <p:nvSpPr>
          <p:cNvPr id="67" name="Text 47"/>
          <p:cNvSpPr txBox="1"/>
          <p:nvPr/>
        </p:nvSpPr>
        <p:spPr>
          <a:xfrm>
            <a:off x="9724644" y="4114800"/>
            <a:ext cx="178125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Billing, Audit Logs, Lineage, Query History</a:t>
            </a:r>
            <a:endParaRPr lang="en-US" sz="1200" dirty="0"/>
          </a:p>
        </p:txBody>
      </p:sp>
      <p:sp>
        <p:nvSpPr>
          <p:cNvPr id="68" name="Text 48"/>
          <p:cNvSpPr txBox="1"/>
          <p:nvPr/>
        </p:nvSpPr>
        <p:spPr>
          <a:xfrm>
            <a:off x="9724644" y="4934102"/>
            <a:ext cx="10479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 MGMT</a:t>
            </a:r>
            <a:endParaRPr lang="en-US" sz="900" dirty="0"/>
          </a:p>
        </p:txBody>
      </p:sp>
      <p:sp>
        <p:nvSpPr>
          <p:cNvPr id="69" name="Text 49"/>
          <p:cNvSpPr txBox="1"/>
          <p:nvPr/>
        </p:nvSpPr>
        <p:spPr>
          <a:xfrm>
            <a:off x="9724644" y="5143500"/>
            <a:ext cx="162946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Alerts to PagerDuty / Slack on Validation Failures</a:t>
            </a:r>
            <a:endParaRPr lang="en-US" sz="1200" dirty="0"/>
          </a:p>
        </p:txBody>
      </p:sp>
      <p:sp>
        <p:nvSpPr>
          <p:cNvPr id="70" name="Shape 50"/>
          <p:cNvSpPr/>
          <p:nvPr/>
        </p:nvSpPr>
        <p:spPr>
          <a:xfrm>
            <a:off x="304495" y="5857646"/>
            <a:ext cx="11582705" cy="676656"/>
          </a:xfrm>
          <a:prstGeom prst="roundRect">
            <a:avLst>
              <a:gd name="adj" fmla="val 15226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71" name="Shape 51"/>
          <p:cNvSpPr/>
          <p:nvPr/>
        </p:nvSpPr>
        <p:spPr>
          <a:xfrm>
            <a:off x="533095" y="6041441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FFFFFF"/>
          </a:solidFill>
          <a:ln/>
        </p:spPr>
      </p:sp>
      <p:pic>
        <p:nvPicPr>
          <p:cNvPr id="72" name="Image 18" descr="preencoded.png">    </p:cNvPr>
          <p:cNvPicPr>
            <a:picLocks noChangeAspect="1"/>
          </p:cNvPicPr>
          <p:nvPr/>
        </p:nvPicPr>
        <p:blipFill>
          <a:blip r:embed="rId19"/>
          <a:srcRect l="-33" r="-33" t="0" b="0"/>
          <a:stretch/>
        </p:blipFill>
        <p:spPr>
          <a:xfrm>
            <a:off x="599846" y="6117336"/>
            <a:ext cx="171907" cy="152705"/>
          </a:xfrm>
          <a:prstGeom prst="rect">
            <a:avLst/>
          </a:prstGeom>
        </p:spPr>
      </p:pic>
      <p:sp>
        <p:nvSpPr>
          <p:cNvPr id="73" name="Text 52"/>
          <p:cNvSpPr txBox="1"/>
          <p:nvPr/>
        </p:nvSpPr>
        <p:spPr>
          <a:xfrm>
            <a:off x="952805" y="6010351"/>
            <a:ext cx="12719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Unity Catalog</a:t>
            </a:r>
            <a:endParaRPr lang="en-US" sz="1300" dirty="0"/>
          </a:p>
        </p:txBody>
      </p:sp>
      <p:sp>
        <p:nvSpPr>
          <p:cNvPr id="74" name="Text 53"/>
          <p:cNvSpPr txBox="1"/>
          <p:nvPr/>
        </p:nvSpPr>
        <p:spPr>
          <a:xfrm>
            <a:off x="952805" y="6224321"/>
            <a:ext cx="22485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Governance, Discovery &amp; Lineage Layer</a:t>
            </a:r>
            <a:endParaRPr lang="en-US" sz="900" dirty="0"/>
          </a:p>
        </p:txBody>
      </p:sp>
      <p:pic>
        <p:nvPicPr>
          <p:cNvPr id="75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0" b="0"/>
          <a:stretch/>
        </p:blipFill>
        <p:spPr>
          <a:xfrm>
            <a:off x="6132881" y="6127394"/>
            <a:ext cx="133502" cy="133502"/>
          </a:xfrm>
          <a:prstGeom prst="rect">
            <a:avLst/>
          </a:prstGeom>
        </p:spPr>
      </p:pic>
      <p:sp>
        <p:nvSpPr>
          <p:cNvPr id="76" name="Text 54"/>
          <p:cNvSpPr txBox="1"/>
          <p:nvPr/>
        </p:nvSpPr>
        <p:spPr>
          <a:xfrm>
            <a:off x="6342278" y="6098134"/>
            <a:ext cx="10908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RBAC &amp; Access</a:t>
            </a:r>
            <a:endParaRPr lang="en-US" sz="1000" dirty="0"/>
          </a:p>
        </p:txBody>
      </p:sp>
      <p:pic>
        <p:nvPicPr>
          <p:cNvPr id="77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0" b="0"/>
          <a:stretch/>
        </p:blipFill>
        <p:spPr>
          <a:xfrm>
            <a:off x="7560259" y="6127394"/>
            <a:ext cx="133502" cy="133502"/>
          </a:xfrm>
          <a:prstGeom prst="rect">
            <a:avLst/>
          </a:prstGeom>
        </p:spPr>
      </p:pic>
      <p:sp>
        <p:nvSpPr>
          <p:cNvPr id="78" name="Text 55"/>
          <p:cNvSpPr txBox="1"/>
          <p:nvPr/>
        </p:nvSpPr>
        <p:spPr>
          <a:xfrm>
            <a:off x="7769657" y="6098134"/>
            <a:ext cx="9390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Lineage</a:t>
            </a:r>
            <a:endParaRPr lang="en-US" sz="1000" dirty="0"/>
          </a:p>
        </p:txBody>
      </p:sp>
      <p:pic>
        <p:nvPicPr>
          <p:cNvPr id="79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0" b="0"/>
          <a:stretch/>
        </p:blipFill>
        <p:spPr>
          <a:xfrm>
            <a:off x="8833104" y="6127394"/>
            <a:ext cx="133502" cy="133502"/>
          </a:xfrm>
          <a:prstGeom prst="rect">
            <a:avLst/>
          </a:prstGeom>
        </p:spPr>
      </p:pic>
      <p:sp>
        <p:nvSpPr>
          <p:cNvPr id="80" name="Text 56"/>
          <p:cNvSpPr txBox="1"/>
          <p:nvPr/>
        </p:nvSpPr>
        <p:spPr>
          <a:xfrm>
            <a:off x="9042502" y="6098134"/>
            <a:ext cx="11768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Tags &amp; Metadata</a:t>
            </a:r>
            <a:endParaRPr lang="en-US" sz="1000" dirty="0"/>
          </a:p>
        </p:txBody>
      </p:sp>
      <p:pic>
        <p:nvPicPr>
          <p:cNvPr id="81" name="Image 22" descr="preencoded.png">    </p:cNvPr>
          <p:cNvPicPr>
            <a:picLocks noChangeAspect="1"/>
          </p:cNvPicPr>
          <p:nvPr/>
        </p:nvPicPr>
        <p:blipFill>
          <a:blip r:embed="rId23"/>
          <a:srcRect l="0" r="0" t="0" b="0"/>
          <a:stretch/>
        </p:blipFill>
        <p:spPr>
          <a:xfrm>
            <a:off x="10338206" y="6127394"/>
            <a:ext cx="133502" cy="133502"/>
          </a:xfrm>
          <a:prstGeom prst="rect">
            <a:avLst/>
          </a:prstGeom>
        </p:spPr>
      </p:pic>
      <p:sp>
        <p:nvSpPr>
          <p:cNvPr id="82" name="Text 57"/>
          <p:cNvSpPr txBox="1"/>
          <p:nvPr/>
        </p:nvSpPr>
        <p:spPr>
          <a:xfrm>
            <a:off x="10547604" y="6098134"/>
            <a:ext cx="12152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Row/Col Masking</a:t>
            </a:r>
            <a:endParaRPr lang="en-US" sz="1000" dirty="0"/>
          </a:p>
        </p:txBody>
      </p:sp>
      <p:sp>
        <p:nvSpPr>
          <p:cNvPr id="83" name="Shape 58"/>
          <p:cNvSpPr/>
          <p:nvPr/>
        </p:nvSpPr>
        <p:spPr>
          <a:xfrm>
            <a:off x="0" y="0"/>
            <a:ext cx="12191695" cy="10378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4" name="Shape 59"/>
          <p:cNvSpPr/>
          <p:nvPr/>
        </p:nvSpPr>
        <p:spPr>
          <a:xfrm>
            <a:off x="0" y="1028700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5" name="Text 60"/>
          <p:cNvSpPr txBox="1"/>
          <p:nvPr/>
        </p:nvSpPr>
        <p:spPr>
          <a:xfrm>
            <a:off x="381305" y="237744"/>
            <a:ext cx="20628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PATTERN</a:t>
            </a:r>
            <a:endParaRPr lang="en-US" sz="1000" dirty="0"/>
          </a:p>
        </p:txBody>
      </p:sp>
      <p:sp>
        <p:nvSpPr>
          <p:cNvPr id="86" name="Text 61"/>
          <p:cNvSpPr txBox="1"/>
          <p:nvPr/>
        </p:nvSpPr>
        <p:spPr>
          <a:xfrm>
            <a:off x="381305" y="457200"/>
            <a:ext cx="551108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Lakehouse QE Reference Architecture</a:t>
            </a:r>
            <a:endParaRPr lang="en-US" sz="2200" dirty="0"/>
          </a:p>
        </p:txBody>
      </p:sp>
      <p:sp>
        <p:nvSpPr>
          <p:cNvPr id="87" name="Text 62"/>
          <p:cNvSpPr txBox="1"/>
          <p:nvPr/>
        </p:nvSpPr>
        <p:spPr>
          <a:xfrm>
            <a:off x="8696858" y="619049"/>
            <a:ext cx="32150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Validations, Governance &amp; Observability Overlays</a:t>
            </a:r>
            <a:endParaRPr lang="en-US" sz="1000" dirty="0"/>
          </a:p>
        </p:txBody>
      </p:sp>
      <p:pic>
        <p:nvPicPr>
          <p:cNvPr id="88" name="Image 23" descr="preencoded.png">    </p:cNvPr>
          <p:cNvPicPr>
            <a:picLocks noChangeAspect="1"/>
          </p:cNvPicPr>
          <p:nvPr/>
        </p:nvPicPr>
        <p:blipFill>
          <a:blip r:embed="rId24"/>
          <a:srcRect l="0" r="0" t="-1958" b="-1958"/>
          <a:stretch/>
        </p:blipFill>
        <p:spPr>
          <a:xfrm>
            <a:off x="1540764" y="3786530"/>
            <a:ext cx="75895" cy="105156"/>
          </a:xfrm>
          <a:prstGeom prst="rect">
            <a:avLst/>
          </a:prstGeom>
        </p:spPr>
      </p:pic>
      <p:sp>
        <p:nvSpPr>
          <p:cNvPr id="89" name="Text 63"/>
          <p:cNvSpPr txBox="1"/>
          <p:nvPr/>
        </p:nvSpPr>
        <p:spPr>
          <a:xfrm>
            <a:off x="1655064" y="3760013"/>
            <a:ext cx="5843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Contracts</a:t>
            </a:r>
            <a:endParaRPr lang="en-US" sz="800" dirty="0"/>
          </a:p>
        </p:txBody>
      </p:sp>
      <p:sp>
        <p:nvSpPr>
          <p:cNvPr id="90" name="Shape 64"/>
          <p:cNvSpPr/>
          <p:nvPr/>
        </p:nvSpPr>
        <p:spPr>
          <a:xfrm>
            <a:off x="1454810" y="3712464"/>
            <a:ext cx="790956" cy="256946"/>
          </a:xfrm>
          <a:prstGeom prst="roundRect">
            <a:avLst>
              <a:gd name="adj" fmla="val 158166"/>
            </a:avLst>
          </a:prstGeom>
          <a:solidFill>
            <a:srgbClr val="7E22CE"/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38100" dist="25400" dir="5400000">
              <a:srgbClr val="7e22ce">
                <a:alpha val="20000"/>
              </a:srgbClr>
            </a:outerShdw>
          </a:effectLst>
        </p:spPr>
      </p:sp>
      <p:sp>
        <p:nvSpPr>
          <p:cNvPr id="91" name="Shape 65"/>
          <p:cNvSpPr/>
          <p:nvPr/>
        </p:nvSpPr>
        <p:spPr>
          <a:xfrm>
            <a:off x="8725205" y="6458407"/>
            <a:ext cx="3161995" cy="24780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92" name="Shape 66"/>
          <p:cNvSpPr/>
          <p:nvPr/>
        </p:nvSpPr>
        <p:spPr>
          <a:xfrm>
            <a:off x="8849563" y="6543446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2563EB"/>
          </a:solidFill>
          <a:ln/>
        </p:spPr>
      </p:sp>
      <p:sp>
        <p:nvSpPr>
          <p:cNvPr id="93" name="Text 67"/>
          <p:cNvSpPr txBox="1"/>
          <p:nvPr/>
        </p:nvSpPr>
        <p:spPr>
          <a:xfrm>
            <a:off x="9001354" y="6505956"/>
            <a:ext cx="13341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Databricks Component</a:t>
            </a:r>
            <a:endParaRPr lang="en-US" sz="900" dirty="0"/>
          </a:p>
        </p:txBody>
      </p:sp>
      <p:sp>
        <p:nvSpPr>
          <p:cNvPr id="94" name="Shape 68"/>
          <p:cNvSpPr/>
          <p:nvPr/>
        </p:nvSpPr>
        <p:spPr>
          <a:xfrm>
            <a:off x="10394899" y="6543446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6D28D9"/>
          </a:solidFill>
          <a:ln/>
        </p:spPr>
      </p:sp>
      <p:sp>
        <p:nvSpPr>
          <p:cNvPr id="95" name="Text 69"/>
          <p:cNvSpPr txBox="1"/>
          <p:nvPr/>
        </p:nvSpPr>
        <p:spPr>
          <a:xfrm>
            <a:off x="10547604" y="6505956"/>
            <a:ext cx="1305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QE Control / Validation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047902"/>
          </a:xfrm>
          <a:prstGeom prst="rect">
            <a:avLst/>
          </a:prstGeom>
          <a:solidFill>
            <a:srgbClr val="0026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76402" y="286207"/>
            <a:ext cx="3834079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CI/CD for Data on Databricks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76402" y="685800"/>
            <a:ext cx="42629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Orchestrating quality gates across Repos, Workflows, and Unity Catalog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143000" y="5658307"/>
            <a:ext cx="9905695" cy="428854"/>
          </a:xfrm>
          <a:prstGeom prst="rect">
            <a:avLst/>
          </a:prstGeom>
          <a:noFill/>
          <a:ln w="25400">
            <a:solidFill>
              <a:srgbClr val="005E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06163" y="6029554"/>
            <a:ext cx="3181198" cy="171907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48810" y="6048756"/>
            <a:ext cx="29818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5EB8">
                    <a:alpha val="5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Feedback Loop: Lakehouse Monitoring → Repos (Hotfix)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030407" y="5991149"/>
            <a:ext cx="75895" cy="75895"/>
          </a:xfrm>
          <a:prstGeom prst="rect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6307" y="5991149"/>
            <a:ext cx="75895" cy="75895"/>
          </a:xfrm>
          <a:prstGeom prst="rect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19895" y="4953305"/>
            <a:ext cx="2743200" cy="1238098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219895" y="4953305"/>
            <a:ext cx="38405" cy="123809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1005" y="5115154"/>
            <a:ext cx="124815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Databricks Advantage: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9411005" y="5315407"/>
            <a:ext cx="2352751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Native integration between Repos (code), Workflows (orchestration), and Unity Catalog (governance) enables automated "Quality as Code" gates at every stage.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0" y="6420002"/>
            <a:ext cx="12191695" cy="4379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6420002"/>
            <a:ext cx="12191695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76402" y="6590995"/>
            <a:ext cx="272491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Day 1 — Databricks Quality Engineering Strategy &amp; Architecture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11608308" y="6590995"/>
            <a:ext cx="19111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76402" y="3607308"/>
            <a:ext cx="11239805" cy="3840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497580" y="3286354"/>
            <a:ext cx="10771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PRE-MERGE GATE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3426257" y="4267505"/>
            <a:ext cx="12198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Peer Review + CI Build Pass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686446" y="3286354"/>
            <a:ext cx="111465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PRE-DEPLOY GATE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7525512" y="4267505"/>
            <a:ext cx="14383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Contract Check + Approval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52298" y="2779776"/>
            <a:ext cx="2667305" cy="1914754"/>
          </a:xfrm>
          <a:prstGeom prst="rect">
            <a:avLst/>
          </a:prstGeom>
          <a:solidFill>
            <a:srgbClr val="FFFFFF"/>
          </a:solidFill>
          <a:ln w="50800">
            <a:solidFill>
              <a:srgbClr val="005EB8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rcRect l="-1064" r="-1064" t="0" b="0"/>
          <a:stretch/>
        </p:blipFill>
        <p:spPr>
          <a:xfrm>
            <a:off x="2848356" y="2960827"/>
            <a:ext cx="219456" cy="171907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705002" y="2969971"/>
            <a:ext cx="14859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26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DEVELOPMENT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705002" y="3236976"/>
            <a:ext cx="140269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Databricks Repos / VS Code</a:t>
            </a:r>
            <a:endParaRPr lang="en-US" sz="800" dirty="0"/>
          </a:p>
        </p:txBody>
      </p:sp>
      <p:sp>
        <p:nvSpPr>
          <p:cNvPr id="29" name="Text 26"/>
          <p:cNvSpPr txBox="1"/>
          <p:nvPr/>
        </p:nvSpPr>
        <p:spPr>
          <a:xfrm>
            <a:off x="857707" y="3546958"/>
            <a:ext cx="193121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Unit tests (pytest) for logic Repos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857707" y="3796589"/>
            <a:ext cx="163677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Static analysis (SQLFluff) CI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857707" y="4045306"/>
            <a:ext cx="184617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Schema definition validation UC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857707" y="4294937"/>
            <a:ext cx="129387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Pre-commit hooks Git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762195" y="2779776"/>
            <a:ext cx="2667305" cy="1914754"/>
          </a:xfrm>
          <a:prstGeom prst="rect">
            <a:avLst/>
          </a:prstGeom>
          <a:solidFill>
            <a:srgbClr val="FFFFFF"/>
          </a:solidFill>
          <a:ln w="508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rcRect l="-760" r="-760" t="0" b="0"/>
          <a:stretch/>
        </p:blipFill>
        <p:spPr>
          <a:xfrm>
            <a:off x="7125005" y="2960827"/>
            <a:ext cx="152705" cy="171907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4914900" y="2969971"/>
            <a:ext cx="15343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26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TEST / STAGING</a:t>
            </a:r>
            <a:endParaRPr lang="en-US" sz="1200" dirty="0"/>
          </a:p>
        </p:txBody>
      </p:sp>
      <p:sp>
        <p:nvSpPr>
          <p:cNvPr id="36" name="Text 32"/>
          <p:cNvSpPr txBox="1"/>
          <p:nvPr/>
        </p:nvSpPr>
        <p:spPr>
          <a:xfrm>
            <a:off x="4914900" y="3236976"/>
            <a:ext cx="134599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Workflows &amp; DLT (Isolated)</a:t>
            </a:r>
            <a:endParaRPr lang="en-US" sz="800" dirty="0"/>
          </a:p>
        </p:txBody>
      </p:sp>
      <p:sp>
        <p:nvSpPr>
          <p:cNvPr id="37" name="Text 33"/>
          <p:cNvSpPr txBox="1"/>
          <p:nvPr/>
        </p:nvSpPr>
        <p:spPr>
          <a:xfrm>
            <a:off x="5067605" y="3546958"/>
            <a:ext cx="177942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Integration job runs Workflows</a:t>
            </a:r>
            <a:endParaRPr lang="en-US" sz="900" dirty="0"/>
          </a:p>
        </p:txBody>
      </p:sp>
      <p:sp>
        <p:nvSpPr>
          <p:cNvPr id="38" name="Text 34"/>
          <p:cNvSpPr txBox="1"/>
          <p:nvPr/>
        </p:nvSpPr>
        <p:spPr>
          <a:xfrm>
            <a:off x="5067605" y="3796589"/>
            <a:ext cx="159837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Data-diff vs. Prod snapshot</a:t>
            </a:r>
            <a:endParaRPr lang="en-US" sz="900" dirty="0"/>
          </a:p>
        </p:txBody>
      </p:sp>
      <p:sp>
        <p:nvSpPr>
          <p:cNvPr id="39" name="Text 35"/>
          <p:cNvSpPr txBox="1"/>
          <p:nvPr/>
        </p:nvSpPr>
        <p:spPr>
          <a:xfrm>
            <a:off x="5067605" y="4045306"/>
            <a:ext cx="155082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Expectation validation DLT</a:t>
            </a:r>
            <a:endParaRPr lang="en-US" sz="900" dirty="0"/>
          </a:p>
        </p:txBody>
      </p:sp>
      <p:sp>
        <p:nvSpPr>
          <p:cNvPr id="40" name="Text 36"/>
          <p:cNvSpPr txBox="1"/>
          <p:nvPr/>
        </p:nvSpPr>
        <p:spPr>
          <a:xfrm>
            <a:off x="5067605" y="4294937"/>
            <a:ext cx="131216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PII &amp; Security scan UC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8973007" y="2779776"/>
            <a:ext cx="2667305" cy="1914754"/>
          </a:xfrm>
          <a:prstGeom prst="rect">
            <a:avLst/>
          </a:prstGeom>
          <a:solidFill>
            <a:srgbClr val="FFFFFF"/>
          </a:solidFill>
          <a:ln w="5080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1315700" y="2960827"/>
            <a:ext cx="171907" cy="171907"/>
          </a:xfrm>
          <a:prstGeom prst="rect">
            <a:avLst/>
          </a:prstGeom>
        </p:spPr>
      </p:pic>
      <p:sp>
        <p:nvSpPr>
          <p:cNvPr id="43" name="Text 38"/>
          <p:cNvSpPr txBox="1"/>
          <p:nvPr/>
        </p:nvSpPr>
        <p:spPr>
          <a:xfrm>
            <a:off x="9124798" y="2969971"/>
            <a:ext cx="138165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26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PRODUCTION</a:t>
            </a:r>
            <a:endParaRPr lang="en-US" sz="1200" dirty="0"/>
          </a:p>
        </p:txBody>
      </p:sp>
      <p:sp>
        <p:nvSpPr>
          <p:cNvPr id="44" name="Text 39"/>
          <p:cNvSpPr txBox="1"/>
          <p:nvPr/>
        </p:nvSpPr>
        <p:spPr>
          <a:xfrm>
            <a:off x="9124798" y="3236976"/>
            <a:ext cx="10698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Serving &amp; Monitoring</a:t>
            </a:r>
            <a:endParaRPr lang="en-US" sz="800" dirty="0"/>
          </a:p>
        </p:txBody>
      </p:sp>
      <p:sp>
        <p:nvSpPr>
          <p:cNvPr id="45" name="Text 40"/>
          <p:cNvSpPr txBox="1"/>
          <p:nvPr/>
        </p:nvSpPr>
        <p:spPr>
          <a:xfrm>
            <a:off x="9277502" y="3546958"/>
            <a:ext cx="140817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Blue/Green Deployment</a:t>
            </a:r>
            <a:endParaRPr lang="en-US" sz="900" dirty="0"/>
          </a:p>
        </p:txBody>
      </p:sp>
      <p:sp>
        <p:nvSpPr>
          <p:cNvPr id="46" name="Text 41"/>
          <p:cNvSpPr txBox="1"/>
          <p:nvPr/>
        </p:nvSpPr>
        <p:spPr>
          <a:xfrm>
            <a:off x="9277502" y="3796589"/>
            <a:ext cx="168432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SLO Enforcement Monitoring</a:t>
            </a:r>
            <a:endParaRPr lang="en-US" sz="900" dirty="0"/>
          </a:p>
        </p:txBody>
      </p:sp>
      <p:sp>
        <p:nvSpPr>
          <p:cNvPr id="47" name="Text 42"/>
          <p:cNvSpPr txBox="1"/>
          <p:nvPr/>
        </p:nvSpPr>
        <p:spPr>
          <a:xfrm>
            <a:off x="9277502" y="4045306"/>
            <a:ext cx="152247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Drift Alerts System Tables</a:t>
            </a:r>
            <a:endParaRPr lang="en-US" sz="900" dirty="0"/>
          </a:p>
        </p:txBody>
      </p:sp>
      <p:sp>
        <p:nvSpPr>
          <p:cNvPr id="48" name="Text 43"/>
          <p:cNvSpPr txBox="1"/>
          <p:nvPr/>
        </p:nvSpPr>
        <p:spPr>
          <a:xfrm>
            <a:off x="9277502" y="4294937"/>
            <a:ext cx="147401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Auto-Rollback Workflows</a:t>
            </a:r>
            <a:endParaRPr lang="en-US" sz="900" dirty="0"/>
          </a:p>
        </p:txBody>
      </p:sp>
      <p:sp>
        <p:nvSpPr>
          <p:cNvPr id="49" name="Shape 44"/>
          <p:cNvSpPr/>
          <p:nvPr/>
        </p:nvSpPr>
        <p:spPr>
          <a:xfrm>
            <a:off x="3781044" y="3524098"/>
            <a:ext cx="418795" cy="418795"/>
          </a:xfrm>
          <a:prstGeom prst="ellipse">
            <a:avLst/>
          </a:prstGeom>
          <a:solidFill>
            <a:srgbClr val="005EB8"/>
          </a:solidFill>
          <a:ln/>
          <a:effectLst>
            <a:outerShdw sx="100000" sy="100000" kx="0" ky="0" algn="bl" rotWithShape="0" blurRad="12700" dist="12700" dir="16200000">
              <a:srgbClr val="ffffff">
                <a:alpha val="100000"/>
              </a:srgbClr>
            </a:outerShdw>
          </a:effectLst>
        </p:spPr>
      </p:sp>
      <p:pic>
        <p:nvPicPr>
          <p:cNvPr id="5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3" b="-43"/>
          <a:stretch/>
        </p:blipFill>
        <p:spPr>
          <a:xfrm>
            <a:off x="3924605" y="3657600"/>
            <a:ext cx="133502" cy="152705"/>
          </a:xfrm>
          <a:prstGeom prst="rect">
            <a:avLst/>
          </a:prstGeom>
        </p:spPr>
      </p:pic>
      <p:sp>
        <p:nvSpPr>
          <p:cNvPr id="51" name="Shape 45"/>
          <p:cNvSpPr/>
          <p:nvPr/>
        </p:nvSpPr>
        <p:spPr>
          <a:xfrm>
            <a:off x="7991856" y="3524098"/>
            <a:ext cx="418795" cy="418795"/>
          </a:xfrm>
          <a:prstGeom prst="ellipse">
            <a:avLst/>
          </a:prstGeom>
          <a:solidFill>
            <a:srgbClr val="D97706"/>
          </a:solidFill>
          <a:ln/>
          <a:effectLst>
            <a:outerShdw sx="100000" sy="100000" kx="0" ky="0" algn="bl" rotWithShape="0" blurRad="12700" dist="12700" dir="16200000">
              <a:srgbClr val="ffffff">
                <a:alpha val="100000"/>
              </a:srgbClr>
            </a:outerShdw>
          </a:effectLst>
        </p:spPr>
      </p:sp>
      <p:pic>
        <p:nvPicPr>
          <p:cNvPr id="5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124444" y="3657600"/>
            <a:ext cx="152705" cy="1527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90802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71500" y="418795"/>
            <a:ext cx="82780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Governance &amp; Data Contracts with Unity Catalog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990295"/>
            <a:ext cx="60204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Unifying centralized governance policies with decentralized contract enforcement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71500" y="1781251"/>
            <a:ext cx="6077102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71500" y="1781251"/>
            <a:ext cx="57607" cy="1143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Shape 7"/>
          <p:cNvSpPr/>
          <p:nvPr/>
        </p:nvSpPr>
        <p:spPr>
          <a:xfrm>
            <a:off x="819302" y="1952244"/>
            <a:ext cx="267005" cy="267005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-837" r="-837" t="0" b="0"/>
          <a:stretch/>
        </p:blipFill>
        <p:spPr>
          <a:xfrm>
            <a:off x="875995" y="2018995"/>
            <a:ext cx="152705" cy="13350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81405" y="1957730"/>
            <a:ext cx="223387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Organization &amp; Discovery</a:t>
            </a: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9302" y="2350922"/>
            <a:ext cx="114300" cy="1143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09498" y="2324405"/>
            <a:ext cx="26435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3-Level Namespace (Cat.Schema.Table)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715207" y="2350922"/>
            <a:ext cx="114300" cy="1143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905402" y="2324405"/>
            <a:ext cx="15005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Metastore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9302" y="2594153"/>
            <a:ext cx="114300" cy="1143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09498" y="2567635"/>
            <a:ext cx="15672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Meta-tagging &amp; Search</a:t>
            </a:r>
            <a:endParaRPr lang="en-US" sz="10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715207" y="2594153"/>
            <a:ext cx="114300" cy="1143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3905402" y="2567635"/>
            <a:ext cx="18242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Marketplace / Sharing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571500" y="3107131"/>
            <a:ext cx="6077102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571500" y="3107131"/>
            <a:ext cx="57607" cy="1143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2" name="Shape 15"/>
          <p:cNvSpPr/>
          <p:nvPr/>
        </p:nvSpPr>
        <p:spPr>
          <a:xfrm>
            <a:off x="819302" y="3278124"/>
            <a:ext cx="267005" cy="267005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86054" y="3344875"/>
            <a:ext cx="133502" cy="13350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181405" y="3282696"/>
            <a:ext cx="229148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&amp; Access Control</a:t>
            </a:r>
            <a:endParaRPr lang="en-US" sz="13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19302" y="3676802"/>
            <a:ext cx="114300" cy="11430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1009498" y="3650285"/>
            <a:ext cx="19677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Fine-grained RBAC (Row/Col)</a:t>
            </a:r>
            <a:endParaRPr lang="en-US" sz="10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3715207" y="3676802"/>
            <a:ext cx="114300" cy="114300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3905402" y="3650285"/>
            <a:ext cx="18342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PII Classification &amp; Masking</a:t>
            </a:r>
            <a:endParaRPr lang="en-US" sz="10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819302" y="3920033"/>
            <a:ext cx="114300" cy="114300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1009498" y="3893515"/>
            <a:ext cx="21003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Attribute-Based Access (ABAC)</a:t>
            </a:r>
            <a:endParaRPr lang="en-US" sz="100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3715207" y="3920033"/>
            <a:ext cx="114300" cy="114300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3905402" y="3893515"/>
            <a:ext cx="17766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Unified Identity Federation</a:t>
            </a:r>
            <a:endParaRPr lang="en-US" sz="1000" dirty="0"/>
          </a:p>
        </p:txBody>
      </p:sp>
      <p:sp>
        <p:nvSpPr>
          <p:cNvPr id="33" name="Shape 21"/>
          <p:cNvSpPr/>
          <p:nvPr/>
        </p:nvSpPr>
        <p:spPr>
          <a:xfrm>
            <a:off x="571500" y="4433011"/>
            <a:ext cx="6077102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34" name="Shape 22"/>
          <p:cNvSpPr/>
          <p:nvPr/>
        </p:nvSpPr>
        <p:spPr>
          <a:xfrm>
            <a:off x="571500" y="4433011"/>
            <a:ext cx="57607" cy="1143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5" name="Shape 23"/>
          <p:cNvSpPr/>
          <p:nvPr/>
        </p:nvSpPr>
        <p:spPr>
          <a:xfrm>
            <a:off x="819302" y="4604004"/>
            <a:ext cx="267005" cy="267005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rcRect l="-1507" r="-1507" t="0" b="0"/>
          <a:stretch/>
        </p:blipFill>
        <p:spPr>
          <a:xfrm>
            <a:off x="866851" y="4670755"/>
            <a:ext cx="171907" cy="133502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1181405" y="4608576"/>
            <a:ext cx="188183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Observability &amp; Audit</a:t>
            </a:r>
            <a:endParaRPr lang="en-US" sz="1300" dirty="0"/>
          </a:p>
        </p:txBody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819302" y="5002682"/>
            <a:ext cx="114300" cy="114300"/>
          </a:xfrm>
          <a:prstGeom prst="rect">
            <a:avLst/>
          </a:prstGeom>
        </p:spPr>
      </p:pic>
      <p:sp>
        <p:nvSpPr>
          <p:cNvPr id="39" name="Text 25"/>
          <p:cNvSpPr txBox="1"/>
          <p:nvPr/>
        </p:nvSpPr>
        <p:spPr>
          <a:xfrm>
            <a:off x="1009498" y="4975250"/>
            <a:ext cx="14813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Column-level Lineage</a:t>
            </a:r>
            <a:endParaRPr lang="en-US" sz="1000" dirty="0"/>
          </a:p>
        </p:txBody>
      </p:sp>
      <p:pic>
        <p:nvPicPr>
          <p:cNvPr id="40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3715207" y="5002682"/>
            <a:ext cx="114300" cy="114300"/>
          </a:xfrm>
          <a:prstGeom prst="rect">
            <a:avLst/>
          </a:prstGeom>
        </p:spPr>
      </p:pic>
      <p:sp>
        <p:nvSpPr>
          <p:cNvPr id="41" name="Text 26"/>
          <p:cNvSpPr txBox="1"/>
          <p:nvPr/>
        </p:nvSpPr>
        <p:spPr>
          <a:xfrm>
            <a:off x="3905402" y="4975250"/>
            <a:ext cx="18342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Tables (Audit Logs)</a:t>
            </a:r>
            <a:endParaRPr lang="en-US" sz="1000" dirty="0"/>
          </a:p>
        </p:txBody>
      </p:sp>
      <p:pic>
        <p:nvPicPr>
          <p:cNvPr id="42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819302" y="5245913"/>
            <a:ext cx="114300" cy="114300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1009498" y="5219395"/>
            <a:ext cx="16532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Usage &amp; Cost Attribution</a:t>
            </a:r>
            <a:endParaRPr lang="en-US" sz="1000" dirty="0"/>
          </a:p>
        </p:txBody>
      </p:sp>
      <p:pic>
        <p:nvPicPr>
          <p:cNvPr id="44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3715207" y="5245913"/>
            <a:ext cx="114300" cy="114300"/>
          </a:xfrm>
          <a:prstGeom prst="rect">
            <a:avLst/>
          </a:prstGeom>
        </p:spPr>
      </p:pic>
      <p:sp>
        <p:nvSpPr>
          <p:cNvPr id="45" name="Text 28"/>
          <p:cNvSpPr txBox="1"/>
          <p:nvPr/>
        </p:nvSpPr>
        <p:spPr>
          <a:xfrm>
            <a:off x="3905402" y="5219395"/>
            <a:ext cx="17867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Monitor Integration</a:t>
            </a:r>
            <a:endParaRPr lang="en-US" sz="1000" dirty="0"/>
          </a:p>
        </p:txBody>
      </p:sp>
      <p:sp>
        <p:nvSpPr>
          <p:cNvPr id="46" name="Shape 29"/>
          <p:cNvSpPr/>
          <p:nvPr/>
        </p:nvSpPr>
        <p:spPr>
          <a:xfrm>
            <a:off x="7029907" y="1781251"/>
            <a:ext cx="4591202" cy="4886554"/>
          </a:xfrm>
          <a:prstGeom prst="roundRect">
            <a:avLst>
              <a:gd name="adj" fmla="val 4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30"/>
          <p:cNvSpPr/>
          <p:nvPr/>
        </p:nvSpPr>
        <p:spPr>
          <a:xfrm>
            <a:off x="7324344" y="2542946"/>
            <a:ext cx="4000500" cy="19202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48" name="Image 15" descr="preencoded.png">    </p:cNvPr>
          <p:cNvPicPr>
            <a:picLocks noChangeAspect="1"/>
          </p:cNvPicPr>
          <p:nvPr/>
        </p:nvPicPr>
        <p:blipFill>
          <a:blip r:embed="rId16"/>
          <a:srcRect l="-1528" r="-1528" t="0" b="0"/>
          <a:stretch/>
        </p:blipFill>
        <p:spPr>
          <a:xfrm>
            <a:off x="7324344" y="2128723"/>
            <a:ext cx="161849" cy="209398"/>
          </a:xfrm>
          <a:prstGeom prst="rect">
            <a:avLst/>
          </a:prstGeom>
        </p:spPr>
      </p:pic>
      <p:sp>
        <p:nvSpPr>
          <p:cNvPr id="49" name="Text 31"/>
          <p:cNvSpPr txBox="1"/>
          <p:nvPr/>
        </p:nvSpPr>
        <p:spPr>
          <a:xfrm>
            <a:off x="7601407" y="2076602"/>
            <a:ext cx="347197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Contract Content &amp; Enforcement</a:t>
            </a:r>
            <a:endParaRPr lang="en-US" sz="1600" dirty="0"/>
          </a:p>
        </p:txBody>
      </p:sp>
      <p:pic>
        <p:nvPicPr>
          <p:cNvPr id="50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-180" b="-180"/>
          <a:stretch/>
        </p:blipFill>
        <p:spPr>
          <a:xfrm>
            <a:off x="7324344" y="2829154"/>
            <a:ext cx="190195" cy="152705"/>
          </a:xfrm>
          <a:prstGeom prst="rect">
            <a:avLst/>
          </a:prstGeom>
        </p:spPr>
      </p:pic>
      <p:sp>
        <p:nvSpPr>
          <p:cNvPr id="51" name="Text 32"/>
          <p:cNvSpPr txBox="1"/>
          <p:nvPr/>
        </p:nvSpPr>
        <p:spPr>
          <a:xfrm>
            <a:off x="7591349" y="2809951"/>
            <a:ext cx="20766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 Structure (YAML)</a:t>
            </a:r>
            <a:endParaRPr lang="en-US" sz="1200" dirty="0"/>
          </a:p>
        </p:txBody>
      </p:sp>
      <p:sp>
        <p:nvSpPr>
          <p:cNvPr id="52" name="Text 33"/>
          <p:cNvSpPr txBox="1"/>
          <p:nvPr/>
        </p:nvSpPr>
        <p:spPr>
          <a:xfrm>
            <a:off x="7591349" y="3086100"/>
            <a:ext cx="365302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Defines schema versions, ownership, SLAs (freshness, accuracy), and privacy policies. Versions are immutable.</a:t>
            </a:r>
            <a:endParaRPr lang="en-US" sz="1000" dirty="0"/>
          </a:p>
        </p:txBody>
      </p:sp>
      <p:pic>
        <p:nvPicPr>
          <p:cNvPr id="53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-43" b="-43"/>
          <a:stretch/>
        </p:blipFill>
        <p:spPr>
          <a:xfrm>
            <a:off x="7324344" y="3678631"/>
            <a:ext cx="133502" cy="152705"/>
          </a:xfrm>
          <a:prstGeom prst="rect">
            <a:avLst/>
          </a:prstGeom>
        </p:spPr>
      </p:pic>
      <p:sp>
        <p:nvSpPr>
          <p:cNvPr id="54" name="Text 34"/>
          <p:cNvSpPr txBox="1"/>
          <p:nvPr/>
        </p:nvSpPr>
        <p:spPr>
          <a:xfrm>
            <a:off x="7534656" y="3659429"/>
            <a:ext cx="20482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Storage-Level Constraints</a:t>
            </a:r>
            <a:endParaRPr lang="en-US" sz="1200" dirty="0"/>
          </a:p>
        </p:txBody>
      </p:sp>
      <p:sp>
        <p:nvSpPr>
          <p:cNvPr id="55" name="Text 35"/>
          <p:cNvSpPr txBox="1"/>
          <p:nvPr/>
        </p:nvSpPr>
        <p:spPr>
          <a:xfrm>
            <a:off x="7591349" y="3935578"/>
            <a:ext cx="3205886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Enforced via Delta Lake CHECK and NOT NULL constraints. Violations block the write transaction immediately.</a:t>
            </a:r>
            <a:endParaRPr lang="en-US" sz="1000" dirty="0"/>
          </a:p>
        </p:txBody>
      </p:sp>
      <p:pic>
        <p:nvPicPr>
          <p:cNvPr id="56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7324344" y="4714646"/>
            <a:ext cx="152705" cy="152705"/>
          </a:xfrm>
          <a:prstGeom prst="rect">
            <a:avLst/>
          </a:prstGeom>
        </p:spPr>
      </p:pic>
      <p:sp>
        <p:nvSpPr>
          <p:cNvPr id="57" name="Text 36"/>
          <p:cNvSpPr txBox="1"/>
          <p:nvPr/>
        </p:nvSpPr>
        <p:spPr>
          <a:xfrm>
            <a:off x="7552944" y="4695444"/>
            <a:ext cx="16486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Logical Expectations</a:t>
            </a:r>
            <a:endParaRPr lang="en-US" sz="1200" dirty="0"/>
          </a:p>
        </p:txBody>
      </p:sp>
      <p:sp>
        <p:nvSpPr>
          <p:cNvPr id="58" name="Text 37"/>
          <p:cNvSpPr txBox="1"/>
          <p:nvPr/>
        </p:nvSpPr>
        <p:spPr>
          <a:xfrm>
            <a:off x="7591349" y="4971593"/>
            <a:ext cx="332018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Implemented via DLT Expectations. Allows flexible handling: WARN, DROP, or FAIL pipeline on breach.</a:t>
            </a:r>
            <a:endParaRPr lang="en-US" sz="1000" dirty="0"/>
          </a:p>
        </p:txBody>
      </p:sp>
      <p:pic>
        <p:nvPicPr>
          <p:cNvPr id="59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0" b="0"/>
          <a:stretch/>
        </p:blipFill>
        <p:spPr>
          <a:xfrm>
            <a:off x="7324344" y="5564124"/>
            <a:ext cx="152705" cy="152705"/>
          </a:xfrm>
          <a:prstGeom prst="rect">
            <a:avLst/>
          </a:prstGeom>
        </p:spPr>
      </p:pic>
      <p:sp>
        <p:nvSpPr>
          <p:cNvPr id="60" name="Text 38"/>
          <p:cNvSpPr txBox="1"/>
          <p:nvPr/>
        </p:nvSpPr>
        <p:spPr>
          <a:xfrm>
            <a:off x="7552944" y="5544922"/>
            <a:ext cx="1524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 &amp; CI/CD Checks</a:t>
            </a:r>
            <a:endParaRPr lang="en-US" sz="1200" dirty="0"/>
          </a:p>
        </p:txBody>
      </p:sp>
      <p:sp>
        <p:nvSpPr>
          <p:cNvPr id="61" name="Text 39"/>
          <p:cNvSpPr txBox="1"/>
          <p:nvPr/>
        </p:nvSpPr>
        <p:spPr>
          <a:xfrm>
            <a:off x="7591349" y="5821070"/>
            <a:ext cx="3643884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 analysis validates contract syntax and schema compatibility (breaking changes) before code merges to main.</a:t>
            </a:r>
            <a:endParaRPr lang="en-US" sz="1000" dirty="0"/>
          </a:p>
        </p:txBody>
      </p:sp>
      <p:sp>
        <p:nvSpPr>
          <p:cNvPr id="62" name="Shape 40"/>
          <p:cNvSpPr/>
          <p:nvPr/>
        </p:nvSpPr>
        <p:spPr>
          <a:xfrm>
            <a:off x="0" y="7048195"/>
            <a:ext cx="12191695" cy="1810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Shape 41"/>
          <p:cNvSpPr/>
          <p:nvPr/>
        </p:nvSpPr>
        <p:spPr>
          <a:xfrm>
            <a:off x="0" y="7048195"/>
            <a:ext cx="1219169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4" name="Text 42"/>
          <p:cNvSpPr txBox="1"/>
          <p:nvPr/>
        </p:nvSpPr>
        <p:spPr>
          <a:xfrm>
            <a:off x="571500" y="7067398"/>
            <a:ext cx="35058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 — Databricks Quality Engineering Strategy &amp; Architecture</a:t>
            </a:r>
            <a:endParaRPr lang="en-US" sz="900" dirty="0"/>
          </a:p>
        </p:txBody>
      </p:sp>
      <p:sp>
        <p:nvSpPr>
          <p:cNvPr id="65" name="Text 43"/>
          <p:cNvSpPr txBox="1"/>
          <p:nvPr/>
        </p:nvSpPr>
        <p:spPr>
          <a:xfrm>
            <a:off x="8708746" y="7067398"/>
            <a:ext cx="30010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 + Architecture + Native Databricks Validation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0"/>
            <a:ext cx="4876495" cy="68580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743700"/>
            <a:ext cx="12191695" cy="1143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090879"/>
            <a:ext cx="609905" cy="3840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5253228"/>
            <a:ext cx="342900" cy="457200"/>
          </a:xfrm>
          <a:prstGeom prst="roundRect">
            <a:avLst>
              <a:gd name="adj" fmla="val 266667"/>
            </a:avLst>
          </a:prstGeom>
          <a:solidFill>
            <a:srgbClr val="EFF6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-760" r="-760" t="0" b="0"/>
          <a:stretch/>
        </p:blipFill>
        <p:spPr>
          <a:xfrm>
            <a:off x="1009498" y="5395874"/>
            <a:ext cx="152705" cy="171907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513125" y="5395874"/>
            <a:ext cx="171907" cy="171907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75858" y="5395874"/>
            <a:ext cx="171907" cy="17190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676095" y="1024128"/>
            <a:ext cx="10433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03</a:t>
            </a:r>
            <a:endParaRPr lang="en-US" sz="1000" dirty="0"/>
          </a:p>
        </p:txBody>
      </p:sp>
      <p:sp>
        <p:nvSpPr>
          <p:cNvPr id="13" name="Text 8"/>
          <p:cNvSpPr txBox="1"/>
          <p:nvPr/>
        </p:nvSpPr>
        <p:spPr>
          <a:xfrm>
            <a:off x="914400" y="1518818"/>
            <a:ext cx="5477256" cy="1400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Databricks Validation</a:t>
            </a:r>
            <a:endParaRPr lang="en-US" sz="4500" dirty="0"/>
          </a:p>
        </p:txBody>
      </p:sp>
      <p:sp>
        <p:nvSpPr>
          <p:cNvPr id="14" name="Text 9"/>
          <p:cNvSpPr txBox="1"/>
          <p:nvPr/>
        </p:nvSpPr>
        <p:spPr>
          <a:xfrm>
            <a:off x="914400" y="3290926"/>
            <a:ext cx="5649163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Ensuring trust at the source with Delta constraints, DLT expectations, and comprehensive monitoring &amp; alerting.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1409090" y="5119726"/>
            <a:ext cx="6766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STORAGE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1409090" y="5339182"/>
            <a:ext cx="1110082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Delta Constraints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3937406" y="5119726"/>
            <a:ext cx="6382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3937406" y="5339182"/>
            <a:ext cx="1224382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DLT Expectations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6642202" y="5253228"/>
            <a:ext cx="10671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OBSERVABILITY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6642202" y="5471770"/>
            <a:ext cx="10533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9" b="-9"/>
          <a:stretch/>
        </p:blipFill>
        <p:spPr>
          <a:xfrm>
            <a:off x="8229600" y="1276502"/>
            <a:ext cx="3047695" cy="381030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020556" y="5400446"/>
            <a:ext cx="15672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Validation Stack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90802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71500" y="418795"/>
            <a:ext cx="7068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Delta Lake Constraints &amp; Table Properties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990295"/>
            <a:ext cx="57726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Enforcing quality at the storage layer with ACID guarantees and native controls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71500" y="1686154"/>
            <a:ext cx="6077102" cy="1524305"/>
          </a:xfrm>
          <a:prstGeom prst="roundRect">
            <a:avLst>
              <a:gd name="adj" fmla="val 29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71500" y="1686154"/>
            <a:ext cx="57607" cy="1524305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819302" y="1857146"/>
            <a:ext cx="267005" cy="267005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-2512" r="-2512" t="0" b="0"/>
          <a:stretch/>
        </p:blipFill>
        <p:spPr>
          <a:xfrm>
            <a:off x="899770" y="1923898"/>
            <a:ext cx="105156" cy="13350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81405" y="1861718"/>
            <a:ext cx="271028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NULL &amp; Type Enforcement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19302" y="2266798"/>
            <a:ext cx="555863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Fundamental integrity check. Prevents null values in critical columns like Primary Keys, Foreign Keys, or mandatory timestamps.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19302" y="2706624"/>
            <a:ext cx="5639105" cy="323698"/>
          </a:xfrm>
          <a:prstGeom prst="roundRect">
            <a:avLst>
              <a:gd name="adj" fmla="val 49850"/>
            </a:avLst>
          </a:prstGeom>
          <a:solidFill>
            <a:srgbClr val="1E293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33602" y="2801722"/>
            <a:ext cx="42775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silver_orders ALTER COLUMN order_id SET NOT NULL;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71500" y="3392424"/>
            <a:ext cx="6077102" cy="1524305"/>
          </a:xfrm>
          <a:prstGeom prst="roundRect">
            <a:avLst>
              <a:gd name="adj" fmla="val 29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71500" y="3392424"/>
            <a:ext cx="57607" cy="152430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Shape 14"/>
          <p:cNvSpPr/>
          <p:nvPr/>
        </p:nvSpPr>
        <p:spPr>
          <a:xfrm>
            <a:off x="819302" y="3564331"/>
            <a:ext cx="267005" cy="267005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100" b="-1100"/>
          <a:stretch/>
        </p:blipFill>
        <p:spPr>
          <a:xfrm>
            <a:off x="895198" y="3631082"/>
            <a:ext cx="114300" cy="13350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181405" y="3568903"/>
            <a:ext cx="173918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Constraints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819302" y="3973982"/>
            <a:ext cx="567293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Validates row values against boolean expressions. Ideal for domain rules (e.g., price &gt; 0, status codes) directly on the table.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819302" y="4413809"/>
            <a:ext cx="5639105" cy="323698"/>
          </a:xfrm>
          <a:prstGeom prst="roundRect">
            <a:avLst>
              <a:gd name="adj" fmla="val 49850"/>
            </a:avLst>
          </a:prstGeom>
          <a:solidFill>
            <a:srgbClr val="1E293B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933602" y="4508906"/>
            <a:ext cx="50292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 valid_amt CHECK (amount &gt; 0 AND status IN ('OPEN', 'CLOSED'))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571500" y="5099609"/>
            <a:ext cx="6077102" cy="1524305"/>
          </a:xfrm>
          <a:prstGeom prst="roundRect">
            <a:avLst>
              <a:gd name="adj" fmla="val 29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571500" y="5099609"/>
            <a:ext cx="57607" cy="1524305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Shape 21"/>
          <p:cNvSpPr/>
          <p:nvPr/>
        </p:nvSpPr>
        <p:spPr>
          <a:xfrm>
            <a:off x="819302" y="5270602"/>
            <a:ext cx="267005" cy="267005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rcRect l="-2512" r="-2512" t="0" b="0"/>
          <a:stretch/>
        </p:blipFill>
        <p:spPr>
          <a:xfrm>
            <a:off x="899770" y="5337353"/>
            <a:ext cx="105156" cy="133502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181405" y="5276088"/>
            <a:ext cx="177667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Generated Columns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819302" y="5680253"/>
            <a:ext cx="571042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Automatically computes column values based on other columns. Ensures consistency for hash keys, date partitions, or standardizations.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819302" y="6120079"/>
            <a:ext cx="5639105" cy="323698"/>
          </a:xfrm>
          <a:prstGeom prst="roundRect">
            <a:avLst>
              <a:gd name="adj" fmla="val 49850"/>
            </a:avLst>
          </a:prstGeom>
          <a:solidFill>
            <a:srgbClr val="1E293B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933602" y="6216091"/>
            <a:ext cx="31053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GENERATED ALWAYS AS (cast(event_ts as DATE))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7029907" y="1686154"/>
            <a:ext cx="4591202" cy="5896051"/>
          </a:xfrm>
          <a:prstGeom prst="roundRect">
            <a:avLst>
              <a:gd name="adj" fmla="val 4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7324344" y="2419502"/>
            <a:ext cx="4000500" cy="19202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324344" y="2029054"/>
            <a:ext cx="237744" cy="190195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7677302" y="1981505"/>
            <a:ext cx="290596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Operationalization &amp; Workflow</a:t>
            </a:r>
            <a:endParaRPr lang="en-US" sz="1500" dirty="0"/>
          </a:p>
        </p:txBody>
      </p:sp>
      <p:sp>
        <p:nvSpPr>
          <p:cNvPr id="35" name="Shape 29"/>
          <p:cNvSpPr/>
          <p:nvPr/>
        </p:nvSpPr>
        <p:spPr>
          <a:xfrm>
            <a:off x="7324344" y="2667305"/>
            <a:ext cx="19202" cy="1086307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3" b="-43"/>
          <a:stretch/>
        </p:blipFill>
        <p:spPr>
          <a:xfrm>
            <a:off x="7457846" y="2704795"/>
            <a:ext cx="133502" cy="152705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7667244" y="2686507"/>
            <a:ext cx="18004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via DDL in PRs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7457846" y="2971800"/>
            <a:ext cx="371063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not apply constraints manually. Define them in your Infrastructure-as-Code or DDL scripts within the Git repository. CI pipelines execute ALTER TABLE commands during deployment.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7324344" y="3981298"/>
            <a:ext cx="19202" cy="88605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457846" y="4019702"/>
            <a:ext cx="152705" cy="152705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7686446" y="4000500"/>
            <a:ext cx="1905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via System Tables</a:t>
            </a:r>
            <a:endParaRPr lang="en-US" sz="1200" dirty="0"/>
          </a:p>
        </p:txBody>
      </p:sp>
      <p:sp>
        <p:nvSpPr>
          <p:cNvPr id="42" name="Text 34"/>
          <p:cNvSpPr txBox="1"/>
          <p:nvPr/>
        </p:nvSpPr>
        <p:spPr>
          <a:xfrm>
            <a:off x="7457846" y="4286707"/>
            <a:ext cx="393923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enforcement actions. Query system.quality or the Delta transaction log to see when constraints blocked writes, providing auditability for data rejections.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7324344" y="5095951"/>
            <a:ext cx="19202" cy="88605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457846" y="5134356"/>
            <a:ext cx="152705" cy="152705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7686446" y="5115154"/>
            <a:ext cx="15910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Quarantine Patterns</a:t>
            </a:r>
            <a:endParaRPr lang="en-US" sz="1200" dirty="0"/>
          </a:p>
        </p:txBody>
      </p:sp>
      <p:sp>
        <p:nvSpPr>
          <p:cNvPr id="46" name="Text 37"/>
          <p:cNvSpPr txBox="1"/>
          <p:nvPr/>
        </p:nvSpPr>
        <p:spPr>
          <a:xfrm>
            <a:off x="7457846" y="5400446"/>
            <a:ext cx="390083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Constraints block "bad" data by default, causing transaction failure. For resilience, use logic to route invalid rows to a _quarantine table instead of failing the pipeline.</a:t>
            </a:r>
            <a:endParaRPr lang="en-US" sz="1000" dirty="0"/>
          </a:p>
        </p:txBody>
      </p:sp>
      <p:sp>
        <p:nvSpPr>
          <p:cNvPr id="47" name="Shape 38"/>
          <p:cNvSpPr/>
          <p:nvPr/>
        </p:nvSpPr>
        <p:spPr>
          <a:xfrm>
            <a:off x="7324344" y="6210605"/>
            <a:ext cx="4000500" cy="1076249"/>
          </a:xfrm>
          <a:prstGeom prst="roundRect">
            <a:avLst>
              <a:gd name="adj" fmla="val 6015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rcRect l="-133" r="-133" t="0" b="0"/>
          <a:stretch/>
        </p:blipFill>
        <p:spPr>
          <a:xfrm>
            <a:off x="7487107" y="6386170"/>
            <a:ext cx="85954" cy="114300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7648956" y="6372454"/>
            <a:ext cx="8101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Practice</a:t>
            </a:r>
            <a:endParaRPr lang="en-US" sz="900" dirty="0"/>
          </a:p>
        </p:txBody>
      </p:sp>
      <p:sp>
        <p:nvSpPr>
          <p:cNvPr id="50" name="Text 40"/>
          <p:cNvSpPr txBox="1"/>
          <p:nvPr/>
        </p:nvSpPr>
        <p:spPr>
          <a:xfrm>
            <a:off x="7487107" y="6581851"/>
            <a:ext cx="356250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structural constraints (NOT NULL) on Silver tables, but reserve complex business constraints (CHECK) for Gold to allow flexible ingestion.</a:t>
            </a:r>
            <a:endParaRPr lang="en-US" sz="900" dirty="0"/>
          </a:p>
        </p:txBody>
      </p:sp>
      <p:sp>
        <p:nvSpPr>
          <p:cNvPr id="51" name="Shape 41"/>
          <p:cNvSpPr/>
          <p:nvPr/>
        </p:nvSpPr>
        <p:spPr>
          <a:xfrm>
            <a:off x="0" y="7862926"/>
            <a:ext cx="12191695" cy="1810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42"/>
          <p:cNvSpPr/>
          <p:nvPr/>
        </p:nvSpPr>
        <p:spPr>
          <a:xfrm>
            <a:off x="0" y="7862926"/>
            <a:ext cx="1219169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3" name="Text 43"/>
          <p:cNvSpPr txBox="1"/>
          <p:nvPr/>
        </p:nvSpPr>
        <p:spPr>
          <a:xfrm>
            <a:off x="571500" y="7882128"/>
            <a:ext cx="35058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 — Databricks Quality Engineering Strategy &amp; Architecture</a:t>
            </a:r>
            <a:endParaRPr lang="en-US" sz="900" dirty="0"/>
          </a:p>
        </p:txBody>
      </p:sp>
      <p:sp>
        <p:nvSpPr>
          <p:cNvPr id="54" name="Text 44"/>
          <p:cNvSpPr txBox="1"/>
          <p:nvPr/>
        </p:nvSpPr>
        <p:spPr>
          <a:xfrm>
            <a:off x="10229393" y="7882128"/>
            <a:ext cx="14859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&amp; Proprietary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1219810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390449"/>
            <a:ext cx="28821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 — DATABRICKS QE STRATEGY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90702"/>
            <a:ext cx="58293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DLT Expectations &amp; Quality Gates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10246766" y="809244"/>
            <a:ext cx="15956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Validation Matrix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168042"/>
            <a:ext cx="17958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CATEGORY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14700" y="1739189"/>
            <a:ext cx="2704795" cy="38405"/>
          </a:xfrm>
          <a:prstGeom prst="rect">
            <a:avLst/>
          </a:prstGeom>
          <a:solidFill>
            <a:srgbClr val="B45309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80" b="-180"/>
          <a:stretch/>
        </p:blipFill>
        <p:spPr>
          <a:xfrm>
            <a:off x="3429000" y="1930298"/>
            <a:ext cx="190195" cy="15270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3696005" y="1911096"/>
            <a:ext cx="12573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835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Bronze (Ingest)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429000" y="2158898"/>
            <a:ext cx="10003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2400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Sanity &amp; Schema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172200" y="1739189"/>
            <a:ext cx="2704795" cy="685800"/>
          </a:xfrm>
          <a:prstGeom prst="roundRect">
            <a:avLst>
              <a:gd name="adj" fmla="val 3704"/>
            </a:avLst>
          </a:prstGeom>
          <a:solidFill>
            <a:srgbClr val="F9FAFB"/>
          </a:solidFill>
          <a:ln/>
        </p:spPr>
      </p:sp>
      <p:sp>
        <p:nvSpPr>
          <p:cNvPr id="14" name="Shape 11"/>
          <p:cNvSpPr/>
          <p:nvPr/>
        </p:nvSpPr>
        <p:spPr>
          <a:xfrm>
            <a:off x="6172200" y="1739189"/>
            <a:ext cx="2704795" cy="38405"/>
          </a:xfrm>
          <a:prstGeom prst="rect">
            <a:avLst/>
          </a:prstGeom>
          <a:solidFill>
            <a:srgbClr val="94A3B8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86500" y="1930298"/>
            <a:ext cx="152705" cy="15270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515100" y="1911096"/>
            <a:ext cx="12957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Silver (Curated)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6286500" y="2158898"/>
            <a:ext cx="9052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Rules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9029700" y="1739189"/>
            <a:ext cx="2704795" cy="685800"/>
          </a:xfrm>
          <a:prstGeom prst="roundRect">
            <a:avLst>
              <a:gd name="adj" fmla="val 3704"/>
            </a:avLst>
          </a:prstGeom>
          <a:solidFill>
            <a:srgbClr val="FFFBEB"/>
          </a:solidFill>
          <a:ln/>
        </p:spPr>
      </p:sp>
      <p:sp>
        <p:nvSpPr>
          <p:cNvPr id="19" name="Shape 15"/>
          <p:cNvSpPr/>
          <p:nvPr/>
        </p:nvSpPr>
        <p:spPr>
          <a:xfrm>
            <a:off x="9029700" y="1739189"/>
            <a:ext cx="2704795" cy="38405"/>
          </a:xfrm>
          <a:prstGeom prst="rect">
            <a:avLst/>
          </a:prstGeom>
          <a:solidFill>
            <a:srgbClr val="FBBF24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144000" y="1930298"/>
            <a:ext cx="152705" cy="15270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372600" y="1911096"/>
            <a:ext cx="11914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835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 (Trusted)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9144000" y="2158898"/>
            <a:ext cx="8961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2400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Integrity &amp; SLA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57200" y="3321101"/>
            <a:ext cx="112772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457200" y="2707538"/>
            <a:ext cx="13670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 &amp; Focus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457200" y="2983687"/>
            <a:ext cx="13816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are we validating?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3314700" y="2653589"/>
            <a:ext cx="9144" cy="514807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3" b="-43"/>
          <a:stretch/>
        </p:blipFill>
        <p:spPr>
          <a:xfrm>
            <a:off x="3438144" y="2691994"/>
            <a:ext cx="133502" cy="15270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3648456" y="2663647"/>
            <a:ext cx="11676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Sanity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3648456" y="2840126"/>
            <a:ext cx="2286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readability, correct format, metadata presence.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6172200" y="2653589"/>
            <a:ext cx="9144" cy="514807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3" b="-43"/>
          <a:stretch/>
        </p:blipFill>
        <p:spPr>
          <a:xfrm>
            <a:off x="6295644" y="2691994"/>
            <a:ext cx="133502" cy="152705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6505956" y="2663647"/>
            <a:ext cx="10817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Validity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6505956" y="2840126"/>
            <a:ext cx="20766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Null checks, regex patterns, numeric ranges.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9029700" y="2653589"/>
            <a:ext cx="9144" cy="514807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3" b="-43"/>
          <a:stretch/>
        </p:blipFill>
        <p:spPr>
          <a:xfrm>
            <a:off x="9153144" y="2691994"/>
            <a:ext cx="133502" cy="152705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9363456" y="2663647"/>
            <a:ext cx="9674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Trust</a:t>
            </a:r>
            <a:endParaRPr lang="en-US" sz="1000" dirty="0"/>
          </a:p>
        </p:txBody>
      </p:sp>
      <p:sp>
        <p:nvSpPr>
          <p:cNvPr id="37" name="Text 29"/>
          <p:cNvSpPr txBox="1"/>
          <p:nvPr/>
        </p:nvSpPr>
        <p:spPr>
          <a:xfrm>
            <a:off x="9363456" y="2840126"/>
            <a:ext cx="220096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Cross-table referential integrity, unique keys.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457200" y="4141318"/>
            <a:ext cx="112772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9" name="Text 31"/>
          <p:cNvSpPr txBox="1"/>
          <p:nvPr/>
        </p:nvSpPr>
        <p:spPr>
          <a:xfrm>
            <a:off x="457200" y="3527755"/>
            <a:ext cx="12435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DLT Operator</a:t>
            </a:r>
            <a:endParaRPr lang="en-US" sz="1300" dirty="0"/>
          </a:p>
        </p:txBody>
      </p:sp>
      <p:sp>
        <p:nvSpPr>
          <p:cNvPr id="40" name="Text 32"/>
          <p:cNvSpPr txBox="1"/>
          <p:nvPr/>
        </p:nvSpPr>
        <p:spPr>
          <a:xfrm>
            <a:off x="457200" y="3803904"/>
            <a:ext cx="10863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 on violation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3314700" y="3474720"/>
            <a:ext cx="9144" cy="514807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438144" y="3513125"/>
            <a:ext cx="152705" cy="152705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3666744" y="3484778"/>
            <a:ext cx="9866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expect(...)</a:t>
            </a:r>
            <a:endParaRPr lang="en-US" sz="1000" dirty="0"/>
          </a:p>
        </p:txBody>
      </p:sp>
      <p:sp>
        <p:nvSpPr>
          <p:cNvPr id="44" name="Text 35"/>
          <p:cNvSpPr txBox="1"/>
          <p:nvPr/>
        </p:nvSpPr>
        <p:spPr>
          <a:xfrm>
            <a:off x="3666744" y="3661258"/>
            <a:ext cx="23052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WARN: Record the error but allow data to flow.</a:t>
            </a:r>
            <a:endParaRPr lang="en-US" sz="900" dirty="0"/>
          </a:p>
        </p:txBody>
      </p:sp>
      <p:sp>
        <p:nvSpPr>
          <p:cNvPr id="45" name="Shape 36"/>
          <p:cNvSpPr/>
          <p:nvPr/>
        </p:nvSpPr>
        <p:spPr>
          <a:xfrm>
            <a:off x="6172200" y="3474720"/>
            <a:ext cx="9144" cy="514807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43" b="-43"/>
          <a:stretch/>
        </p:blipFill>
        <p:spPr>
          <a:xfrm>
            <a:off x="6295644" y="3513125"/>
            <a:ext cx="133502" cy="152705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6505956" y="3484778"/>
            <a:ext cx="16248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expect_or_drop(...)</a:t>
            </a:r>
            <a:endParaRPr lang="en-US" sz="1000" dirty="0"/>
          </a:p>
        </p:txBody>
      </p:sp>
      <p:sp>
        <p:nvSpPr>
          <p:cNvPr id="48" name="Text 38"/>
          <p:cNvSpPr txBox="1"/>
          <p:nvPr/>
        </p:nvSpPr>
        <p:spPr>
          <a:xfrm>
            <a:off x="6505956" y="3661258"/>
            <a:ext cx="24487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DROP: Remove invalid rows from the target.</a:t>
            </a:r>
            <a:endParaRPr lang="en-US" sz="900" dirty="0"/>
          </a:p>
        </p:txBody>
      </p:sp>
      <p:sp>
        <p:nvSpPr>
          <p:cNvPr id="49" name="Shape 39"/>
          <p:cNvSpPr/>
          <p:nvPr/>
        </p:nvSpPr>
        <p:spPr>
          <a:xfrm>
            <a:off x="9029700" y="3474720"/>
            <a:ext cx="9144" cy="514807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9153144" y="3513125"/>
            <a:ext cx="152705" cy="152705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9381744" y="3484778"/>
            <a:ext cx="16248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expect_or_fail(...)</a:t>
            </a:r>
            <a:endParaRPr lang="en-US" sz="1000" dirty="0"/>
          </a:p>
        </p:txBody>
      </p:sp>
      <p:sp>
        <p:nvSpPr>
          <p:cNvPr id="52" name="Text 41"/>
          <p:cNvSpPr txBox="1"/>
          <p:nvPr/>
        </p:nvSpPr>
        <p:spPr>
          <a:xfrm>
            <a:off x="9381744" y="3661258"/>
            <a:ext cx="20098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FAIL: Stop the pipeline immediately.</a:t>
            </a:r>
            <a:endParaRPr lang="en-US" sz="900" dirty="0"/>
          </a:p>
        </p:txBody>
      </p:sp>
      <p:sp>
        <p:nvSpPr>
          <p:cNvPr id="53" name="Shape 42"/>
          <p:cNvSpPr/>
          <p:nvPr/>
        </p:nvSpPr>
        <p:spPr>
          <a:xfrm>
            <a:off x="457200" y="4962449"/>
            <a:ext cx="112772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4" name="Text 43"/>
          <p:cNvSpPr txBox="1"/>
          <p:nvPr/>
        </p:nvSpPr>
        <p:spPr>
          <a:xfrm>
            <a:off x="457200" y="4348886"/>
            <a:ext cx="13386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 Handling</a:t>
            </a:r>
            <a:endParaRPr lang="en-US" sz="1300" dirty="0"/>
          </a:p>
        </p:txBody>
      </p:sp>
      <p:sp>
        <p:nvSpPr>
          <p:cNvPr id="55" name="Text 44"/>
          <p:cNvSpPr txBox="1"/>
          <p:nvPr/>
        </p:nvSpPr>
        <p:spPr>
          <a:xfrm>
            <a:off x="457200" y="4625035"/>
            <a:ext cx="14484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Management of bad data</a:t>
            </a:r>
            <a:endParaRPr lang="en-US" sz="900" dirty="0"/>
          </a:p>
        </p:txBody>
      </p:sp>
      <p:sp>
        <p:nvSpPr>
          <p:cNvPr id="56" name="Shape 45"/>
          <p:cNvSpPr/>
          <p:nvPr/>
        </p:nvSpPr>
        <p:spPr>
          <a:xfrm>
            <a:off x="3314700" y="4295851"/>
            <a:ext cx="9144" cy="514807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57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3438144" y="4334256"/>
            <a:ext cx="152705" cy="152705"/>
          </a:xfrm>
          <a:prstGeom prst="rect">
            <a:avLst/>
          </a:prstGeom>
        </p:spPr>
      </p:pic>
      <p:sp>
        <p:nvSpPr>
          <p:cNvPr id="58" name="Text 46"/>
          <p:cNvSpPr txBox="1"/>
          <p:nvPr/>
        </p:nvSpPr>
        <p:spPr>
          <a:xfrm>
            <a:off x="3666744" y="4304995"/>
            <a:ext cx="10625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Rescue Clause</a:t>
            </a:r>
            <a:endParaRPr lang="en-US" sz="1000" dirty="0"/>
          </a:p>
        </p:txBody>
      </p:sp>
      <p:sp>
        <p:nvSpPr>
          <p:cNvPr id="59" name="Text 47"/>
          <p:cNvSpPr txBox="1"/>
          <p:nvPr/>
        </p:nvSpPr>
        <p:spPr>
          <a:xfrm>
            <a:off x="3666744" y="4482389"/>
            <a:ext cx="23911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 Loader captures schema mismatch in `_rescued_data`.</a:t>
            </a:r>
            <a:endParaRPr lang="en-US" sz="900" dirty="0"/>
          </a:p>
        </p:txBody>
      </p:sp>
      <p:sp>
        <p:nvSpPr>
          <p:cNvPr id="60" name="Shape 48"/>
          <p:cNvSpPr/>
          <p:nvPr/>
        </p:nvSpPr>
        <p:spPr>
          <a:xfrm>
            <a:off x="6172200" y="4295851"/>
            <a:ext cx="9144" cy="514807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61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180" b="-180"/>
          <a:stretch/>
        </p:blipFill>
        <p:spPr>
          <a:xfrm>
            <a:off x="6295644" y="4334256"/>
            <a:ext cx="190195" cy="152705"/>
          </a:xfrm>
          <a:prstGeom prst="rect">
            <a:avLst/>
          </a:prstGeom>
        </p:spPr>
      </p:pic>
      <p:sp>
        <p:nvSpPr>
          <p:cNvPr id="62" name="Text 49"/>
          <p:cNvSpPr txBox="1"/>
          <p:nvPr/>
        </p:nvSpPr>
        <p:spPr>
          <a:xfrm>
            <a:off x="6562649" y="4304995"/>
            <a:ext cx="1205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Quarantine Table</a:t>
            </a:r>
            <a:endParaRPr lang="en-US" sz="1000" dirty="0"/>
          </a:p>
        </p:txBody>
      </p:sp>
      <p:sp>
        <p:nvSpPr>
          <p:cNvPr id="63" name="Text 50"/>
          <p:cNvSpPr txBox="1"/>
          <p:nvPr/>
        </p:nvSpPr>
        <p:spPr>
          <a:xfrm>
            <a:off x="6562649" y="4482389"/>
            <a:ext cx="21534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 dropped rows to a side table for review.</a:t>
            </a:r>
            <a:endParaRPr lang="en-US" sz="900" dirty="0"/>
          </a:p>
        </p:txBody>
      </p:sp>
      <p:sp>
        <p:nvSpPr>
          <p:cNvPr id="64" name="Shape 51"/>
          <p:cNvSpPr/>
          <p:nvPr/>
        </p:nvSpPr>
        <p:spPr>
          <a:xfrm>
            <a:off x="9029700" y="4295851"/>
            <a:ext cx="9144" cy="514807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65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43" b="-43"/>
          <a:stretch/>
        </p:blipFill>
        <p:spPr>
          <a:xfrm>
            <a:off x="9153144" y="4334256"/>
            <a:ext cx="133502" cy="152705"/>
          </a:xfrm>
          <a:prstGeom prst="rect">
            <a:avLst/>
          </a:prstGeom>
        </p:spPr>
      </p:pic>
      <p:sp>
        <p:nvSpPr>
          <p:cNvPr id="66" name="Text 52"/>
          <p:cNvSpPr txBox="1"/>
          <p:nvPr/>
        </p:nvSpPr>
        <p:spPr>
          <a:xfrm>
            <a:off x="9363456" y="4304995"/>
            <a:ext cx="13295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 &amp; Rollback</a:t>
            </a:r>
            <a:endParaRPr lang="en-US" sz="1000" dirty="0"/>
          </a:p>
        </p:txBody>
      </p:sp>
      <p:sp>
        <p:nvSpPr>
          <p:cNvPr id="67" name="Text 53"/>
          <p:cNvSpPr txBox="1"/>
          <p:nvPr/>
        </p:nvSpPr>
        <p:spPr>
          <a:xfrm>
            <a:off x="9363456" y="4482389"/>
            <a:ext cx="22860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 PagerDuty; retain previous state.</a:t>
            </a:r>
            <a:endParaRPr lang="en-US" sz="900" dirty="0"/>
          </a:p>
        </p:txBody>
      </p:sp>
      <p:sp>
        <p:nvSpPr>
          <p:cNvPr id="68" name="Text 54"/>
          <p:cNvSpPr txBox="1"/>
          <p:nvPr/>
        </p:nvSpPr>
        <p:spPr>
          <a:xfrm>
            <a:off x="457200" y="5170018"/>
            <a:ext cx="10533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69" name="Text 55"/>
          <p:cNvSpPr txBox="1"/>
          <p:nvPr/>
        </p:nvSpPr>
        <p:spPr>
          <a:xfrm>
            <a:off x="457200" y="5446166"/>
            <a:ext cx="9336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Signals &amp; Alerts</a:t>
            </a:r>
            <a:endParaRPr lang="en-US" sz="900" dirty="0"/>
          </a:p>
        </p:txBody>
      </p:sp>
      <p:sp>
        <p:nvSpPr>
          <p:cNvPr id="70" name="Shape 56"/>
          <p:cNvSpPr/>
          <p:nvPr/>
        </p:nvSpPr>
        <p:spPr>
          <a:xfrm>
            <a:off x="3314700" y="5116982"/>
            <a:ext cx="9144" cy="514807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71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3438144" y="5154473"/>
            <a:ext cx="152705" cy="152705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3666744" y="5126126"/>
            <a:ext cx="11009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Ingestion Rates</a:t>
            </a:r>
            <a:endParaRPr lang="en-US" sz="1000" dirty="0"/>
          </a:p>
        </p:txBody>
      </p:sp>
      <p:sp>
        <p:nvSpPr>
          <p:cNvPr id="73" name="Text 58"/>
          <p:cNvSpPr txBox="1"/>
          <p:nvPr/>
        </p:nvSpPr>
        <p:spPr>
          <a:xfrm>
            <a:off x="3666744" y="5303520"/>
            <a:ext cx="21717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rows/sec and file arrival latency.</a:t>
            </a:r>
            <a:endParaRPr lang="en-US" sz="900" dirty="0"/>
          </a:p>
        </p:txBody>
      </p:sp>
      <p:sp>
        <p:nvSpPr>
          <p:cNvPr id="74" name="Shape 59"/>
          <p:cNvSpPr/>
          <p:nvPr/>
        </p:nvSpPr>
        <p:spPr>
          <a:xfrm>
            <a:off x="6172200" y="5116982"/>
            <a:ext cx="9144" cy="514807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75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100" b="-100"/>
          <a:stretch/>
        </p:blipFill>
        <p:spPr>
          <a:xfrm>
            <a:off x="6295644" y="5154473"/>
            <a:ext cx="114300" cy="152705"/>
          </a:xfrm>
          <a:prstGeom prst="rect">
            <a:avLst/>
          </a:prstGeom>
        </p:spPr>
      </p:pic>
      <p:sp>
        <p:nvSpPr>
          <p:cNvPr id="76" name="Text 60"/>
          <p:cNvSpPr txBox="1"/>
          <p:nvPr/>
        </p:nvSpPr>
        <p:spPr>
          <a:xfrm>
            <a:off x="6486754" y="5126126"/>
            <a:ext cx="976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Score</a:t>
            </a:r>
            <a:endParaRPr lang="en-US" sz="1000" dirty="0"/>
          </a:p>
        </p:txBody>
      </p:sp>
      <p:sp>
        <p:nvSpPr>
          <p:cNvPr id="77" name="Text 61"/>
          <p:cNvSpPr txBox="1"/>
          <p:nvPr/>
        </p:nvSpPr>
        <p:spPr>
          <a:xfrm>
            <a:off x="6486754" y="5303520"/>
            <a:ext cx="2477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of rows passing expectations (from Event Log).</a:t>
            </a:r>
            <a:endParaRPr lang="en-US" sz="900" dirty="0"/>
          </a:p>
        </p:txBody>
      </p:sp>
      <p:sp>
        <p:nvSpPr>
          <p:cNvPr id="78" name="Shape 62"/>
          <p:cNvSpPr/>
          <p:nvPr/>
        </p:nvSpPr>
        <p:spPr>
          <a:xfrm>
            <a:off x="9029700" y="5116982"/>
            <a:ext cx="9144" cy="514807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79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-43" b="-43"/>
          <a:stretch/>
        </p:blipFill>
        <p:spPr>
          <a:xfrm>
            <a:off x="9153144" y="5154473"/>
            <a:ext cx="133502" cy="152705"/>
          </a:xfrm>
          <a:prstGeom prst="rect">
            <a:avLst/>
          </a:prstGeom>
        </p:spPr>
      </p:pic>
      <p:sp>
        <p:nvSpPr>
          <p:cNvPr id="80" name="Text 63"/>
          <p:cNvSpPr txBox="1"/>
          <p:nvPr/>
        </p:nvSpPr>
        <p:spPr>
          <a:xfrm>
            <a:off x="9363456" y="5126126"/>
            <a:ext cx="10049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 Breaches</a:t>
            </a:r>
            <a:endParaRPr lang="en-US" sz="1000" dirty="0"/>
          </a:p>
        </p:txBody>
      </p:sp>
      <p:sp>
        <p:nvSpPr>
          <p:cNvPr id="81" name="Text 64"/>
          <p:cNvSpPr txBox="1"/>
          <p:nvPr/>
        </p:nvSpPr>
        <p:spPr>
          <a:xfrm>
            <a:off x="9363456" y="5303520"/>
            <a:ext cx="24195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 on freshness delay or significant drift.</a:t>
            </a:r>
            <a:endParaRPr lang="en-US" sz="900" dirty="0"/>
          </a:p>
        </p:txBody>
      </p:sp>
      <p:sp>
        <p:nvSpPr>
          <p:cNvPr id="82" name="Shape 65"/>
          <p:cNvSpPr/>
          <p:nvPr/>
        </p:nvSpPr>
        <p:spPr>
          <a:xfrm>
            <a:off x="1743761" y="6495898"/>
            <a:ext cx="9144" cy="15270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3" name="Text 66"/>
          <p:cNvSpPr txBox="1"/>
          <p:nvPr/>
        </p:nvSpPr>
        <p:spPr>
          <a:xfrm>
            <a:off x="457200" y="6495898"/>
            <a:ext cx="11430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TOOLING</a:t>
            </a:r>
            <a:endParaRPr lang="en-US" sz="900" dirty="0"/>
          </a:p>
        </p:txBody>
      </p:sp>
      <p:pic>
        <p:nvPicPr>
          <p:cNvPr id="84" name="Image 15" descr="preencoded.png">    </p:cNvPr>
          <p:cNvPicPr>
            <a:picLocks noChangeAspect="1"/>
          </p:cNvPicPr>
          <p:nvPr/>
        </p:nvPicPr>
        <p:blipFill>
          <a:blip r:embed="rId16"/>
          <a:srcRect l="-2512" r="-2512" t="0" b="0"/>
          <a:stretch/>
        </p:blipFill>
        <p:spPr>
          <a:xfrm>
            <a:off x="1975104" y="6505956"/>
            <a:ext cx="105156" cy="133502"/>
          </a:xfrm>
          <a:prstGeom prst="rect">
            <a:avLst/>
          </a:prstGeom>
        </p:spPr>
      </p:pic>
      <p:sp>
        <p:nvSpPr>
          <p:cNvPr id="85" name="Text 67"/>
          <p:cNvSpPr txBox="1"/>
          <p:nvPr/>
        </p:nvSpPr>
        <p:spPr>
          <a:xfrm>
            <a:off x="2156155" y="6486754"/>
            <a:ext cx="10149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DLT Event Log</a:t>
            </a:r>
            <a:endParaRPr lang="en-US" sz="1000" dirty="0"/>
          </a:p>
        </p:txBody>
      </p:sp>
      <p:pic>
        <p:nvPicPr>
          <p:cNvPr id="86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3370478" y="6505956"/>
            <a:ext cx="133502" cy="133502"/>
          </a:xfrm>
          <a:prstGeom prst="rect">
            <a:avLst/>
          </a:prstGeom>
        </p:spPr>
      </p:pic>
      <p:sp>
        <p:nvSpPr>
          <p:cNvPr id="87" name="Text 68"/>
          <p:cNvSpPr txBox="1"/>
          <p:nvPr/>
        </p:nvSpPr>
        <p:spPr>
          <a:xfrm>
            <a:off x="3579876" y="6486754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Tables</a:t>
            </a:r>
            <a:endParaRPr lang="en-US" sz="1000" dirty="0"/>
          </a:p>
        </p:txBody>
      </p:sp>
      <p:pic>
        <p:nvPicPr>
          <p:cNvPr id="88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-1100" b="-1100"/>
          <a:stretch/>
        </p:blipFill>
        <p:spPr>
          <a:xfrm>
            <a:off x="4803343" y="6505956"/>
            <a:ext cx="114300" cy="133502"/>
          </a:xfrm>
          <a:prstGeom prst="rect">
            <a:avLst/>
          </a:prstGeom>
        </p:spPr>
      </p:pic>
      <p:sp>
        <p:nvSpPr>
          <p:cNvPr id="89" name="Text 69"/>
          <p:cNvSpPr txBox="1"/>
          <p:nvPr/>
        </p:nvSpPr>
        <p:spPr>
          <a:xfrm>
            <a:off x="4993538" y="6486754"/>
            <a:ext cx="15005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Lakehouse Monitoring</a:t>
            </a:r>
            <a:endParaRPr lang="en-US" sz="1000" dirty="0"/>
          </a:p>
        </p:txBody>
      </p:sp>
      <p:pic>
        <p:nvPicPr>
          <p:cNvPr id="90" name="Image 18" descr="preencoded.png">    </p:cNvPr>
          <p:cNvPicPr>
            <a:picLocks noChangeAspect="1"/>
          </p:cNvPicPr>
          <p:nvPr/>
        </p:nvPicPr>
        <p:blipFill>
          <a:blip r:embed="rId19"/>
          <a:srcRect l="-1507" r="-1507" t="0" b="0"/>
          <a:stretch/>
        </p:blipFill>
        <p:spPr>
          <a:xfrm>
            <a:off x="6698894" y="6505956"/>
            <a:ext cx="171907" cy="133502"/>
          </a:xfrm>
          <a:prstGeom prst="rect">
            <a:avLst/>
          </a:prstGeom>
        </p:spPr>
      </p:pic>
      <p:sp>
        <p:nvSpPr>
          <p:cNvPr id="91" name="Text 70"/>
          <p:cNvSpPr txBox="1"/>
          <p:nvPr/>
        </p:nvSpPr>
        <p:spPr>
          <a:xfrm>
            <a:off x="6945782" y="6486754"/>
            <a:ext cx="7763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Workflows</a:t>
            </a:r>
            <a:endParaRPr lang="en-US" sz="1000" dirty="0"/>
          </a:p>
        </p:txBody>
      </p:sp>
      <p:pic>
        <p:nvPicPr>
          <p:cNvPr id="92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0" b="0"/>
          <a:stretch/>
        </p:blipFill>
        <p:spPr>
          <a:xfrm>
            <a:off x="7919618" y="6505956"/>
            <a:ext cx="133502" cy="133502"/>
          </a:xfrm>
          <a:prstGeom prst="rect">
            <a:avLst/>
          </a:prstGeom>
        </p:spPr>
      </p:pic>
      <p:sp>
        <p:nvSpPr>
          <p:cNvPr id="93" name="Text 71"/>
          <p:cNvSpPr txBox="1"/>
          <p:nvPr/>
        </p:nvSpPr>
        <p:spPr>
          <a:xfrm>
            <a:off x="8129016" y="6486754"/>
            <a:ext cx="11484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Catalog Explorer</a:t>
            </a:r>
            <a:endParaRPr lang="en-US" sz="1000" dirty="0"/>
          </a:p>
        </p:txBody>
      </p:sp>
      <p:sp>
        <p:nvSpPr>
          <p:cNvPr id="94" name="Text 72"/>
          <p:cNvSpPr txBox="1"/>
          <p:nvPr/>
        </p:nvSpPr>
        <p:spPr>
          <a:xfrm>
            <a:off x="11843309" y="6515100"/>
            <a:ext cx="2103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43000"/>
            <a:ext cx="12191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304495"/>
            <a:ext cx="1476756" cy="228600"/>
          </a:xfrm>
          <a:prstGeom prst="roundRect">
            <a:avLst>
              <a:gd name="adj" fmla="val 400000"/>
            </a:avLst>
          </a:prstGeom>
          <a:solidFill>
            <a:srgbClr val="DBEA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71500" y="342900"/>
            <a:ext cx="13341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VALIDATION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2044598" y="333756"/>
            <a:ext cx="24725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1 — Strategy &amp; Architecture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590702"/>
            <a:ext cx="545805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Streaming vs. Batch QE Patterns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9130284" y="752551"/>
            <a:ext cx="27386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Comparing validation strategies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380744"/>
            <a:ext cx="5486400" cy="4524451"/>
          </a:xfrm>
          <a:prstGeom prst="roundRect">
            <a:avLst>
              <a:gd name="adj" fmla="val 68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" y="2153412"/>
            <a:ext cx="5009998" cy="9144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12" name="Shape 10"/>
          <p:cNvSpPr/>
          <p:nvPr/>
        </p:nvSpPr>
        <p:spPr>
          <a:xfrm>
            <a:off x="694944" y="1638605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-1648" r="-1648" t="0" b="0"/>
          <a:stretch/>
        </p:blipFill>
        <p:spPr>
          <a:xfrm>
            <a:off x="800100" y="1733702"/>
            <a:ext cx="171907" cy="19019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190549" y="1638605"/>
            <a:ext cx="1895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Streaming Pipeline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190549" y="1886407"/>
            <a:ext cx="19431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/ MICRO-BATCH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191256" y="2962656"/>
            <a:ext cx="19202" cy="2704795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7" name="Shape 14"/>
          <p:cNvSpPr/>
          <p:nvPr/>
        </p:nvSpPr>
        <p:spPr>
          <a:xfrm>
            <a:off x="3200400" y="2391156"/>
            <a:ext cx="2352751" cy="647395"/>
          </a:xfrm>
          <a:prstGeom prst="roundRect">
            <a:avLst>
              <a:gd name="adj" fmla="val 8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00400" y="2391156"/>
            <a:ext cx="38405" cy="647395"/>
          </a:xfrm>
          <a:prstGeom prst="rect">
            <a:avLst/>
          </a:prstGeom>
          <a:solidFill>
            <a:srgbClr val="60A5FA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14700" y="2481682"/>
            <a:ext cx="114300" cy="1143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3467405" y="2467051"/>
            <a:ext cx="9628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Validation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3314700" y="2657246"/>
            <a:ext cx="20199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enforcement on read (Auto Loader)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200400" y="3333902"/>
            <a:ext cx="2352751" cy="495605"/>
          </a:xfrm>
          <a:prstGeom prst="roundRect">
            <a:avLst>
              <a:gd name="adj" fmla="val 141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200400" y="3333902"/>
            <a:ext cx="38405" cy="495605"/>
          </a:xfrm>
          <a:prstGeom prst="rect">
            <a:avLst/>
          </a:prstGeom>
          <a:solidFill>
            <a:srgbClr val="60A5FA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314700" y="3424428"/>
            <a:ext cx="114300" cy="11430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3467405" y="3409798"/>
            <a:ext cx="11146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Micro-batch Logic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3314700" y="3600907"/>
            <a:ext cx="17053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late data &amp; watermarks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3200400" y="4123944"/>
            <a:ext cx="2352751" cy="647395"/>
          </a:xfrm>
          <a:prstGeom prst="roundRect">
            <a:avLst>
              <a:gd name="adj" fmla="val 8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3200400" y="4123944"/>
            <a:ext cx="38405" cy="647395"/>
          </a:xfrm>
          <a:prstGeom prst="rect">
            <a:avLst/>
          </a:prstGeom>
          <a:solidFill>
            <a:srgbClr val="60A5FA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314700" y="4214470"/>
            <a:ext cx="114300" cy="11430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3467405" y="4200754"/>
            <a:ext cx="7818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Health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3314700" y="4390949"/>
            <a:ext cx="16386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Idempotency &amp; Append-only verification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6248095" y="1380744"/>
            <a:ext cx="5486400" cy="4524451"/>
          </a:xfrm>
          <a:prstGeom prst="roundRect">
            <a:avLst>
              <a:gd name="adj" fmla="val 681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6486754" y="2153412"/>
            <a:ext cx="5009998" cy="9144"/>
          </a:xfrm>
          <a:prstGeom prst="rect">
            <a:avLst/>
          </a:prstGeom>
          <a:solidFill>
            <a:srgbClr val="DDD6FE"/>
          </a:solidFill>
          <a:ln/>
        </p:spPr>
      </p:sp>
      <p:sp>
        <p:nvSpPr>
          <p:cNvPr id="34" name="Shape 28"/>
          <p:cNvSpPr/>
          <p:nvPr/>
        </p:nvSpPr>
        <p:spPr>
          <a:xfrm>
            <a:off x="6486754" y="1638605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rcRect l="-1282" r="-1282" t="0" b="0"/>
          <a:stretch/>
        </p:blipFill>
        <p:spPr>
          <a:xfrm>
            <a:off x="6567221" y="1733702"/>
            <a:ext cx="219456" cy="190195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6981444" y="16386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 Pipeline</a:t>
            </a:r>
            <a:endParaRPr lang="en-US" sz="1500" dirty="0"/>
          </a:p>
        </p:txBody>
      </p:sp>
      <p:sp>
        <p:nvSpPr>
          <p:cNvPr id="37" name="Text 30"/>
          <p:cNvSpPr txBox="1"/>
          <p:nvPr/>
        </p:nvSpPr>
        <p:spPr>
          <a:xfrm>
            <a:off x="6981444" y="1886407"/>
            <a:ext cx="15627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DISCRETE / SCHEDULED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8982151" y="2962656"/>
            <a:ext cx="19202" cy="2704795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9" name="Shape 32"/>
          <p:cNvSpPr/>
          <p:nvPr/>
        </p:nvSpPr>
        <p:spPr>
          <a:xfrm>
            <a:off x="6638544" y="2457907"/>
            <a:ext cx="2352751" cy="495605"/>
          </a:xfrm>
          <a:prstGeom prst="roundRect">
            <a:avLst>
              <a:gd name="adj" fmla="val 141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8952890" y="2457907"/>
            <a:ext cx="38405" cy="495605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1" name="Text 34"/>
          <p:cNvSpPr txBox="1"/>
          <p:nvPr/>
        </p:nvSpPr>
        <p:spPr>
          <a:xfrm>
            <a:off x="7744054" y="2533802"/>
            <a:ext cx="10671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Pre-flight Checks</a:t>
            </a:r>
            <a:endParaRPr lang="en-US" sz="900" dirty="0"/>
          </a:p>
        </p:txBody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762695" y="2547518"/>
            <a:ext cx="114300" cy="114300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6907378" y="2723998"/>
            <a:ext cx="20574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completeness &amp; size distribution</a:t>
            </a:r>
            <a:endParaRPr lang="en-US" sz="900" dirty="0"/>
          </a:p>
        </p:txBody>
      </p:sp>
      <p:sp>
        <p:nvSpPr>
          <p:cNvPr id="44" name="Shape 36"/>
          <p:cNvSpPr/>
          <p:nvPr/>
        </p:nvSpPr>
        <p:spPr>
          <a:xfrm>
            <a:off x="6638544" y="3314700"/>
            <a:ext cx="2352751" cy="495605"/>
          </a:xfrm>
          <a:prstGeom prst="roundRect">
            <a:avLst>
              <a:gd name="adj" fmla="val 141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5" name="Shape 37"/>
          <p:cNvSpPr/>
          <p:nvPr/>
        </p:nvSpPr>
        <p:spPr>
          <a:xfrm>
            <a:off x="8952890" y="3314700"/>
            <a:ext cx="38405" cy="495605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6" name="Text 38"/>
          <p:cNvSpPr txBox="1"/>
          <p:nvPr/>
        </p:nvSpPr>
        <p:spPr>
          <a:xfrm>
            <a:off x="7833665" y="3390595"/>
            <a:ext cx="9811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Logic Validation</a:t>
            </a:r>
            <a:endParaRPr lang="en-US" sz="900" dirty="0"/>
          </a:p>
        </p:txBody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762695" y="3405226"/>
            <a:ext cx="114300" cy="114300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7058254" y="3581705"/>
            <a:ext cx="19147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Partition checks &amp; Business Rules</a:t>
            </a:r>
            <a:endParaRPr lang="en-US" sz="900" dirty="0"/>
          </a:p>
        </p:txBody>
      </p:sp>
      <p:sp>
        <p:nvSpPr>
          <p:cNvPr id="49" name="Shape 40"/>
          <p:cNvSpPr/>
          <p:nvPr/>
        </p:nvSpPr>
        <p:spPr>
          <a:xfrm>
            <a:off x="6638544" y="4172407"/>
            <a:ext cx="2352751" cy="495605"/>
          </a:xfrm>
          <a:prstGeom prst="roundRect">
            <a:avLst>
              <a:gd name="adj" fmla="val 141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50" name="Shape 41"/>
          <p:cNvSpPr/>
          <p:nvPr/>
        </p:nvSpPr>
        <p:spPr>
          <a:xfrm>
            <a:off x="8952890" y="4172407"/>
            <a:ext cx="38405" cy="495605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51" name="Text 42"/>
          <p:cNvSpPr txBox="1"/>
          <p:nvPr/>
        </p:nvSpPr>
        <p:spPr>
          <a:xfrm>
            <a:off x="8240573" y="4248302"/>
            <a:ext cx="571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Diff</a:t>
            </a:r>
            <a:endParaRPr lang="en-US" sz="900" dirty="0"/>
          </a:p>
        </p:txBody>
      </p:sp>
      <p:pic>
        <p:nvPicPr>
          <p:cNvPr id="52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762695" y="4262018"/>
            <a:ext cx="114300" cy="114300"/>
          </a:xfrm>
          <a:prstGeom prst="rect">
            <a:avLst/>
          </a:prstGeom>
        </p:spPr>
      </p:pic>
      <p:sp>
        <p:nvSpPr>
          <p:cNvPr id="53" name="Text 43"/>
          <p:cNvSpPr txBox="1"/>
          <p:nvPr/>
        </p:nvSpPr>
        <p:spPr>
          <a:xfrm>
            <a:off x="6816852" y="4438498"/>
            <a:ext cx="21534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vs Production / Backfill tests</a:t>
            </a:r>
            <a:endParaRPr lang="en-US" sz="900" dirty="0"/>
          </a:p>
        </p:txBody>
      </p:sp>
      <p:sp>
        <p:nvSpPr>
          <p:cNvPr id="54" name="Text 44"/>
          <p:cNvSpPr txBox="1"/>
          <p:nvPr/>
        </p:nvSpPr>
        <p:spPr>
          <a:xfrm>
            <a:off x="11925605" y="6610198"/>
            <a:ext cx="2670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55" name="Shape 45"/>
          <p:cNvSpPr/>
          <p:nvPr/>
        </p:nvSpPr>
        <p:spPr>
          <a:xfrm>
            <a:off x="847649" y="2400300"/>
            <a:ext cx="1571854" cy="629107"/>
          </a:xfrm>
          <a:prstGeom prst="roundRect">
            <a:avLst>
              <a:gd name="adj" fmla="val 17618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555394" y="2523744"/>
            <a:ext cx="152705" cy="152705"/>
          </a:xfrm>
          <a:prstGeom prst="rect">
            <a:avLst/>
          </a:prstGeom>
        </p:spPr>
      </p:pic>
      <p:sp>
        <p:nvSpPr>
          <p:cNvPr id="57" name="Text 46"/>
          <p:cNvSpPr txBox="1"/>
          <p:nvPr/>
        </p:nvSpPr>
        <p:spPr>
          <a:xfrm>
            <a:off x="1261872" y="2752344"/>
            <a:ext cx="8293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 Source</a:t>
            </a:r>
            <a:endParaRPr lang="en-US" sz="900" dirty="0"/>
          </a:p>
        </p:txBody>
      </p:sp>
      <p:sp>
        <p:nvSpPr>
          <p:cNvPr id="58" name="Shape 47"/>
          <p:cNvSpPr/>
          <p:nvPr/>
        </p:nvSpPr>
        <p:spPr>
          <a:xfrm>
            <a:off x="847649" y="3267151"/>
            <a:ext cx="1571854" cy="629107"/>
          </a:xfrm>
          <a:prstGeom prst="roundRect">
            <a:avLst>
              <a:gd name="adj" fmla="val 17618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59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180" b="-180"/>
          <a:stretch/>
        </p:blipFill>
        <p:spPr>
          <a:xfrm>
            <a:off x="1537106" y="3390595"/>
            <a:ext cx="190195" cy="152705"/>
          </a:xfrm>
          <a:prstGeom prst="rect">
            <a:avLst/>
          </a:prstGeom>
        </p:spPr>
      </p:pic>
      <p:sp>
        <p:nvSpPr>
          <p:cNvPr id="60" name="Text 48"/>
          <p:cNvSpPr txBox="1"/>
          <p:nvPr/>
        </p:nvSpPr>
        <p:spPr>
          <a:xfrm>
            <a:off x="1406347" y="3619195"/>
            <a:ext cx="5431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</a:t>
            </a:r>
            <a:endParaRPr lang="en-US" sz="900" dirty="0"/>
          </a:p>
        </p:txBody>
      </p:sp>
      <p:sp>
        <p:nvSpPr>
          <p:cNvPr id="61" name="Shape 49"/>
          <p:cNvSpPr/>
          <p:nvPr/>
        </p:nvSpPr>
        <p:spPr>
          <a:xfrm>
            <a:off x="847649" y="4134002"/>
            <a:ext cx="1571854" cy="629107"/>
          </a:xfrm>
          <a:prstGeom prst="roundRect">
            <a:avLst>
              <a:gd name="adj" fmla="val 17618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62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43" b="-43"/>
          <a:stretch/>
        </p:blipFill>
        <p:spPr>
          <a:xfrm>
            <a:off x="1565453" y="4257446"/>
            <a:ext cx="133502" cy="152705"/>
          </a:xfrm>
          <a:prstGeom prst="rect">
            <a:avLst/>
          </a:prstGeom>
        </p:spPr>
      </p:pic>
      <p:sp>
        <p:nvSpPr>
          <p:cNvPr id="63" name="Text 50"/>
          <p:cNvSpPr txBox="1"/>
          <p:nvPr/>
        </p:nvSpPr>
        <p:spPr>
          <a:xfrm>
            <a:off x="1307592" y="4486046"/>
            <a:ext cx="7434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Sink (Delta)</a:t>
            </a:r>
            <a:endParaRPr lang="en-US" sz="900" dirty="0"/>
          </a:p>
        </p:txBody>
      </p:sp>
      <p:sp>
        <p:nvSpPr>
          <p:cNvPr id="64" name="Shape 51"/>
          <p:cNvSpPr/>
          <p:nvPr/>
        </p:nvSpPr>
        <p:spPr>
          <a:xfrm>
            <a:off x="9775850" y="2391156"/>
            <a:ext cx="1571854" cy="629107"/>
          </a:xfrm>
          <a:prstGeom prst="roundRect">
            <a:avLst>
              <a:gd name="adj" fmla="val 17618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65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100" b="-100"/>
          <a:stretch/>
        </p:blipFill>
        <p:spPr>
          <a:xfrm>
            <a:off x="10502798" y="2514600"/>
            <a:ext cx="114300" cy="152705"/>
          </a:xfrm>
          <a:prstGeom prst="rect">
            <a:avLst/>
          </a:prstGeom>
        </p:spPr>
      </p:pic>
      <p:sp>
        <p:nvSpPr>
          <p:cNvPr id="66" name="Text 52"/>
          <p:cNvSpPr txBox="1"/>
          <p:nvPr/>
        </p:nvSpPr>
        <p:spPr>
          <a:xfrm>
            <a:off x="10250424" y="2743200"/>
            <a:ext cx="7150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Source</a:t>
            </a:r>
            <a:endParaRPr lang="en-US" sz="900" dirty="0"/>
          </a:p>
        </p:txBody>
      </p:sp>
      <p:sp>
        <p:nvSpPr>
          <p:cNvPr id="67" name="Shape 53"/>
          <p:cNvSpPr/>
          <p:nvPr/>
        </p:nvSpPr>
        <p:spPr>
          <a:xfrm>
            <a:off x="9775850" y="3247949"/>
            <a:ext cx="1571854" cy="629107"/>
          </a:xfrm>
          <a:prstGeom prst="roundRect">
            <a:avLst>
              <a:gd name="adj" fmla="val 17618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68" name="Image 12" descr="preencoded.png">    </p:cNvPr>
          <p:cNvPicPr>
            <a:picLocks noChangeAspect="1"/>
          </p:cNvPicPr>
          <p:nvPr/>
        </p:nvPicPr>
        <p:blipFill>
          <a:blip r:embed="rId13"/>
          <a:srcRect l="-33" r="-33" t="0" b="0"/>
          <a:stretch/>
        </p:blipFill>
        <p:spPr>
          <a:xfrm>
            <a:off x="10474452" y="3372307"/>
            <a:ext cx="171907" cy="152705"/>
          </a:xfrm>
          <a:prstGeom prst="rect">
            <a:avLst/>
          </a:prstGeom>
        </p:spPr>
      </p:pic>
      <p:sp>
        <p:nvSpPr>
          <p:cNvPr id="69" name="Text 54"/>
          <p:cNvSpPr txBox="1"/>
          <p:nvPr/>
        </p:nvSpPr>
        <p:spPr>
          <a:xfrm>
            <a:off x="10269626" y="3600907"/>
            <a:ext cx="6766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</a:t>
            </a:r>
            <a:endParaRPr lang="en-US" sz="900" dirty="0"/>
          </a:p>
        </p:txBody>
      </p:sp>
      <p:sp>
        <p:nvSpPr>
          <p:cNvPr id="70" name="Shape 55"/>
          <p:cNvSpPr/>
          <p:nvPr/>
        </p:nvSpPr>
        <p:spPr>
          <a:xfrm>
            <a:off x="9775850" y="4105656"/>
            <a:ext cx="1571854" cy="629107"/>
          </a:xfrm>
          <a:prstGeom prst="roundRect">
            <a:avLst>
              <a:gd name="adj" fmla="val 17618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71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10483596" y="4229100"/>
            <a:ext cx="152705" cy="152705"/>
          </a:xfrm>
          <a:prstGeom prst="rect">
            <a:avLst/>
          </a:prstGeom>
        </p:spPr>
      </p:pic>
      <p:sp>
        <p:nvSpPr>
          <p:cNvPr id="72" name="Text 56"/>
          <p:cNvSpPr txBox="1"/>
          <p:nvPr/>
        </p:nvSpPr>
        <p:spPr>
          <a:xfrm>
            <a:off x="10213848" y="4457700"/>
            <a:ext cx="7818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Table</a:t>
            </a:r>
            <a:endParaRPr lang="en-US" sz="900" dirty="0"/>
          </a:p>
        </p:txBody>
      </p:sp>
      <p:sp>
        <p:nvSpPr>
          <p:cNvPr id="73" name="Shape 57"/>
          <p:cNvSpPr/>
          <p:nvPr/>
        </p:nvSpPr>
        <p:spPr>
          <a:xfrm>
            <a:off x="3096158" y="6324905"/>
            <a:ext cx="9144" cy="342900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74" name="Image 14" descr="preencoded.png">    </p:cNvPr>
          <p:cNvPicPr>
            <a:picLocks noChangeAspect="1"/>
          </p:cNvPicPr>
          <p:nvPr/>
        </p:nvPicPr>
        <p:blipFill>
          <a:blip r:embed="rId15"/>
          <a:srcRect l="-133" r="-133" t="0" b="0"/>
          <a:stretch/>
        </p:blipFill>
        <p:spPr>
          <a:xfrm>
            <a:off x="457200" y="6381598"/>
            <a:ext cx="171907" cy="228600"/>
          </a:xfrm>
          <a:prstGeom prst="rect">
            <a:avLst/>
          </a:prstGeom>
        </p:spPr>
      </p:pic>
      <p:sp>
        <p:nvSpPr>
          <p:cNvPr id="75" name="Shape 58"/>
          <p:cNvSpPr/>
          <p:nvPr/>
        </p:nvSpPr>
        <p:spPr>
          <a:xfrm>
            <a:off x="5972861" y="6324905"/>
            <a:ext cx="9144" cy="342900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76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-45" b="-45"/>
          <a:stretch/>
        </p:blipFill>
        <p:spPr>
          <a:xfrm>
            <a:off x="3333902" y="6381598"/>
            <a:ext cx="256946" cy="228600"/>
          </a:xfrm>
          <a:prstGeom prst="rect">
            <a:avLst/>
          </a:prstGeom>
        </p:spPr>
      </p:pic>
      <p:sp>
        <p:nvSpPr>
          <p:cNvPr id="77" name="Shape 59"/>
          <p:cNvSpPr/>
          <p:nvPr/>
        </p:nvSpPr>
        <p:spPr>
          <a:xfrm>
            <a:off x="8849563" y="6324905"/>
            <a:ext cx="9144" cy="342900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78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6210605" y="6381598"/>
            <a:ext cx="228600" cy="228600"/>
          </a:xfrm>
          <a:prstGeom prst="rect">
            <a:avLst/>
          </a:prstGeom>
        </p:spPr>
      </p:pic>
      <p:pic>
        <p:nvPicPr>
          <p:cNvPr id="79" name="Image 17" descr="preencoded.png">    </p:cNvPr>
          <p:cNvPicPr>
            <a:picLocks noChangeAspect="1"/>
          </p:cNvPicPr>
          <p:nvPr/>
        </p:nvPicPr>
        <p:blipFill>
          <a:blip r:embed="rId18"/>
          <a:srcRect l="-57" r="-57" t="0" b="0"/>
          <a:stretch/>
        </p:blipFill>
        <p:spPr>
          <a:xfrm>
            <a:off x="9087307" y="6381598"/>
            <a:ext cx="200254" cy="228600"/>
          </a:xfrm>
          <a:prstGeom prst="rect">
            <a:avLst/>
          </a:prstGeom>
        </p:spPr>
      </p:pic>
      <p:sp>
        <p:nvSpPr>
          <p:cNvPr id="80" name="Text 60"/>
          <p:cNvSpPr txBox="1"/>
          <p:nvPr/>
        </p:nvSpPr>
        <p:spPr>
          <a:xfrm>
            <a:off x="743407" y="6334049"/>
            <a:ext cx="10817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Contracts</a:t>
            </a:r>
            <a:endParaRPr lang="en-US" sz="1000" dirty="0"/>
          </a:p>
        </p:txBody>
      </p:sp>
      <p:sp>
        <p:nvSpPr>
          <p:cNvPr id="81" name="Text 61"/>
          <p:cNvSpPr txBox="1"/>
          <p:nvPr/>
        </p:nvSpPr>
        <p:spPr>
          <a:xfrm>
            <a:off x="743407" y="6515100"/>
            <a:ext cx="14859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&amp; SLO definitions</a:t>
            </a:r>
            <a:endParaRPr lang="en-US" sz="900" dirty="0"/>
          </a:p>
        </p:txBody>
      </p:sp>
      <p:sp>
        <p:nvSpPr>
          <p:cNvPr id="82" name="Text 62"/>
          <p:cNvSpPr txBox="1"/>
          <p:nvPr/>
        </p:nvSpPr>
        <p:spPr>
          <a:xfrm>
            <a:off x="3705149" y="6334049"/>
            <a:ext cx="6245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Lineage</a:t>
            </a:r>
            <a:endParaRPr lang="en-US" sz="1000" dirty="0"/>
          </a:p>
        </p:txBody>
      </p:sp>
      <p:sp>
        <p:nvSpPr>
          <p:cNvPr id="83" name="Text 63"/>
          <p:cNvSpPr txBox="1"/>
          <p:nvPr/>
        </p:nvSpPr>
        <p:spPr>
          <a:xfrm>
            <a:off x="3705149" y="6515100"/>
            <a:ext cx="14575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Unity Catalog traceability</a:t>
            </a:r>
            <a:endParaRPr lang="en-US" sz="900" dirty="0"/>
          </a:p>
        </p:txBody>
      </p:sp>
      <p:sp>
        <p:nvSpPr>
          <p:cNvPr id="84" name="Text 64"/>
          <p:cNvSpPr txBox="1"/>
          <p:nvPr/>
        </p:nvSpPr>
        <p:spPr>
          <a:xfrm>
            <a:off x="6553505" y="6334049"/>
            <a:ext cx="8622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Travel</a:t>
            </a:r>
            <a:endParaRPr lang="en-US" sz="1000" dirty="0"/>
          </a:p>
        </p:txBody>
      </p:sp>
      <p:sp>
        <p:nvSpPr>
          <p:cNvPr id="85" name="Text 65"/>
          <p:cNvSpPr txBox="1"/>
          <p:nvPr/>
        </p:nvSpPr>
        <p:spPr>
          <a:xfrm>
            <a:off x="6553505" y="6515100"/>
            <a:ext cx="13908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Delta History &amp; Rollback</a:t>
            </a:r>
            <a:endParaRPr lang="en-US" sz="900" dirty="0"/>
          </a:p>
        </p:txBody>
      </p:sp>
      <p:sp>
        <p:nvSpPr>
          <p:cNvPr id="86" name="Text 66"/>
          <p:cNvSpPr txBox="1"/>
          <p:nvPr/>
        </p:nvSpPr>
        <p:spPr>
          <a:xfrm>
            <a:off x="9400946" y="6334049"/>
            <a:ext cx="6336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Alerting</a:t>
            </a:r>
            <a:endParaRPr lang="en-US" sz="1000" dirty="0"/>
          </a:p>
        </p:txBody>
      </p:sp>
      <p:sp>
        <p:nvSpPr>
          <p:cNvPr id="87" name="Text 67"/>
          <p:cNvSpPr txBox="1"/>
          <p:nvPr/>
        </p:nvSpPr>
        <p:spPr>
          <a:xfrm>
            <a:off x="9400946" y="6515100"/>
            <a:ext cx="16669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PagerDuty / Slack integration</a:t>
            </a:r>
            <a:endParaRPr lang="en-US" sz="900" dirty="0"/>
          </a:p>
        </p:txBody>
      </p:sp>
      <p:sp>
        <p:nvSpPr>
          <p:cNvPr id="88" name="Shape 68"/>
          <p:cNvSpPr/>
          <p:nvPr/>
        </p:nvSpPr>
        <p:spPr>
          <a:xfrm>
            <a:off x="4732934" y="6019495"/>
            <a:ext cx="2734056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9" name="Text 69"/>
          <p:cNvSpPr txBox="1"/>
          <p:nvPr/>
        </p:nvSpPr>
        <p:spPr>
          <a:xfrm>
            <a:off x="4884725" y="6067044"/>
            <a:ext cx="25146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GOVERNANCE FOUNDATION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52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43000"/>
            <a:ext cx="12191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342900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476402"/>
            <a:ext cx="237744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67105" y="304495"/>
            <a:ext cx="11430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HANDS-ON LAB 1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067105" y="495605"/>
            <a:ext cx="485363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DLT Expectations &amp; Quality Gates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0627157" y="390449"/>
            <a:ext cx="1114654" cy="362102"/>
          </a:xfrm>
          <a:prstGeom prst="roundRect">
            <a:avLst>
              <a:gd name="adj" fmla="val 252526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789006" y="495605"/>
            <a:ext cx="152705" cy="15270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056010" y="485546"/>
            <a:ext cx="6245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 Mins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04495" y="1457554"/>
            <a:ext cx="2324405" cy="3495751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43154" y="1962302"/>
            <a:ext cx="1848002" cy="9144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-3425" r="-3425" t="0" b="0"/>
          <a:stretch/>
        </p:blipFill>
        <p:spPr>
          <a:xfrm>
            <a:off x="543154" y="1721815"/>
            <a:ext cx="142646" cy="13350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61695" y="1705356"/>
            <a:ext cx="12335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PREREQUISITES</a:t>
            </a:r>
            <a:endParaRPr lang="en-US" sz="1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43154" y="2162556"/>
            <a:ext cx="133502" cy="13350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90956" y="2133295"/>
            <a:ext cx="15672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Databricks Workspace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790956" y="2352751"/>
            <a:ext cx="112471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to create clusters/notebooks</a:t>
            </a:r>
            <a:endParaRPr lang="en-US" sz="9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43154" y="2848356"/>
            <a:ext cx="133502" cy="13350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90956" y="2819095"/>
            <a:ext cx="976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Unity Catalog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790956" y="3038551"/>
            <a:ext cx="13341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Metastore privileges to create schema</a:t>
            </a:r>
            <a:endParaRPr lang="en-US" sz="9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43154" y="3534156"/>
            <a:ext cx="133502" cy="13350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790956" y="3504895"/>
            <a:ext cx="8906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Data</a:t>
            </a:r>
            <a:endParaRPr lang="en-US" sz="1000" dirty="0"/>
          </a:p>
        </p:txBody>
      </p:sp>
      <p:sp>
        <p:nvSpPr>
          <p:cNvPr id="25" name="Text 17"/>
          <p:cNvSpPr txBox="1"/>
          <p:nvPr/>
        </p:nvSpPr>
        <p:spPr>
          <a:xfrm>
            <a:off x="790956" y="3724351"/>
            <a:ext cx="126735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JSON dataset mounted/available</a:t>
            </a:r>
            <a:endParaRPr lang="en-US" sz="9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43154" y="4219956"/>
            <a:ext cx="133502" cy="133502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790956" y="4190695"/>
            <a:ext cx="6912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</a:t>
            </a:r>
            <a:endParaRPr lang="en-US" sz="1000" dirty="0"/>
          </a:p>
        </p:txBody>
      </p:sp>
      <p:sp>
        <p:nvSpPr>
          <p:cNvPr id="28" name="Text 19"/>
          <p:cNvSpPr txBox="1"/>
          <p:nvPr/>
        </p:nvSpPr>
        <p:spPr>
          <a:xfrm>
            <a:off x="790956" y="4410151"/>
            <a:ext cx="15627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Single-node cluster for dev testing</a:t>
            </a:r>
            <a:endParaRPr lang="en-US" sz="900" dirty="0"/>
          </a:p>
        </p:txBody>
      </p:sp>
      <p:sp>
        <p:nvSpPr>
          <p:cNvPr id="29" name="Shape 20"/>
          <p:cNvSpPr/>
          <p:nvPr/>
        </p:nvSpPr>
        <p:spPr>
          <a:xfrm>
            <a:off x="304495" y="5181905"/>
            <a:ext cx="2324405" cy="1371600"/>
          </a:xfrm>
          <a:prstGeom prst="roundRect">
            <a:avLst>
              <a:gd name="adj" fmla="val 5556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00" b="-100"/>
          <a:stretch/>
        </p:blipFill>
        <p:spPr>
          <a:xfrm>
            <a:off x="504749" y="5381244"/>
            <a:ext cx="114300" cy="152705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694944" y="5381244"/>
            <a:ext cx="5340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 TIP</a:t>
            </a:r>
            <a:endParaRPr lang="en-US" sz="900" dirty="0"/>
          </a:p>
        </p:txBody>
      </p:sp>
      <p:sp>
        <p:nvSpPr>
          <p:cNvPr id="32" name="Text 22"/>
          <p:cNvSpPr txBox="1"/>
          <p:nvPr/>
        </p:nvSpPr>
        <p:spPr>
          <a:xfrm>
            <a:off x="504749" y="5629046"/>
            <a:ext cx="1924812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"Development" mode in DLT to keep your cluster running and avoid restart overhead during debugging.</a:t>
            </a:r>
            <a:endParaRPr lang="en-US" sz="900" dirty="0"/>
          </a:p>
        </p:txBody>
      </p:sp>
      <p:sp>
        <p:nvSpPr>
          <p:cNvPr id="33" name="Shape 23"/>
          <p:cNvSpPr/>
          <p:nvPr/>
        </p:nvSpPr>
        <p:spPr>
          <a:xfrm>
            <a:off x="2926080" y="1457554"/>
            <a:ext cx="5762549" cy="5095951"/>
          </a:xfrm>
          <a:prstGeom prst="roundRect">
            <a:avLst>
              <a:gd name="adj" fmla="val 40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4" name="Text 24"/>
          <p:cNvSpPr txBox="1"/>
          <p:nvPr/>
        </p:nvSpPr>
        <p:spPr>
          <a:xfrm>
            <a:off x="3240634" y="1800454"/>
            <a:ext cx="15581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Walkthrough</a:t>
            </a:r>
            <a:endParaRPr lang="en-US" sz="1300" dirty="0"/>
          </a:p>
        </p:txBody>
      </p:sp>
      <p:sp>
        <p:nvSpPr>
          <p:cNvPr id="35" name="Shape 25"/>
          <p:cNvSpPr/>
          <p:nvPr/>
        </p:nvSpPr>
        <p:spPr>
          <a:xfrm>
            <a:off x="3469234" y="2648102"/>
            <a:ext cx="19202" cy="621060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26"/>
          <p:cNvSpPr txBox="1"/>
          <p:nvPr/>
        </p:nvSpPr>
        <p:spPr>
          <a:xfrm>
            <a:off x="4078224" y="2324405"/>
            <a:ext cx="21342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Initialize Catalog &amp; Schema</a:t>
            </a:r>
            <a:endParaRPr lang="en-US" sz="1200" dirty="0"/>
          </a:p>
        </p:txBody>
      </p:sp>
      <p:sp>
        <p:nvSpPr>
          <p:cNvPr id="37" name="Text 27"/>
          <p:cNvSpPr txBox="1"/>
          <p:nvPr/>
        </p:nvSpPr>
        <p:spPr>
          <a:xfrm>
            <a:off x="4078224" y="2628900"/>
            <a:ext cx="415777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 dedicated schema for the lab in Unity Catalog to isolate your quality tests.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4078224" y="3157423"/>
            <a:ext cx="4295851" cy="400507"/>
          </a:xfrm>
          <a:prstGeom prst="roundRect">
            <a:avLst>
              <a:gd name="adj" fmla="val 32616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29"/>
          <p:cNvSpPr txBox="1"/>
          <p:nvPr/>
        </p:nvSpPr>
        <p:spPr>
          <a:xfrm>
            <a:off x="4202582" y="3290926"/>
            <a:ext cx="26956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CREATE SCHEMA IF NOT EXISTS lab_qe_v1;</a:t>
            </a:r>
            <a:endParaRPr lang="en-US" sz="900" dirty="0"/>
          </a:p>
        </p:txBody>
      </p:sp>
      <p:sp>
        <p:nvSpPr>
          <p:cNvPr id="40" name="Text 30"/>
          <p:cNvSpPr txBox="1"/>
          <p:nvPr/>
        </p:nvSpPr>
        <p:spPr>
          <a:xfrm>
            <a:off x="4078224" y="3919118"/>
            <a:ext cx="18864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 with Auto Loader</a:t>
            </a:r>
            <a:endParaRPr lang="en-US" sz="1200" dirty="0"/>
          </a:p>
        </p:txBody>
      </p:sp>
      <p:sp>
        <p:nvSpPr>
          <p:cNvPr id="41" name="Text 31"/>
          <p:cNvSpPr txBox="1"/>
          <p:nvPr/>
        </p:nvSpPr>
        <p:spPr>
          <a:xfrm>
            <a:off x="4078224" y="4224528"/>
            <a:ext cx="412028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up a streaming ingestion pipeline using cloud_files to detect new data arrival automatically.</a:t>
            </a:r>
            <a:endParaRPr lang="en-US" sz="1000" dirty="0"/>
          </a:p>
        </p:txBody>
      </p:sp>
      <p:sp>
        <p:nvSpPr>
          <p:cNvPr id="42" name="Text 32"/>
          <p:cNvSpPr txBox="1"/>
          <p:nvPr/>
        </p:nvSpPr>
        <p:spPr>
          <a:xfrm>
            <a:off x="4078224" y="5115154"/>
            <a:ext cx="19431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DLT Expectations</a:t>
            </a:r>
            <a:endParaRPr lang="en-US" sz="1200" dirty="0"/>
          </a:p>
        </p:txBody>
      </p:sp>
      <p:sp>
        <p:nvSpPr>
          <p:cNvPr id="43" name="Text 33"/>
          <p:cNvSpPr txBox="1"/>
          <p:nvPr/>
        </p:nvSpPr>
        <p:spPr>
          <a:xfrm>
            <a:off x="4078224" y="5419649"/>
            <a:ext cx="435803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quality constraints directly in the pipeline definition. Focus on completeness and domain validity.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4078224" y="5948172"/>
            <a:ext cx="4295851" cy="780898"/>
          </a:xfrm>
          <a:prstGeom prst="roundRect">
            <a:avLst>
              <a:gd name="adj" fmla="val 856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35"/>
          <p:cNvSpPr txBox="1"/>
          <p:nvPr/>
        </p:nvSpPr>
        <p:spPr>
          <a:xfrm>
            <a:off x="4240073" y="6157570"/>
            <a:ext cx="34482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@dlt.expect_or_drop("valid_id", "id IS NOT NULL") @dlt.expect("positive_amt", "amount &gt; 0")</a:t>
            </a:r>
            <a:endParaRPr lang="en-US" sz="900" dirty="0"/>
          </a:p>
        </p:txBody>
      </p:sp>
      <p:sp>
        <p:nvSpPr>
          <p:cNvPr id="46" name="Text 36"/>
          <p:cNvSpPr txBox="1"/>
          <p:nvPr/>
        </p:nvSpPr>
        <p:spPr>
          <a:xfrm>
            <a:off x="4078224" y="7091172"/>
            <a:ext cx="21717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Configure Quarantine Logic</a:t>
            </a:r>
            <a:endParaRPr lang="en-US" sz="1200" dirty="0"/>
          </a:p>
        </p:txBody>
      </p:sp>
      <p:sp>
        <p:nvSpPr>
          <p:cNvPr id="47" name="Text 37"/>
          <p:cNvSpPr txBox="1"/>
          <p:nvPr/>
        </p:nvSpPr>
        <p:spPr>
          <a:xfrm>
            <a:off x="4078224" y="7396582"/>
            <a:ext cx="395843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 failing records to a separate error table for remediation instead of dropping them entirely.</a:t>
            </a:r>
            <a:endParaRPr lang="en-US" sz="1000" dirty="0"/>
          </a:p>
        </p:txBody>
      </p:sp>
      <p:sp>
        <p:nvSpPr>
          <p:cNvPr id="48" name="Text 38"/>
          <p:cNvSpPr txBox="1"/>
          <p:nvPr/>
        </p:nvSpPr>
        <p:spPr>
          <a:xfrm>
            <a:off x="4078224" y="8248802"/>
            <a:ext cx="21241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 Alerts &amp; Event Log</a:t>
            </a:r>
            <a:endParaRPr lang="en-US" sz="1200" dirty="0"/>
          </a:p>
        </p:txBody>
      </p:sp>
      <p:sp>
        <p:nvSpPr>
          <p:cNvPr id="49" name="Text 39"/>
          <p:cNvSpPr txBox="1"/>
          <p:nvPr/>
        </p:nvSpPr>
        <p:spPr>
          <a:xfrm>
            <a:off x="4078224" y="8553298"/>
            <a:ext cx="431962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 the DLT event log to see how many records passed vs failed expectations.</a:t>
            </a:r>
            <a:endParaRPr lang="en-US" sz="1000" dirty="0"/>
          </a:p>
        </p:txBody>
      </p:sp>
      <p:sp>
        <p:nvSpPr>
          <p:cNvPr id="50" name="Shape 40"/>
          <p:cNvSpPr/>
          <p:nvPr/>
        </p:nvSpPr>
        <p:spPr>
          <a:xfrm>
            <a:off x="8991295" y="1457554"/>
            <a:ext cx="2895905" cy="2352751"/>
          </a:xfrm>
          <a:prstGeom prst="roundRect">
            <a:avLst>
              <a:gd name="adj" fmla="val 188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1" name="Shape 41"/>
          <p:cNvSpPr/>
          <p:nvPr/>
        </p:nvSpPr>
        <p:spPr>
          <a:xfrm>
            <a:off x="9229954" y="1962302"/>
            <a:ext cx="2419502" cy="9144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52" name="Image 8" descr="preencoded.png">    </p:cNvPr>
          <p:cNvPicPr>
            <a:picLocks noChangeAspect="1"/>
          </p:cNvPicPr>
          <p:nvPr/>
        </p:nvPicPr>
        <p:blipFill>
          <a:blip r:embed="rId9"/>
          <a:srcRect l="-837" r="-837" t="0" b="0"/>
          <a:stretch/>
        </p:blipFill>
        <p:spPr>
          <a:xfrm>
            <a:off x="9229954" y="1721815"/>
            <a:ext cx="152705" cy="133502"/>
          </a:xfrm>
          <a:prstGeom prst="rect">
            <a:avLst/>
          </a:prstGeom>
        </p:spPr>
      </p:pic>
      <p:sp>
        <p:nvSpPr>
          <p:cNvPr id="53" name="Text 42"/>
          <p:cNvSpPr txBox="1"/>
          <p:nvPr/>
        </p:nvSpPr>
        <p:spPr>
          <a:xfrm>
            <a:off x="9458554" y="1705356"/>
            <a:ext cx="15005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 CRITERIA</a:t>
            </a:r>
            <a:endParaRPr lang="en-US" sz="1000" dirty="0"/>
          </a:p>
        </p:txBody>
      </p:sp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43" b="-43"/>
          <a:stretch/>
        </p:blipFill>
        <p:spPr>
          <a:xfrm>
            <a:off x="9229954" y="2162556"/>
            <a:ext cx="133502" cy="152705"/>
          </a:xfrm>
          <a:prstGeom prst="rect">
            <a:avLst/>
          </a:prstGeom>
        </p:spPr>
      </p:pic>
      <p:sp>
        <p:nvSpPr>
          <p:cNvPr id="55" name="Text 43"/>
          <p:cNvSpPr txBox="1"/>
          <p:nvPr/>
        </p:nvSpPr>
        <p:spPr>
          <a:xfrm>
            <a:off x="9477756" y="2133295"/>
            <a:ext cx="1890979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runs successfully in "Continuous" mode.</a:t>
            </a:r>
            <a:endParaRPr lang="en-US" sz="1000" dirty="0"/>
          </a:p>
        </p:txBody>
      </p:sp>
      <p:pic>
        <p:nvPicPr>
          <p:cNvPr id="56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43" b="-43"/>
          <a:stretch/>
        </p:blipFill>
        <p:spPr>
          <a:xfrm>
            <a:off x="9229954" y="2695651"/>
            <a:ext cx="133502" cy="152705"/>
          </a:xfrm>
          <a:prstGeom prst="rect">
            <a:avLst/>
          </a:prstGeom>
        </p:spPr>
      </p:pic>
      <p:sp>
        <p:nvSpPr>
          <p:cNvPr id="57" name="Text 44"/>
          <p:cNvSpPr txBox="1"/>
          <p:nvPr/>
        </p:nvSpPr>
        <p:spPr>
          <a:xfrm>
            <a:off x="9477756" y="2667305"/>
            <a:ext cx="1748333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Bad data is successfully quarantined to error table.</a:t>
            </a:r>
            <a:endParaRPr lang="en-US" sz="1000" dirty="0"/>
          </a:p>
        </p:txBody>
      </p:sp>
      <p:pic>
        <p:nvPicPr>
          <p:cNvPr id="58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43" b="-43"/>
          <a:stretch/>
        </p:blipFill>
        <p:spPr>
          <a:xfrm>
            <a:off x="9229954" y="3228746"/>
            <a:ext cx="133502" cy="152705"/>
          </a:xfrm>
          <a:prstGeom prst="rect">
            <a:avLst/>
          </a:prstGeom>
        </p:spPr>
      </p:pic>
      <p:sp>
        <p:nvSpPr>
          <p:cNvPr id="59" name="Text 45"/>
          <p:cNvSpPr txBox="1"/>
          <p:nvPr/>
        </p:nvSpPr>
        <p:spPr>
          <a:xfrm>
            <a:off x="9477756" y="3200400"/>
            <a:ext cx="216712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 log query returns accurate pass/fail counts.</a:t>
            </a:r>
            <a:endParaRPr lang="en-US" sz="1000" dirty="0"/>
          </a:p>
        </p:txBody>
      </p:sp>
      <p:sp>
        <p:nvSpPr>
          <p:cNvPr id="60" name="Shape 46"/>
          <p:cNvSpPr/>
          <p:nvPr/>
        </p:nvSpPr>
        <p:spPr>
          <a:xfrm>
            <a:off x="8991295" y="4038905"/>
            <a:ext cx="2895905" cy="2619756"/>
          </a:xfrm>
          <a:prstGeom prst="roundRect">
            <a:avLst>
              <a:gd name="adj" fmla="val 152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61" name="Shape 47"/>
          <p:cNvSpPr/>
          <p:nvPr/>
        </p:nvSpPr>
        <p:spPr>
          <a:xfrm>
            <a:off x="9229954" y="4543654"/>
            <a:ext cx="2419502" cy="9144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62" name="Image 12" descr="preencoded.png">    </p:cNvPr>
          <p:cNvPicPr>
            <a:picLocks noChangeAspect="1"/>
          </p:cNvPicPr>
          <p:nvPr/>
        </p:nvPicPr>
        <p:blipFill>
          <a:blip r:embed="rId13"/>
          <a:srcRect l="-837" r="-837" t="0" b="0"/>
          <a:stretch/>
        </p:blipFill>
        <p:spPr>
          <a:xfrm>
            <a:off x="9229954" y="4303166"/>
            <a:ext cx="152705" cy="133502"/>
          </a:xfrm>
          <a:prstGeom prst="rect">
            <a:avLst/>
          </a:prstGeom>
        </p:spPr>
      </p:pic>
      <p:sp>
        <p:nvSpPr>
          <p:cNvPr id="63" name="Text 48"/>
          <p:cNvSpPr txBox="1"/>
          <p:nvPr/>
        </p:nvSpPr>
        <p:spPr>
          <a:xfrm>
            <a:off x="9458554" y="4286707"/>
            <a:ext cx="9098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ARTIFACTS</a:t>
            </a:r>
            <a:endParaRPr lang="en-US" sz="1000" dirty="0"/>
          </a:p>
        </p:txBody>
      </p:sp>
      <p:sp>
        <p:nvSpPr>
          <p:cNvPr id="64" name="Shape 49"/>
          <p:cNvSpPr/>
          <p:nvPr/>
        </p:nvSpPr>
        <p:spPr>
          <a:xfrm>
            <a:off x="9229954" y="4705502"/>
            <a:ext cx="2419502" cy="495605"/>
          </a:xfrm>
          <a:prstGeom prst="roundRect">
            <a:avLst>
              <a:gd name="adj" fmla="val 28385"/>
            </a:avLst>
          </a:prstGeom>
          <a:solidFill>
            <a:srgbClr val="F9FAFB"/>
          </a:solidFill>
          <a:ln/>
        </p:spPr>
      </p:sp>
      <p:pic>
        <p:nvPicPr>
          <p:cNvPr id="65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100" b="-100"/>
          <a:stretch/>
        </p:blipFill>
        <p:spPr>
          <a:xfrm>
            <a:off x="9305849" y="4876495"/>
            <a:ext cx="114300" cy="152705"/>
          </a:xfrm>
          <a:prstGeom prst="rect">
            <a:avLst/>
          </a:prstGeom>
        </p:spPr>
      </p:pic>
      <p:sp>
        <p:nvSpPr>
          <p:cNvPr id="66" name="Text 50"/>
          <p:cNvSpPr txBox="1"/>
          <p:nvPr/>
        </p:nvSpPr>
        <p:spPr>
          <a:xfrm>
            <a:off x="9534449" y="4791456"/>
            <a:ext cx="9290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lab_01_dlt.py</a:t>
            </a:r>
            <a:endParaRPr lang="en-US" sz="1000" dirty="0"/>
          </a:p>
        </p:txBody>
      </p:sp>
      <p:sp>
        <p:nvSpPr>
          <p:cNvPr id="67" name="Text 51"/>
          <p:cNvSpPr txBox="1"/>
          <p:nvPr/>
        </p:nvSpPr>
        <p:spPr>
          <a:xfrm>
            <a:off x="9534449" y="4972507"/>
            <a:ext cx="10287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Notebook</a:t>
            </a:r>
            <a:endParaRPr lang="en-US" sz="900" dirty="0"/>
          </a:p>
        </p:txBody>
      </p:sp>
      <p:sp>
        <p:nvSpPr>
          <p:cNvPr id="68" name="Shape 52"/>
          <p:cNvSpPr/>
          <p:nvPr/>
        </p:nvSpPr>
        <p:spPr>
          <a:xfrm>
            <a:off x="9229954" y="5315407"/>
            <a:ext cx="2419502" cy="495605"/>
          </a:xfrm>
          <a:prstGeom prst="roundRect">
            <a:avLst>
              <a:gd name="adj" fmla="val 28385"/>
            </a:avLst>
          </a:prstGeom>
          <a:solidFill>
            <a:srgbClr val="F9FAFB"/>
          </a:solidFill>
          <a:ln/>
        </p:spPr>
      </p:sp>
      <p:pic>
        <p:nvPicPr>
          <p:cNvPr id="69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-43" b="-43"/>
          <a:stretch/>
        </p:blipFill>
        <p:spPr>
          <a:xfrm>
            <a:off x="9305849" y="5486400"/>
            <a:ext cx="133502" cy="152705"/>
          </a:xfrm>
          <a:prstGeom prst="rect">
            <a:avLst/>
          </a:prstGeom>
        </p:spPr>
      </p:pic>
      <p:sp>
        <p:nvSpPr>
          <p:cNvPr id="70" name="Text 53"/>
          <p:cNvSpPr txBox="1"/>
          <p:nvPr/>
        </p:nvSpPr>
        <p:spPr>
          <a:xfrm>
            <a:off x="9553651" y="5400446"/>
            <a:ext cx="12335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sample_data.json</a:t>
            </a:r>
            <a:endParaRPr lang="en-US" sz="1000" dirty="0"/>
          </a:p>
        </p:txBody>
      </p:sp>
      <p:sp>
        <p:nvSpPr>
          <p:cNvPr id="71" name="Text 54"/>
          <p:cNvSpPr txBox="1"/>
          <p:nvPr/>
        </p:nvSpPr>
        <p:spPr>
          <a:xfrm>
            <a:off x="9553651" y="5581498"/>
            <a:ext cx="5056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</a:t>
            </a:r>
            <a:endParaRPr lang="en-US" sz="900" dirty="0"/>
          </a:p>
        </p:txBody>
      </p:sp>
      <p:sp>
        <p:nvSpPr>
          <p:cNvPr id="72" name="Shape 55"/>
          <p:cNvSpPr/>
          <p:nvPr/>
        </p:nvSpPr>
        <p:spPr>
          <a:xfrm>
            <a:off x="9229954" y="5924398"/>
            <a:ext cx="2419502" cy="495605"/>
          </a:xfrm>
          <a:prstGeom prst="roundRect">
            <a:avLst>
              <a:gd name="adj" fmla="val 28385"/>
            </a:avLst>
          </a:prstGeom>
          <a:solidFill>
            <a:srgbClr val="F9FAFB"/>
          </a:solidFill>
          <a:ln/>
        </p:spPr>
      </p:sp>
      <p:pic>
        <p:nvPicPr>
          <p:cNvPr id="73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-43" b="-43"/>
          <a:stretch/>
        </p:blipFill>
        <p:spPr>
          <a:xfrm>
            <a:off x="9305849" y="6096305"/>
            <a:ext cx="133502" cy="152705"/>
          </a:xfrm>
          <a:prstGeom prst="rect">
            <a:avLst/>
          </a:prstGeom>
        </p:spPr>
      </p:pic>
      <p:sp>
        <p:nvSpPr>
          <p:cNvPr id="74" name="Text 56"/>
          <p:cNvSpPr txBox="1"/>
          <p:nvPr/>
        </p:nvSpPr>
        <p:spPr>
          <a:xfrm>
            <a:off x="9553651" y="6010351"/>
            <a:ext cx="9198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Runbook.md</a:t>
            </a:r>
            <a:endParaRPr lang="en-US" sz="1000" dirty="0"/>
          </a:p>
        </p:txBody>
      </p:sp>
      <p:sp>
        <p:nvSpPr>
          <p:cNvPr id="75" name="Text 57"/>
          <p:cNvSpPr txBox="1"/>
          <p:nvPr/>
        </p:nvSpPr>
        <p:spPr>
          <a:xfrm>
            <a:off x="9553651" y="6191402"/>
            <a:ext cx="7242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Instructions</a:t>
            </a:r>
            <a:endParaRPr lang="en-US" sz="900" dirty="0"/>
          </a:p>
        </p:txBody>
      </p:sp>
      <p:sp>
        <p:nvSpPr>
          <p:cNvPr id="76" name="Text 58"/>
          <p:cNvSpPr txBox="1"/>
          <p:nvPr/>
        </p:nvSpPr>
        <p:spPr>
          <a:xfrm>
            <a:off x="9963302" y="6553505"/>
            <a:ext cx="18196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— Training Material</a:t>
            </a:r>
            <a:endParaRPr lang="en-US" sz="900" dirty="0"/>
          </a:p>
        </p:txBody>
      </p:sp>
      <p:sp>
        <p:nvSpPr>
          <p:cNvPr id="77" name="Text 59"/>
          <p:cNvSpPr txBox="1"/>
          <p:nvPr/>
        </p:nvSpPr>
        <p:spPr>
          <a:xfrm>
            <a:off x="11846052" y="6553505"/>
            <a:ext cx="2103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900" dirty="0"/>
          </a:p>
        </p:txBody>
      </p:sp>
      <p:sp>
        <p:nvSpPr>
          <p:cNvPr id="78" name="Shape 60"/>
          <p:cNvSpPr/>
          <p:nvPr/>
        </p:nvSpPr>
        <p:spPr>
          <a:xfrm>
            <a:off x="3392424" y="2266798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FFFF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79" name="Text 61"/>
          <p:cNvSpPr txBox="1"/>
          <p:nvPr/>
        </p:nvSpPr>
        <p:spPr>
          <a:xfrm>
            <a:off x="3584448" y="2361895"/>
            <a:ext cx="20482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80" name="Shape 62"/>
          <p:cNvSpPr/>
          <p:nvPr/>
        </p:nvSpPr>
        <p:spPr>
          <a:xfrm>
            <a:off x="3392424" y="3862426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FFFF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81" name="Text 63"/>
          <p:cNvSpPr txBox="1"/>
          <p:nvPr/>
        </p:nvSpPr>
        <p:spPr>
          <a:xfrm>
            <a:off x="3567074" y="3957523"/>
            <a:ext cx="24323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82" name="Shape 64"/>
          <p:cNvSpPr/>
          <p:nvPr/>
        </p:nvSpPr>
        <p:spPr>
          <a:xfrm>
            <a:off x="3392424" y="5057546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FFFF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83" name="Text 65"/>
          <p:cNvSpPr txBox="1"/>
          <p:nvPr/>
        </p:nvSpPr>
        <p:spPr>
          <a:xfrm>
            <a:off x="3566160" y="5152644"/>
            <a:ext cx="24323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84" name="Shape 66"/>
          <p:cNvSpPr/>
          <p:nvPr/>
        </p:nvSpPr>
        <p:spPr>
          <a:xfrm>
            <a:off x="3392424" y="7034479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FFFF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85" name="Text 67"/>
          <p:cNvSpPr txBox="1"/>
          <p:nvPr/>
        </p:nvSpPr>
        <p:spPr>
          <a:xfrm>
            <a:off x="3563417" y="7129577"/>
            <a:ext cx="25328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86" name="Shape 68"/>
          <p:cNvSpPr/>
          <p:nvPr/>
        </p:nvSpPr>
        <p:spPr>
          <a:xfrm>
            <a:off x="3392424" y="8191195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FFFF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87" name="Text 69"/>
          <p:cNvSpPr txBox="1"/>
          <p:nvPr/>
        </p:nvSpPr>
        <p:spPr>
          <a:xfrm>
            <a:off x="3567989" y="8287207"/>
            <a:ext cx="24323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52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43000"/>
            <a:ext cx="12191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342900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476402"/>
            <a:ext cx="237744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67105" y="304495"/>
            <a:ext cx="11622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HANDS-ON LAB 2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067105" y="495605"/>
            <a:ext cx="53583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Delta Constraints &amp; Workflows Gates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0627157" y="390449"/>
            <a:ext cx="1114654" cy="362102"/>
          </a:xfrm>
          <a:prstGeom prst="roundRect">
            <a:avLst>
              <a:gd name="adj" fmla="val 252526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789006" y="495605"/>
            <a:ext cx="152705" cy="15270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056010" y="485546"/>
            <a:ext cx="6245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 Mins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04495" y="1457554"/>
            <a:ext cx="2324405" cy="3495751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43154" y="1962302"/>
            <a:ext cx="1848002" cy="9144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-3425" r="-3425" t="0" b="0"/>
          <a:stretch/>
        </p:blipFill>
        <p:spPr>
          <a:xfrm>
            <a:off x="543154" y="1721815"/>
            <a:ext cx="142646" cy="13350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61695" y="1705356"/>
            <a:ext cx="12335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PREREQUISITES</a:t>
            </a:r>
            <a:endParaRPr lang="en-US" sz="1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43154" y="2162556"/>
            <a:ext cx="133502" cy="13350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90956" y="2133295"/>
            <a:ext cx="11676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1 Completed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790956" y="2352751"/>
            <a:ext cx="116220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tables created previously</a:t>
            </a:r>
            <a:endParaRPr lang="en-US" sz="9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43154" y="2848356"/>
            <a:ext cx="133502" cy="13350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90956" y="2819095"/>
            <a:ext cx="15288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Databricks Workflows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790956" y="3038551"/>
            <a:ext cx="12006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to create job definitions</a:t>
            </a:r>
            <a:endParaRPr lang="en-US" sz="9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43154" y="3534156"/>
            <a:ext cx="133502" cy="13350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790956" y="3504895"/>
            <a:ext cx="11384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Warehouse</a:t>
            </a:r>
            <a:endParaRPr lang="en-US" sz="1000" dirty="0"/>
          </a:p>
        </p:txBody>
      </p:sp>
      <p:sp>
        <p:nvSpPr>
          <p:cNvPr id="25" name="Text 17"/>
          <p:cNvSpPr txBox="1"/>
          <p:nvPr/>
        </p:nvSpPr>
        <p:spPr>
          <a:xfrm>
            <a:off x="790956" y="3724351"/>
            <a:ext cx="13057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 All-Purpose Cluster</a:t>
            </a:r>
            <a:endParaRPr lang="en-US" sz="9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43154" y="4067251"/>
            <a:ext cx="133502" cy="133502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790956" y="4038905"/>
            <a:ext cx="13295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Repo (Optional)</a:t>
            </a:r>
            <a:endParaRPr lang="en-US" sz="1000" dirty="0"/>
          </a:p>
        </p:txBody>
      </p:sp>
      <p:sp>
        <p:nvSpPr>
          <p:cNvPr id="28" name="Text 19"/>
          <p:cNvSpPr txBox="1"/>
          <p:nvPr/>
        </p:nvSpPr>
        <p:spPr>
          <a:xfrm>
            <a:off x="790956" y="4257446"/>
            <a:ext cx="15151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versioning DDL scripts</a:t>
            </a:r>
            <a:endParaRPr lang="en-US" sz="900" dirty="0"/>
          </a:p>
        </p:txBody>
      </p:sp>
      <p:sp>
        <p:nvSpPr>
          <p:cNvPr id="29" name="Shape 20"/>
          <p:cNvSpPr/>
          <p:nvPr/>
        </p:nvSpPr>
        <p:spPr>
          <a:xfrm>
            <a:off x="304495" y="5181905"/>
            <a:ext cx="2324405" cy="1371600"/>
          </a:xfrm>
          <a:prstGeom prst="roundRect">
            <a:avLst>
              <a:gd name="adj" fmla="val 5556"/>
            </a:avLst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00" b="-100"/>
          <a:stretch/>
        </p:blipFill>
        <p:spPr>
          <a:xfrm>
            <a:off x="504749" y="5381244"/>
            <a:ext cx="114300" cy="152705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694944" y="5381244"/>
            <a:ext cx="5340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338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 TIP</a:t>
            </a:r>
            <a:endParaRPr lang="en-US" sz="900" dirty="0"/>
          </a:p>
        </p:txBody>
      </p:sp>
      <p:sp>
        <p:nvSpPr>
          <p:cNvPr id="32" name="Text 22"/>
          <p:cNvSpPr txBox="1"/>
          <p:nvPr/>
        </p:nvSpPr>
        <p:spPr>
          <a:xfrm>
            <a:off x="504749" y="5629046"/>
            <a:ext cx="2000707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30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ALTER TABLE SET TBLPROPERTIES to add descriptive error messages to your constraints for better debugging.</a:t>
            </a:r>
            <a:endParaRPr lang="en-US" sz="900" dirty="0"/>
          </a:p>
        </p:txBody>
      </p:sp>
      <p:sp>
        <p:nvSpPr>
          <p:cNvPr id="33" name="Shape 23"/>
          <p:cNvSpPr/>
          <p:nvPr/>
        </p:nvSpPr>
        <p:spPr>
          <a:xfrm>
            <a:off x="2926080" y="1457554"/>
            <a:ext cx="5762549" cy="5095951"/>
          </a:xfrm>
          <a:prstGeom prst="roundRect">
            <a:avLst>
              <a:gd name="adj" fmla="val 40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4" name="Text 24"/>
          <p:cNvSpPr txBox="1"/>
          <p:nvPr/>
        </p:nvSpPr>
        <p:spPr>
          <a:xfrm>
            <a:off x="3240634" y="1800454"/>
            <a:ext cx="15581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Walkthrough</a:t>
            </a:r>
            <a:endParaRPr lang="en-US" sz="1300" dirty="0"/>
          </a:p>
        </p:txBody>
      </p:sp>
      <p:sp>
        <p:nvSpPr>
          <p:cNvPr id="35" name="Shape 25"/>
          <p:cNvSpPr/>
          <p:nvPr/>
        </p:nvSpPr>
        <p:spPr>
          <a:xfrm>
            <a:off x="3469234" y="2648102"/>
            <a:ext cx="19202" cy="636239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26"/>
          <p:cNvSpPr txBox="1"/>
          <p:nvPr/>
        </p:nvSpPr>
        <p:spPr>
          <a:xfrm>
            <a:off x="4078224" y="2324405"/>
            <a:ext cx="18864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Delta Constraints</a:t>
            </a:r>
            <a:endParaRPr lang="en-US" sz="1200" dirty="0"/>
          </a:p>
        </p:txBody>
      </p:sp>
      <p:sp>
        <p:nvSpPr>
          <p:cNvPr id="37" name="Text 27"/>
          <p:cNvSpPr txBox="1"/>
          <p:nvPr/>
        </p:nvSpPr>
        <p:spPr>
          <a:xfrm>
            <a:off x="4078224" y="2628900"/>
            <a:ext cx="415777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Enforce strict data quality rules at the table level using SQL DDL. These constraints prevent bad data from ever being written.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4078224" y="3157423"/>
            <a:ext cx="4295851" cy="552298"/>
          </a:xfrm>
          <a:prstGeom prst="roundRect">
            <a:avLst>
              <a:gd name="adj" fmla="val 17127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29"/>
          <p:cNvSpPr txBox="1"/>
          <p:nvPr/>
        </p:nvSpPr>
        <p:spPr>
          <a:xfrm>
            <a:off x="4202582" y="3290926"/>
            <a:ext cx="4000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ALTER TABLE silver_users ADD CONSTRAINT valid_email CHECK (email LIKE '%@%');</a:t>
            </a:r>
            <a:endParaRPr lang="en-US" sz="900" dirty="0"/>
          </a:p>
        </p:txBody>
      </p:sp>
      <p:sp>
        <p:nvSpPr>
          <p:cNvPr id="40" name="Text 30"/>
          <p:cNvSpPr txBox="1"/>
          <p:nvPr/>
        </p:nvSpPr>
        <p:spPr>
          <a:xfrm>
            <a:off x="4078224" y="4071823"/>
            <a:ext cx="22485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PR with DDL Changes</a:t>
            </a:r>
            <a:endParaRPr lang="en-US" sz="1200" dirty="0"/>
          </a:p>
        </p:txBody>
      </p:sp>
      <p:sp>
        <p:nvSpPr>
          <p:cNvPr id="41" name="Text 31"/>
          <p:cNvSpPr txBox="1"/>
          <p:nvPr/>
        </p:nvSpPr>
        <p:spPr>
          <a:xfrm>
            <a:off x="4078224" y="4376318"/>
            <a:ext cx="437723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Simulate a production change process. Commit your constraint DDL to a Git branch and open a Pull Request.</a:t>
            </a:r>
            <a:endParaRPr lang="en-US" sz="1000" dirty="0"/>
          </a:p>
        </p:txBody>
      </p:sp>
      <p:sp>
        <p:nvSpPr>
          <p:cNvPr id="42" name="Text 32"/>
          <p:cNvSpPr txBox="1"/>
          <p:nvPr/>
        </p:nvSpPr>
        <p:spPr>
          <a:xfrm>
            <a:off x="4078224" y="5266944"/>
            <a:ext cx="25146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"Data Diff" Validation Task</a:t>
            </a:r>
            <a:endParaRPr lang="en-US" sz="1200" dirty="0"/>
          </a:p>
        </p:txBody>
      </p:sp>
      <p:sp>
        <p:nvSpPr>
          <p:cNvPr id="43" name="Text 33"/>
          <p:cNvSpPr txBox="1"/>
          <p:nvPr/>
        </p:nvSpPr>
        <p:spPr>
          <a:xfrm>
            <a:off x="4078224" y="5572354"/>
            <a:ext cx="428213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 Workflow task that compares the row counts and primary key distributions between Staging and Prod before promotion.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4078224" y="6100877"/>
            <a:ext cx="4295851" cy="780898"/>
          </a:xfrm>
          <a:prstGeom prst="roundRect">
            <a:avLst>
              <a:gd name="adj" fmla="val 856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35"/>
          <p:cNvSpPr txBox="1"/>
          <p:nvPr/>
        </p:nvSpPr>
        <p:spPr>
          <a:xfrm>
            <a:off x="4240073" y="6310274"/>
            <a:ext cx="40005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assert abs(stage_count - prod_count) / prod_count &lt; 0.05, "Drift &gt; 5%"</a:t>
            </a:r>
            <a:endParaRPr lang="en-US" sz="900" dirty="0"/>
          </a:p>
        </p:txBody>
      </p:sp>
      <p:sp>
        <p:nvSpPr>
          <p:cNvPr id="46" name="Text 36"/>
          <p:cNvSpPr txBox="1"/>
          <p:nvPr/>
        </p:nvSpPr>
        <p:spPr>
          <a:xfrm>
            <a:off x="4078224" y="7243877"/>
            <a:ext cx="19147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Configure Rollback Path</a:t>
            </a:r>
            <a:endParaRPr lang="en-US" sz="1200" dirty="0"/>
          </a:p>
        </p:txBody>
      </p:sp>
      <p:sp>
        <p:nvSpPr>
          <p:cNvPr id="47" name="Text 37"/>
          <p:cNvSpPr txBox="1"/>
          <p:nvPr/>
        </p:nvSpPr>
        <p:spPr>
          <a:xfrm>
            <a:off x="4078224" y="7548372"/>
            <a:ext cx="417697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"If/Else" condition in Workflows. If the validation task fails, trigger a rollback script or send a Slack alert.</a:t>
            </a:r>
            <a:endParaRPr lang="en-US" sz="1000" dirty="0"/>
          </a:p>
        </p:txBody>
      </p:sp>
      <p:sp>
        <p:nvSpPr>
          <p:cNvPr id="48" name="Text 38"/>
          <p:cNvSpPr txBox="1"/>
          <p:nvPr/>
        </p:nvSpPr>
        <p:spPr>
          <a:xfrm>
            <a:off x="4078224" y="8401507"/>
            <a:ext cx="20574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End-to-End Workflow</a:t>
            </a:r>
            <a:endParaRPr lang="en-US" sz="1200" dirty="0"/>
          </a:p>
        </p:txBody>
      </p:sp>
      <p:sp>
        <p:nvSpPr>
          <p:cNvPr id="49" name="Text 39"/>
          <p:cNvSpPr txBox="1"/>
          <p:nvPr/>
        </p:nvSpPr>
        <p:spPr>
          <a:xfrm>
            <a:off x="4078224" y="8706002"/>
            <a:ext cx="417697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 the job manually. Verify that inserting invalid data causes the constraint to fire and the job to fail safely.</a:t>
            </a:r>
            <a:endParaRPr lang="en-US" sz="1000" dirty="0"/>
          </a:p>
        </p:txBody>
      </p:sp>
      <p:sp>
        <p:nvSpPr>
          <p:cNvPr id="50" name="Shape 40"/>
          <p:cNvSpPr/>
          <p:nvPr/>
        </p:nvSpPr>
        <p:spPr>
          <a:xfrm>
            <a:off x="8991295" y="1457554"/>
            <a:ext cx="2895905" cy="2352751"/>
          </a:xfrm>
          <a:prstGeom prst="roundRect">
            <a:avLst>
              <a:gd name="adj" fmla="val 188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1" name="Shape 41"/>
          <p:cNvSpPr/>
          <p:nvPr/>
        </p:nvSpPr>
        <p:spPr>
          <a:xfrm>
            <a:off x="9229954" y="1962302"/>
            <a:ext cx="2419502" cy="9144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52" name="Image 8" descr="preencoded.png">    </p:cNvPr>
          <p:cNvPicPr>
            <a:picLocks noChangeAspect="1"/>
          </p:cNvPicPr>
          <p:nvPr/>
        </p:nvPicPr>
        <p:blipFill>
          <a:blip r:embed="rId9"/>
          <a:srcRect l="-837" r="-837" t="0" b="0"/>
          <a:stretch/>
        </p:blipFill>
        <p:spPr>
          <a:xfrm>
            <a:off x="9229954" y="1721815"/>
            <a:ext cx="152705" cy="133502"/>
          </a:xfrm>
          <a:prstGeom prst="rect">
            <a:avLst/>
          </a:prstGeom>
        </p:spPr>
      </p:pic>
      <p:sp>
        <p:nvSpPr>
          <p:cNvPr id="53" name="Text 42"/>
          <p:cNvSpPr txBox="1"/>
          <p:nvPr/>
        </p:nvSpPr>
        <p:spPr>
          <a:xfrm>
            <a:off x="9458554" y="1705356"/>
            <a:ext cx="15005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 CRITERIA</a:t>
            </a:r>
            <a:endParaRPr lang="en-US" sz="1000" dirty="0"/>
          </a:p>
        </p:txBody>
      </p:sp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43" b="-43"/>
          <a:stretch/>
        </p:blipFill>
        <p:spPr>
          <a:xfrm>
            <a:off x="9229954" y="2162556"/>
            <a:ext cx="133502" cy="152705"/>
          </a:xfrm>
          <a:prstGeom prst="rect">
            <a:avLst/>
          </a:prstGeom>
        </p:spPr>
      </p:pic>
      <p:sp>
        <p:nvSpPr>
          <p:cNvPr id="55" name="Text 43"/>
          <p:cNvSpPr txBox="1"/>
          <p:nvPr/>
        </p:nvSpPr>
        <p:spPr>
          <a:xfrm>
            <a:off x="9477756" y="2133295"/>
            <a:ext cx="221467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Constraint violations block invalid writes (Transaction aborted).</a:t>
            </a:r>
            <a:endParaRPr lang="en-US" sz="1000" dirty="0"/>
          </a:p>
        </p:txBody>
      </p:sp>
      <p:pic>
        <p:nvPicPr>
          <p:cNvPr id="56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43" b="-43"/>
          <a:stretch/>
        </p:blipFill>
        <p:spPr>
          <a:xfrm>
            <a:off x="9229954" y="2695651"/>
            <a:ext cx="133502" cy="152705"/>
          </a:xfrm>
          <a:prstGeom prst="rect">
            <a:avLst/>
          </a:prstGeom>
        </p:spPr>
      </p:pic>
      <p:sp>
        <p:nvSpPr>
          <p:cNvPr id="57" name="Text 44"/>
          <p:cNvSpPr txBox="1"/>
          <p:nvPr/>
        </p:nvSpPr>
        <p:spPr>
          <a:xfrm>
            <a:off x="9477756" y="2667305"/>
            <a:ext cx="184343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gate successfully prevents bad promotion.</a:t>
            </a:r>
            <a:endParaRPr lang="en-US" sz="1000" dirty="0"/>
          </a:p>
        </p:txBody>
      </p:sp>
      <p:pic>
        <p:nvPicPr>
          <p:cNvPr id="58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43" b="-43"/>
          <a:stretch/>
        </p:blipFill>
        <p:spPr>
          <a:xfrm>
            <a:off x="9229954" y="3228746"/>
            <a:ext cx="133502" cy="152705"/>
          </a:xfrm>
          <a:prstGeom prst="rect">
            <a:avLst/>
          </a:prstGeom>
        </p:spPr>
      </p:pic>
      <p:sp>
        <p:nvSpPr>
          <p:cNvPr id="59" name="Text 45"/>
          <p:cNvSpPr txBox="1"/>
          <p:nvPr/>
        </p:nvSpPr>
        <p:spPr>
          <a:xfrm>
            <a:off x="9477756" y="3200400"/>
            <a:ext cx="198607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 received upon validation failure.</a:t>
            </a:r>
            <a:endParaRPr lang="en-US" sz="1000" dirty="0"/>
          </a:p>
        </p:txBody>
      </p:sp>
      <p:sp>
        <p:nvSpPr>
          <p:cNvPr id="60" name="Shape 46"/>
          <p:cNvSpPr/>
          <p:nvPr/>
        </p:nvSpPr>
        <p:spPr>
          <a:xfrm>
            <a:off x="8991295" y="4038905"/>
            <a:ext cx="2895905" cy="2619756"/>
          </a:xfrm>
          <a:prstGeom prst="roundRect">
            <a:avLst>
              <a:gd name="adj" fmla="val 152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61" name="Shape 47"/>
          <p:cNvSpPr/>
          <p:nvPr/>
        </p:nvSpPr>
        <p:spPr>
          <a:xfrm>
            <a:off x="9229954" y="4543654"/>
            <a:ext cx="2419502" cy="9144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62" name="Image 12" descr="preencoded.png">    </p:cNvPr>
          <p:cNvPicPr>
            <a:picLocks noChangeAspect="1"/>
          </p:cNvPicPr>
          <p:nvPr/>
        </p:nvPicPr>
        <p:blipFill>
          <a:blip r:embed="rId13"/>
          <a:srcRect l="-837" r="-837" t="0" b="0"/>
          <a:stretch/>
        </p:blipFill>
        <p:spPr>
          <a:xfrm>
            <a:off x="9229954" y="4303166"/>
            <a:ext cx="152705" cy="133502"/>
          </a:xfrm>
          <a:prstGeom prst="rect">
            <a:avLst/>
          </a:prstGeom>
        </p:spPr>
      </p:pic>
      <p:sp>
        <p:nvSpPr>
          <p:cNvPr id="63" name="Text 48"/>
          <p:cNvSpPr txBox="1"/>
          <p:nvPr/>
        </p:nvSpPr>
        <p:spPr>
          <a:xfrm>
            <a:off x="9458554" y="4286707"/>
            <a:ext cx="9098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ARTIFACTS</a:t>
            </a:r>
            <a:endParaRPr lang="en-US" sz="1000" dirty="0"/>
          </a:p>
        </p:txBody>
      </p:sp>
      <p:sp>
        <p:nvSpPr>
          <p:cNvPr id="64" name="Shape 49"/>
          <p:cNvSpPr/>
          <p:nvPr/>
        </p:nvSpPr>
        <p:spPr>
          <a:xfrm>
            <a:off x="9229954" y="4705502"/>
            <a:ext cx="2419502" cy="495605"/>
          </a:xfrm>
          <a:prstGeom prst="roundRect">
            <a:avLst>
              <a:gd name="adj" fmla="val 28385"/>
            </a:avLst>
          </a:prstGeom>
          <a:solidFill>
            <a:srgbClr val="F9FAFB"/>
          </a:solidFill>
          <a:ln/>
        </p:spPr>
      </p:sp>
      <p:pic>
        <p:nvPicPr>
          <p:cNvPr id="65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100" b="-100"/>
          <a:stretch/>
        </p:blipFill>
        <p:spPr>
          <a:xfrm>
            <a:off x="9305849" y="4876495"/>
            <a:ext cx="114300" cy="152705"/>
          </a:xfrm>
          <a:prstGeom prst="rect">
            <a:avLst/>
          </a:prstGeom>
        </p:spPr>
      </p:pic>
      <p:sp>
        <p:nvSpPr>
          <p:cNvPr id="66" name="Text 50"/>
          <p:cNvSpPr txBox="1"/>
          <p:nvPr/>
        </p:nvSpPr>
        <p:spPr>
          <a:xfrm>
            <a:off x="9534449" y="4791456"/>
            <a:ext cx="10625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constraints.sql</a:t>
            </a:r>
            <a:endParaRPr lang="en-US" sz="1000" dirty="0"/>
          </a:p>
        </p:txBody>
      </p:sp>
      <p:sp>
        <p:nvSpPr>
          <p:cNvPr id="67" name="Text 51"/>
          <p:cNvSpPr txBox="1"/>
          <p:nvPr/>
        </p:nvSpPr>
        <p:spPr>
          <a:xfrm>
            <a:off x="9534449" y="4972507"/>
            <a:ext cx="6675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DDL Script</a:t>
            </a:r>
            <a:endParaRPr lang="en-US" sz="900" dirty="0"/>
          </a:p>
        </p:txBody>
      </p:sp>
      <p:sp>
        <p:nvSpPr>
          <p:cNvPr id="68" name="Shape 52"/>
          <p:cNvSpPr/>
          <p:nvPr/>
        </p:nvSpPr>
        <p:spPr>
          <a:xfrm>
            <a:off x="9229954" y="5315407"/>
            <a:ext cx="2419502" cy="495605"/>
          </a:xfrm>
          <a:prstGeom prst="roundRect">
            <a:avLst>
              <a:gd name="adj" fmla="val 28385"/>
            </a:avLst>
          </a:prstGeom>
          <a:solidFill>
            <a:srgbClr val="F9FAFB"/>
          </a:solidFill>
          <a:ln/>
        </p:spPr>
      </p:sp>
      <p:pic>
        <p:nvPicPr>
          <p:cNvPr id="69" name="Image 14" descr="preencoded.png">    </p:cNvPr>
          <p:cNvPicPr>
            <a:picLocks noChangeAspect="1"/>
          </p:cNvPicPr>
          <p:nvPr/>
        </p:nvPicPr>
        <p:blipFill>
          <a:blip r:embed="rId15"/>
          <a:srcRect l="-33" r="-33" t="0" b="0"/>
          <a:stretch/>
        </p:blipFill>
        <p:spPr>
          <a:xfrm>
            <a:off x="9305849" y="5486400"/>
            <a:ext cx="171907" cy="152705"/>
          </a:xfrm>
          <a:prstGeom prst="rect">
            <a:avLst/>
          </a:prstGeom>
        </p:spPr>
      </p:pic>
      <p:sp>
        <p:nvSpPr>
          <p:cNvPr id="70" name="Text 53"/>
          <p:cNvSpPr txBox="1"/>
          <p:nvPr/>
        </p:nvSpPr>
        <p:spPr>
          <a:xfrm>
            <a:off x="9592056" y="5400446"/>
            <a:ext cx="12911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workflow_job.json</a:t>
            </a:r>
            <a:endParaRPr lang="en-US" sz="1000" dirty="0"/>
          </a:p>
        </p:txBody>
      </p:sp>
      <p:sp>
        <p:nvSpPr>
          <p:cNvPr id="71" name="Text 54"/>
          <p:cNvSpPr txBox="1"/>
          <p:nvPr/>
        </p:nvSpPr>
        <p:spPr>
          <a:xfrm>
            <a:off x="9592056" y="5581498"/>
            <a:ext cx="8385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 Definition</a:t>
            </a:r>
            <a:endParaRPr lang="en-US" sz="900" dirty="0"/>
          </a:p>
        </p:txBody>
      </p:sp>
      <p:sp>
        <p:nvSpPr>
          <p:cNvPr id="72" name="Shape 55"/>
          <p:cNvSpPr/>
          <p:nvPr/>
        </p:nvSpPr>
        <p:spPr>
          <a:xfrm>
            <a:off x="9229954" y="5924398"/>
            <a:ext cx="2419502" cy="495605"/>
          </a:xfrm>
          <a:prstGeom prst="roundRect">
            <a:avLst>
              <a:gd name="adj" fmla="val 28385"/>
            </a:avLst>
          </a:prstGeom>
          <a:solidFill>
            <a:srgbClr val="F9FAFB"/>
          </a:solidFill>
          <a:ln/>
        </p:spPr>
      </p:sp>
      <p:pic>
        <p:nvPicPr>
          <p:cNvPr id="73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9305849" y="6096305"/>
            <a:ext cx="152705" cy="152705"/>
          </a:xfrm>
          <a:prstGeom prst="rect">
            <a:avLst/>
          </a:prstGeom>
        </p:spPr>
      </p:pic>
      <p:sp>
        <p:nvSpPr>
          <p:cNvPr id="74" name="Text 56"/>
          <p:cNvSpPr txBox="1"/>
          <p:nvPr/>
        </p:nvSpPr>
        <p:spPr>
          <a:xfrm>
            <a:off x="9572854" y="6010351"/>
            <a:ext cx="11100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diff_report.html</a:t>
            </a:r>
            <a:endParaRPr lang="en-US" sz="1000" dirty="0"/>
          </a:p>
        </p:txBody>
      </p:sp>
      <p:sp>
        <p:nvSpPr>
          <p:cNvPr id="75" name="Text 57"/>
          <p:cNvSpPr txBox="1"/>
          <p:nvPr/>
        </p:nvSpPr>
        <p:spPr>
          <a:xfrm>
            <a:off x="9572854" y="6191402"/>
            <a:ext cx="10195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Output</a:t>
            </a:r>
            <a:endParaRPr lang="en-US" sz="900" dirty="0"/>
          </a:p>
        </p:txBody>
      </p:sp>
      <p:sp>
        <p:nvSpPr>
          <p:cNvPr id="76" name="Text 58"/>
          <p:cNvSpPr txBox="1"/>
          <p:nvPr/>
        </p:nvSpPr>
        <p:spPr>
          <a:xfrm>
            <a:off x="9969703" y="6553505"/>
            <a:ext cx="18196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— Training Material</a:t>
            </a:r>
            <a:endParaRPr lang="en-US" sz="900" dirty="0"/>
          </a:p>
        </p:txBody>
      </p:sp>
      <p:sp>
        <p:nvSpPr>
          <p:cNvPr id="77" name="Text 59"/>
          <p:cNvSpPr txBox="1"/>
          <p:nvPr/>
        </p:nvSpPr>
        <p:spPr>
          <a:xfrm>
            <a:off x="11852453" y="6553505"/>
            <a:ext cx="2002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900" dirty="0"/>
          </a:p>
        </p:txBody>
      </p:sp>
      <p:sp>
        <p:nvSpPr>
          <p:cNvPr id="78" name="Shape 60"/>
          <p:cNvSpPr/>
          <p:nvPr/>
        </p:nvSpPr>
        <p:spPr>
          <a:xfrm>
            <a:off x="3392424" y="2266798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FFFF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79" name="Text 61"/>
          <p:cNvSpPr txBox="1"/>
          <p:nvPr/>
        </p:nvSpPr>
        <p:spPr>
          <a:xfrm>
            <a:off x="3584448" y="2361895"/>
            <a:ext cx="20482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80" name="Shape 62"/>
          <p:cNvSpPr/>
          <p:nvPr/>
        </p:nvSpPr>
        <p:spPr>
          <a:xfrm>
            <a:off x="3392424" y="401513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FFFF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81" name="Text 63"/>
          <p:cNvSpPr txBox="1"/>
          <p:nvPr/>
        </p:nvSpPr>
        <p:spPr>
          <a:xfrm>
            <a:off x="3567074" y="4110228"/>
            <a:ext cx="24323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82" name="Shape 64"/>
          <p:cNvSpPr/>
          <p:nvPr/>
        </p:nvSpPr>
        <p:spPr>
          <a:xfrm>
            <a:off x="3392424" y="5210251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FFFF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83" name="Text 65"/>
          <p:cNvSpPr txBox="1"/>
          <p:nvPr/>
        </p:nvSpPr>
        <p:spPr>
          <a:xfrm>
            <a:off x="3566160" y="5305349"/>
            <a:ext cx="24323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84" name="Shape 66"/>
          <p:cNvSpPr/>
          <p:nvPr/>
        </p:nvSpPr>
        <p:spPr>
          <a:xfrm>
            <a:off x="3392424" y="718627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FFFF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85" name="Text 67"/>
          <p:cNvSpPr txBox="1"/>
          <p:nvPr/>
        </p:nvSpPr>
        <p:spPr>
          <a:xfrm>
            <a:off x="3563417" y="7282282"/>
            <a:ext cx="25328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86" name="Shape 68"/>
          <p:cNvSpPr/>
          <p:nvPr/>
        </p:nvSpPr>
        <p:spPr>
          <a:xfrm>
            <a:off x="3392424" y="834390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FFFF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87" name="Text 69"/>
          <p:cNvSpPr txBox="1"/>
          <p:nvPr/>
        </p:nvSpPr>
        <p:spPr>
          <a:xfrm>
            <a:off x="3567989" y="8438998"/>
            <a:ext cx="24323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52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43000"/>
            <a:ext cx="12191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381305" y="228600"/>
            <a:ext cx="1133856" cy="228600"/>
          </a:xfrm>
          <a:prstGeom prst="roundRect">
            <a:avLst>
              <a:gd name="adj" fmla="val 66667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267005"/>
            <a:ext cx="10671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 WRAP-UP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624889" y="256946"/>
            <a:ext cx="1481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783994" y="256946"/>
            <a:ext cx="13770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Checkpoint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81305" y="514807"/>
            <a:ext cx="517276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 Checkpoint &amp; Next Steps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9298534" y="733349"/>
            <a:ext cx="26151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Databricks Quality Engineering Strategy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1152144"/>
            <a:ext cx="12191695" cy="582015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3" name="Shape 11"/>
          <p:cNvSpPr/>
          <p:nvPr/>
        </p:nvSpPr>
        <p:spPr>
          <a:xfrm>
            <a:off x="381305" y="1533449"/>
            <a:ext cx="3657600" cy="3114446"/>
          </a:xfrm>
          <a:prstGeom prst="roundRect">
            <a:avLst>
              <a:gd name="adj" fmla="val 10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9049" y="2343607"/>
            <a:ext cx="3181198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19049" y="1790395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EFF6FF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0372" y="1886407"/>
            <a:ext cx="237744" cy="19019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114654" y="1772107"/>
            <a:ext cx="571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114654" y="1952244"/>
            <a:ext cx="15764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Aligned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19049" y="2505456"/>
            <a:ext cx="32964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 Pillars: Confirmed Trust, Velocity, and Compliance as core tenets tailored to Lakehouse.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19049" y="3343046"/>
            <a:ext cx="32964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Operating Model: Ratified RACI for Platform vs. Domain ownership.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19049" y="3952951"/>
            <a:ext cx="32964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 Metrics: Defined baseline for Incident Rate, SLA Adherence, and MTTR.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267505" y="1533449"/>
            <a:ext cx="3657600" cy="3114446"/>
          </a:xfrm>
          <a:prstGeom prst="roundRect">
            <a:avLst>
              <a:gd name="adj" fmla="val 10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505249" y="2343607"/>
            <a:ext cx="3181198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4" name="Shape 21"/>
          <p:cNvSpPr/>
          <p:nvPr/>
        </p:nvSpPr>
        <p:spPr>
          <a:xfrm>
            <a:off x="4505249" y="1790395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5F3FF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rcRect l="-1282" r="-1282" t="0" b="0"/>
          <a:stretch/>
        </p:blipFill>
        <p:spPr>
          <a:xfrm>
            <a:off x="4586630" y="1886407"/>
            <a:ext cx="219456" cy="190195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5000854" y="1772107"/>
            <a:ext cx="571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5000854" y="1952244"/>
            <a:ext cx="13103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Built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4505249" y="2505456"/>
            <a:ext cx="32964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Architecture: Mapped QE controls to Unity Catalog &amp; DLT.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4505249" y="3114446"/>
            <a:ext cx="32964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Validation: Deployed "Quarantine" patterns and Delta constraints.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4505249" y="3724351"/>
            <a:ext cx="32964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Artifacts: Functional pipeline with automated expectation suites.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8153705" y="1533449"/>
            <a:ext cx="3657600" cy="3114446"/>
          </a:xfrm>
          <a:prstGeom prst="roundRect">
            <a:avLst>
              <a:gd name="adj" fmla="val 10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ffffff">
                <a:alpha val="100000"/>
              </a:srgbClr>
            </a:outerShdw>
          </a:effectLst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9905" y="5217566"/>
            <a:ext cx="142646" cy="190195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828446" y="5180076"/>
            <a:ext cx="24963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Readiness Status</a:t>
            </a:r>
            <a:endParaRPr lang="en-US" sz="1500" dirty="0"/>
          </a:p>
        </p:txBody>
      </p:sp>
      <p:sp>
        <p:nvSpPr>
          <p:cNvPr id="34" name="Text 29"/>
          <p:cNvSpPr txBox="1"/>
          <p:nvPr/>
        </p:nvSpPr>
        <p:spPr>
          <a:xfrm>
            <a:off x="10888675" y="5245913"/>
            <a:ext cx="7050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CHECKLIST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609905" y="5598871"/>
            <a:ext cx="38405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800100" y="5751576"/>
            <a:ext cx="9052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37" name="Text 32"/>
          <p:cNvSpPr txBox="1"/>
          <p:nvPr/>
        </p:nvSpPr>
        <p:spPr>
          <a:xfrm>
            <a:off x="800100" y="5950915"/>
            <a:ext cx="948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RACI Aligned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2876702" y="5865876"/>
            <a:ext cx="152705" cy="152705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12700" dist="12700" dir="16200000">
              <a:srgbClr val="d1fae5">
                <a:alpha val="100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3409798" y="5598871"/>
            <a:ext cx="38405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0" name="Text 35"/>
          <p:cNvSpPr txBox="1"/>
          <p:nvPr/>
        </p:nvSpPr>
        <p:spPr>
          <a:xfrm>
            <a:off x="3600907" y="5751576"/>
            <a:ext cx="6099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METRICS</a:t>
            </a:r>
            <a:endParaRPr lang="en-US" sz="900" dirty="0"/>
          </a:p>
        </p:txBody>
      </p:sp>
      <p:sp>
        <p:nvSpPr>
          <p:cNvPr id="41" name="Text 36"/>
          <p:cNvSpPr txBox="1"/>
          <p:nvPr/>
        </p:nvSpPr>
        <p:spPr>
          <a:xfrm>
            <a:off x="3600907" y="5950915"/>
            <a:ext cx="976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SLOs Defined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5676595" y="5865876"/>
            <a:ext cx="152705" cy="152705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12700" dist="12700" dir="16200000">
              <a:srgbClr val="d1fae5">
                <a:alpha val="100000"/>
              </a:srgbClr>
            </a:outerShdw>
          </a:effectLst>
        </p:spPr>
      </p:sp>
      <p:sp>
        <p:nvSpPr>
          <p:cNvPr id="43" name="Shape 38"/>
          <p:cNvSpPr/>
          <p:nvPr/>
        </p:nvSpPr>
        <p:spPr>
          <a:xfrm>
            <a:off x="6210605" y="5598871"/>
            <a:ext cx="38405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Text 39"/>
          <p:cNvSpPr txBox="1"/>
          <p:nvPr/>
        </p:nvSpPr>
        <p:spPr>
          <a:xfrm>
            <a:off x="6400800" y="5751576"/>
            <a:ext cx="6099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TOOLING</a:t>
            </a:r>
            <a:endParaRPr lang="en-US" sz="900" dirty="0"/>
          </a:p>
        </p:txBody>
      </p:sp>
      <p:sp>
        <p:nvSpPr>
          <p:cNvPr id="45" name="Text 40"/>
          <p:cNvSpPr txBox="1"/>
          <p:nvPr/>
        </p:nvSpPr>
        <p:spPr>
          <a:xfrm>
            <a:off x="6400800" y="5950915"/>
            <a:ext cx="12152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Templates Ready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8477402" y="5865876"/>
            <a:ext cx="152705" cy="152705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2700" dist="12700" dir="16200000">
              <a:srgbClr val="fef3c7">
                <a:alpha val="100000"/>
              </a:srgbClr>
            </a:outerShdw>
          </a:effectLst>
        </p:spPr>
      </p:sp>
      <p:sp>
        <p:nvSpPr>
          <p:cNvPr id="47" name="Shape 42"/>
          <p:cNvSpPr/>
          <p:nvPr/>
        </p:nvSpPr>
        <p:spPr>
          <a:xfrm>
            <a:off x="9010498" y="5598871"/>
            <a:ext cx="38405" cy="68580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8" name="Text 43"/>
          <p:cNvSpPr txBox="1"/>
          <p:nvPr/>
        </p:nvSpPr>
        <p:spPr>
          <a:xfrm>
            <a:off x="9201607" y="5751576"/>
            <a:ext cx="10003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OBSERVABILITY</a:t>
            </a:r>
            <a:endParaRPr lang="en-US" sz="900" dirty="0"/>
          </a:p>
        </p:txBody>
      </p:sp>
      <p:sp>
        <p:nvSpPr>
          <p:cNvPr id="49" name="Text 44"/>
          <p:cNvSpPr txBox="1"/>
          <p:nvPr/>
        </p:nvSpPr>
        <p:spPr>
          <a:xfrm>
            <a:off x="9201607" y="5950915"/>
            <a:ext cx="10533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Alerts Pending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11277295" y="5865876"/>
            <a:ext cx="152705" cy="152705"/>
          </a:xfrm>
          <a:prstGeom prst="ellipse">
            <a:avLst/>
          </a:prstGeom>
          <a:solidFill>
            <a:srgbClr val="9CA3AF"/>
          </a:solidFill>
          <a:ln/>
          <a:effectLst>
            <a:outerShdw sx="100000" sy="100000" kx="0" ky="0" algn="bl" rotWithShape="0" blurRad="12700" dist="12700" dir="16200000">
              <a:srgbClr val="f3f4f6">
                <a:alpha val="100000"/>
              </a:srgbClr>
            </a:outerShdw>
          </a:effectLst>
        </p:spPr>
      </p:sp>
      <p:sp>
        <p:nvSpPr>
          <p:cNvPr id="51" name="Shape 46"/>
          <p:cNvSpPr/>
          <p:nvPr/>
        </p:nvSpPr>
        <p:spPr>
          <a:xfrm>
            <a:off x="0" y="6972300"/>
            <a:ext cx="12191695" cy="4663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47"/>
          <p:cNvSpPr/>
          <p:nvPr/>
        </p:nvSpPr>
        <p:spPr>
          <a:xfrm>
            <a:off x="0" y="6972300"/>
            <a:ext cx="12191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3" name="Text 48"/>
          <p:cNvSpPr txBox="1"/>
          <p:nvPr/>
        </p:nvSpPr>
        <p:spPr>
          <a:xfrm>
            <a:off x="381305" y="7134149"/>
            <a:ext cx="21817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© 2026 Enterprise Quality Engineering</a:t>
            </a:r>
            <a:endParaRPr lang="en-US" sz="900" dirty="0"/>
          </a:p>
        </p:txBody>
      </p:sp>
      <p:sp>
        <p:nvSpPr>
          <p:cNvPr id="54" name="Text 49"/>
          <p:cNvSpPr txBox="1"/>
          <p:nvPr/>
        </p:nvSpPr>
        <p:spPr>
          <a:xfrm>
            <a:off x="11330330" y="7144207"/>
            <a:ext cx="571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Page 18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8391449" y="2343607"/>
            <a:ext cx="3181198" cy="9144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5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486546" y="1886407"/>
            <a:ext cx="190195" cy="190195"/>
          </a:xfrm>
          <a:prstGeom prst="rect">
            <a:avLst/>
          </a:prstGeom>
        </p:spPr>
      </p:pic>
      <p:sp>
        <p:nvSpPr>
          <p:cNvPr id="57" name="Text 51"/>
          <p:cNvSpPr txBox="1"/>
          <p:nvPr/>
        </p:nvSpPr>
        <p:spPr>
          <a:xfrm>
            <a:off x="8887054" y="1772107"/>
            <a:ext cx="11622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IMMEDIATE NEXT</a:t>
            </a:r>
            <a:endParaRPr lang="en-US" sz="900" dirty="0"/>
          </a:p>
        </p:txBody>
      </p:sp>
      <p:sp>
        <p:nvSpPr>
          <p:cNvPr id="58" name="Text 52"/>
          <p:cNvSpPr txBox="1"/>
          <p:nvPr/>
        </p:nvSpPr>
        <p:spPr>
          <a:xfrm>
            <a:off x="8887054" y="1952244"/>
            <a:ext cx="15197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1 Kickoff</a:t>
            </a:r>
            <a:endParaRPr lang="en-US" sz="1300" dirty="0"/>
          </a:p>
        </p:txBody>
      </p:sp>
      <p:pic>
        <p:nvPicPr>
          <p:cNvPr id="59" name="Image 4" descr="preencoded.png">    </p:cNvPr>
          <p:cNvPicPr>
            <a:picLocks noChangeAspect="1"/>
          </p:cNvPicPr>
          <p:nvPr/>
        </p:nvPicPr>
        <p:blipFill>
          <a:blip r:embed="rId5"/>
          <a:srcRect l="-2512" r="-2512" t="0" b="0"/>
          <a:stretch/>
        </p:blipFill>
        <p:spPr>
          <a:xfrm>
            <a:off x="8429854" y="2657246"/>
            <a:ext cx="105156" cy="133502"/>
          </a:xfrm>
          <a:prstGeom prst="rect">
            <a:avLst/>
          </a:prstGeom>
        </p:spPr>
      </p:pic>
      <p:sp>
        <p:nvSpPr>
          <p:cNvPr id="60" name="Text 53"/>
          <p:cNvSpPr txBox="1"/>
          <p:nvPr/>
        </p:nvSpPr>
        <p:spPr>
          <a:xfrm>
            <a:off x="8429854" y="3419856"/>
            <a:ext cx="3219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Finalize RFP Assets: Complete scoring rubric &amp; value narrative.</a:t>
            </a:r>
            <a:endParaRPr lang="en-US" sz="1200" dirty="0"/>
          </a:p>
        </p:txBody>
      </p:sp>
      <p:sp>
        <p:nvSpPr>
          <p:cNvPr id="61" name="Text 54"/>
          <p:cNvSpPr txBox="1"/>
          <p:nvPr/>
        </p:nvSpPr>
        <p:spPr>
          <a:xfrm>
            <a:off x="8429854" y="4028846"/>
            <a:ext cx="3219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Selection: Identify domain for initial rollout.</a:t>
            </a:r>
            <a:endParaRPr lang="en-US" sz="1200" dirty="0"/>
          </a:p>
        </p:txBody>
      </p:sp>
      <p:sp>
        <p:nvSpPr>
          <p:cNvPr id="62" name="Text 55"/>
          <p:cNvSpPr txBox="1"/>
          <p:nvPr/>
        </p:nvSpPr>
        <p:spPr>
          <a:xfrm>
            <a:off x="8648395" y="2628900"/>
            <a:ext cx="16623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Module 1 Blueprint</a:t>
            </a:r>
            <a:endParaRPr lang="en-US" sz="1000" dirty="0"/>
          </a:p>
        </p:txBody>
      </p:sp>
      <p:sp>
        <p:nvSpPr>
          <p:cNvPr id="63" name="Text 56"/>
          <p:cNvSpPr txBox="1"/>
          <p:nvPr/>
        </p:nvSpPr>
        <p:spPr>
          <a:xfrm>
            <a:off x="8648395" y="2848356"/>
            <a:ext cx="27816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dive into Bronze/Silver/Gold controls (Slides 19–30).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52705" cy="6858000"/>
          </a:xfrm>
          <a:prstGeom prst="rect">
            <a:avLst/>
          </a:prstGeom>
          <a:solidFill>
            <a:srgbClr val="0056B3"/>
          </a:solidFill>
          <a:ln/>
        </p:spPr>
      </p:sp>
      <p:sp>
        <p:nvSpPr>
          <p:cNvPr id="5" name="Shape 3"/>
          <p:cNvSpPr/>
          <p:nvPr/>
        </p:nvSpPr>
        <p:spPr>
          <a:xfrm>
            <a:off x="6476695" y="3047695"/>
            <a:ext cx="5715000" cy="3810305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6" name="Shape 4"/>
          <p:cNvSpPr/>
          <p:nvPr/>
        </p:nvSpPr>
        <p:spPr>
          <a:xfrm>
            <a:off x="8382305" y="4953305"/>
            <a:ext cx="3810305" cy="1904695"/>
          </a:xfrm>
          <a:prstGeom prst="rect">
            <a:avLst/>
          </a:prstGeom>
          <a:solidFill>
            <a:srgbClr val="DEE2E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805" y="3744468"/>
            <a:ext cx="190195" cy="190195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52805" y="4144061"/>
            <a:ext cx="190195" cy="190195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52805" y="4544568"/>
            <a:ext cx="190195" cy="19019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5468112"/>
            <a:ext cx="7619695" cy="9144"/>
          </a:xfrm>
          <a:prstGeom prst="rect">
            <a:avLst/>
          </a:prstGeom>
          <a:solidFill>
            <a:srgbClr val="DEE2E6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52805" y="5730545"/>
            <a:ext cx="152705" cy="152705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429914" y="5730545"/>
            <a:ext cx="152705" cy="152705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848149" y="5730545"/>
            <a:ext cx="152705" cy="152705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1447495" y="970178"/>
            <a:ext cx="22247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2-HOUR TRAINING MODULE</a:t>
            </a:r>
            <a:endParaRPr lang="en-US" sz="1000" dirty="0"/>
          </a:p>
        </p:txBody>
      </p:sp>
      <p:sp>
        <p:nvSpPr>
          <p:cNvPr id="15" name="Text 7"/>
          <p:cNvSpPr txBox="1"/>
          <p:nvPr/>
        </p:nvSpPr>
        <p:spPr>
          <a:xfrm>
            <a:off x="952805" y="1303934"/>
            <a:ext cx="8992210" cy="2153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21252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Module 1 — Enterprise Lakehouse Quality Engineering Blueprint</a:t>
            </a:r>
            <a:endParaRPr lang="en-US" sz="4800" dirty="0"/>
          </a:p>
        </p:txBody>
      </p:sp>
      <p:sp>
        <p:nvSpPr>
          <p:cNvPr id="16" name="Text 8"/>
          <p:cNvSpPr txBox="1"/>
          <p:nvPr/>
        </p:nvSpPr>
        <p:spPr>
          <a:xfrm>
            <a:off x="1257300" y="3725266"/>
            <a:ext cx="59820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9505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QA Strategy for Bronze → Silver → Gold layers with concrete controls</a:t>
            </a:r>
            <a:endParaRPr lang="en-US" sz="1500" dirty="0"/>
          </a:p>
        </p:txBody>
      </p:sp>
      <p:sp>
        <p:nvSpPr>
          <p:cNvPr id="17" name="Text 9"/>
          <p:cNvSpPr txBox="1"/>
          <p:nvPr/>
        </p:nvSpPr>
        <p:spPr>
          <a:xfrm>
            <a:off x="1257300" y="4125773"/>
            <a:ext cx="5191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9505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Quality Engineering in Data Mesh &amp; Domain-driven Pipelines</a:t>
            </a:r>
            <a:endParaRPr lang="en-US" sz="1500" dirty="0"/>
          </a:p>
        </p:txBody>
      </p:sp>
      <p:sp>
        <p:nvSpPr>
          <p:cNvPr id="18" name="Text 10"/>
          <p:cNvSpPr txBox="1"/>
          <p:nvPr/>
        </p:nvSpPr>
        <p:spPr>
          <a:xfrm>
            <a:off x="1257300" y="4525366"/>
            <a:ext cx="4181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9505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QE contributes to Deal Wins &amp; RFP Scoring</a:t>
            </a:r>
            <a:endParaRPr lang="en-US" sz="1500" dirty="0"/>
          </a:p>
        </p:txBody>
      </p:sp>
      <p:sp>
        <p:nvSpPr>
          <p:cNvPr id="19" name="Text 11"/>
          <p:cNvSpPr txBox="1"/>
          <p:nvPr/>
        </p:nvSpPr>
        <p:spPr>
          <a:xfrm>
            <a:off x="1181405" y="5725973"/>
            <a:ext cx="19769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Presented by: [Presenter Name]</a:t>
            </a:r>
            <a:endParaRPr lang="en-US" sz="1000" dirty="0"/>
          </a:p>
        </p:txBody>
      </p:sp>
      <p:sp>
        <p:nvSpPr>
          <p:cNvPr id="20" name="Text 12"/>
          <p:cNvSpPr txBox="1"/>
          <p:nvPr/>
        </p:nvSpPr>
        <p:spPr>
          <a:xfrm>
            <a:off x="3658514" y="5725973"/>
            <a:ext cx="9098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January 2026</a:t>
            </a:r>
            <a:endParaRPr lang="en-US" sz="1000" dirty="0"/>
          </a:p>
        </p:txBody>
      </p:sp>
      <p:sp>
        <p:nvSpPr>
          <p:cNvPr id="21" name="Text 13"/>
          <p:cNvSpPr txBox="1"/>
          <p:nvPr/>
        </p:nvSpPr>
        <p:spPr>
          <a:xfrm>
            <a:off x="5076749" y="5725973"/>
            <a:ext cx="16724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Enterprise Quality Practice</a:t>
            </a:r>
            <a:endParaRPr lang="en-US" sz="1000" dirty="0"/>
          </a:p>
        </p:txBody>
      </p:sp>
      <p:sp>
        <p:nvSpPr>
          <p:cNvPr id="22" name="Text 14"/>
          <p:cNvSpPr txBox="1"/>
          <p:nvPr/>
        </p:nvSpPr>
        <p:spPr>
          <a:xfrm>
            <a:off x="10497312" y="418795"/>
            <a:ext cx="12957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43A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GENSPARK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334110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437998"/>
            <a:ext cx="35250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 &amp; Outcomes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942746"/>
            <a:ext cx="52056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1 — Enterprise Lakehouse Quality Engineering Blueprint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088575" y="838505"/>
            <a:ext cx="1647749" cy="342900"/>
          </a:xfrm>
          <a:prstGeom prst="roundRect">
            <a:avLst>
              <a:gd name="adj" fmla="val 266667"/>
            </a:avLst>
          </a:prstGeom>
          <a:solidFill>
            <a:srgbClr val="EFF6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40366" y="940918"/>
            <a:ext cx="133502" cy="1335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449763" y="923544"/>
            <a:ext cx="12335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Duration: 2 Hours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1723644"/>
            <a:ext cx="3562502" cy="2553005"/>
          </a:xfrm>
          <a:prstGeom prst="roundRect">
            <a:avLst>
              <a:gd name="adj" fmla="val 16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92754" y="1733702"/>
            <a:ext cx="714146" cy="2286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407054" y="1772107"/>
            <a:ext cx="571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 MINS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771754" y="1981505"/>
            <a:ext cx="857707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3600" dirty="0"/>
          </a:p>
        </p:txBody>
      </p:sp>
      <p:sp>
        <p:nvSpPr>
          <p:cNvPr id="14" name="Shape 11"/>
          <p:cNvSpPr/>
          <p:nvPr/>
        </p:nvSpPr>
        <p:spPr>
          <a:xfrm>
            <a:off x="771754" y="2648102"/>
            <a:ext cx="371246" cy="381305"/>
          </a:xfrm>
          <a:prstGeom prst="roundRect">
            <a:avLst>
              <a:gd name="adj" fmla="val 50524"/>
            </a:avLst>
          </a:prstGeom>
          <a:solidFill>
            <a:srgbClr val="DBEAF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-1282" r="-1282" t="0" b="0"/>
          <a:stretch/>
        </p:blipFill>
        <p:spPr>
          <a:xfrm>
            <a:off x="847649" y="2728570"/>
            <a:ext cx="219456" cy="1901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295705" y="2648102"/>
            <a:ext cx="1267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QA Strategy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1295705" y="2933395"/>
            <a:ext cx="16248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Bronze → Silver → Gold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771754" y="3323844"/>
            <a:ext cx="287213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dive into layered quality gates. How to de-risk ingestion, validation, and serving layers with specific controls.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317797" y="1723644"/>
            <a:ext cx="3562502" cy="2553005"/>
          </a:xfrm>
          <a:prstGeom prst="roundRect">
            <a:avLst>
              <a:gd name="adj" fmla="val 16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153351" y="1733702"/>
            <a:ext cx="714146" cy="2286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267651" y="1772107"/>
            <a:ext cx="571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 MINS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4632350" y="1981505"/>
            <a:ext cx="943661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3600" dirty="0"/>
          </a:p>
        </p:txBody>
      </p:sp>
      <p:sp>
        <p:nvSpPr>
          <p:cNvPr id="23" name="Shape 19"/>
          <p:cNvSpPr/>
          <p:nvPr/>
        </p:nvSpPr>
        <p:spPr>
          <a:xfrm>
            <a:off x="4632350" y="2648102"/>
            <a:ext cx="390449" cy="381305"/>
          </a:xfrm>
          <a:prstGeom prst="roundRect">
            <a:avLst>
              <a:gd name="adj" fmla="val 47962"/>
            </a:avLst>
          </a:prstGeom>
          <a:solidFill>
            <a:srgbClr val="EDE9FE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708246" y="2728570"/>
            <a:ext cx="237744" cy="190195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175504" y="2648102"/>
            <a:ext cx="1666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QE in Data Mesh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5175504" y="2933395"/>
            <a:ext cx="16815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Domain-driven Pipelines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4632350" y="3323844"/>
            <a:ext cx="2815438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Federated quality ownership. Defining data contracts, SLOs, and CI/CD gates for decentralized teams.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8178394" y="1723644"/>
            <a:ext cx="3562502" cy="2553005"/>
          </a:xfrm>
          <a:prstGeom prst="roundRect">
            <a:avLst>
              <a:gd name="adj" fmla="val 16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1018520" y="1733702"/>
            <a:ext cx="714146" cy="2286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11132820" y="1772107"/>
            <a:ext cx="571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MINS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8492947" y="1981505"/>
            <a:ext cx="95280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36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rcRect l="-1282" r="-1282" t="0" b="0"/>
          <a:stretch/>
        </p:blipFill>
        <p:spPr>
          <a:xfrm>
            <a:off x="8568842" y="2728570"/>
            <a:ext cx="219456" cy="190195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9016898" y="2648102"/>
            <a:ext cx="1953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Impact</a:t>
            </a:r>
            <a:endParaRPr lang="en-US" sz="1500" dirty="0"/>
          </a:p>
        </p:txBody>
      </p:sp>
      <p:sp>
        <p:nvSpPr>
          <p:cNvPr id="34" name="Text 28"/>
          <p:cNvSpPr txBox="1"/>
          <p:nvPr/>
        </p:nvSpPr>
        <p:spPr>
          <a:xfrm>
            <a:off x="9016898" y="2933395"/>
            <a:ext cx="16907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Deal Wins &amp; RFP Scoring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8492947" y="3323844"/>
            <a:ext cx="2805379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Translating technical quality into business value. How QE maturity improves win rates and RFP scores.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457200" y="4574743"/>
            <a:ext cx="11277295" cy="1600200"/>
          </a:xfrm>
          <a:prstGeom prst="roundRect">
            <a:avLst>
              <a:gd name="adj" fmla="val 4082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3419856" y="5146243"/>
            <a:ext cx="9144" cy="457200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61695" y="5146243"/>
            <a:ext cx="152705" cy="152705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990295" y="5146243"/>
            <a:ext cx="11530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40" name="Text 33"/>
          <p:cNvSpPr txBox="1"/>
          <p:nvPr/>
        </p:nvSpPr>
        <p:spPr>
          <a:xfrm>
            <a:off x="761695" y="5345582"/>
            <a:ext cx="23628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Outcomes</a:t>
            </a:r>
            <a:endParaRPr lang="en-US" sz="1800" dirty="0"/>
          </a:p>
        </p:txBody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100" b="-1100"/>
          <a:stretch/>
        </p:blipFill>
        <p:spPr>
          <a:xfrm>
            <a:off x="3733495" y="4917643"/>
            <a:ext cx="114300" cy="133502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3962095" y="4888382"/>
            <a:ext cx="227228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Standardized controls &amp; test types per layer</a:t>
            </a:r>
            <a:endParaRPr lang="en-US" sz="1000" dirty="0"/>
          </a:p>
        </p:txBody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100" b="-1100"/>
          <a:stretch/>
        </p:blipFill>
        <p:spPr>
          <a:xfrm>
            <a:off x="6375197" y="4917643"/>
            <a:ext cx="114300" cy="133502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6603797" y="4888382"/>
            <a:ext cx="203362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operating model for data domains</a:t>
            </a:r>
            <a:endParaRPr lang="en-US" sz="1000" dirty="0"/>
          </a:p>
        </p:txBody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100" b="-1100"/>
          <a:stretch/>
        </p:blipFill>
        <p:spPr>
          <a:xfrm>
            <a:off x="9016898" y="4917643"/>
            <a:ext cx="114300" cy="133502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9245498" y="4888382"/>
            <a:ext cx="176753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RFP scoring rubric &amp; value narrative</a:t>
            </a:r>
            <a:endParaRPr lang="en-US" sz="1000" dirty="0"/>
          </a:p>
        </p:txBody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100" b="-1100"/>
          <a:stretch/>
        </p:blipFill>
        <p:spPr>
          <a:xfrm>
            <a:off x="3733495" y="5526634"/>
            <a:ext cx="114300" cy="133502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3962095" y="5498287"/>
            <a:ext cx="19485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CI/CD quality gate definitions</a:t>
            </a:r>
            <a:endParaRPr lang="en-US" sz="1000" dirty="0"/>
          </a:p>
        </p:txBody>
      </p:sp>
      <p:pic>
        <p:nvPicPr>
          <p:cNvPr id="49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1100" b="-1100"/>
          <a:stretch/>
        </p:blipFill>
        <p:spPr>
          <a:xfrm>
            <a:off x="6375197" y="5526634"/>
            <a:ext cx="114300" cy="133502"/>
          </a:xfrm>
          <a:prstGeom prst="rect">
            <a:avLst/>
          </a:prstGeom>
        </p:spPr>
      </p:pic>
      <p:sp>
        <p:nvSpPr>
          <p:cNvPr id="50" name="Text 38"/>
          <p:cNvSpPr txBox="1"/>
          <p:nvPr/>
        </p:nvSpPr>
        <p:spPr>
          <a:xfrm>
            <a:off x="6603797" y="5498287"/>
            <a:ext cx="207203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Concrete KPI set for measuring QE success</a:t>
            </a:r>
            <a:endParaRPr lang="en-US" sz="1000" dirty="0"/>
          </a:p>
        </p:txBody>
      </p:sp>
      <p:sp>
        <p:nvSpPr>
          <p:cNvPr id="51" name="Shape 39"/>
          <p:cNvSpPr/>
          <p:nvPr/>
        </p:nvSpPr>
        <p:spPr>
          <a:xfrm>
            <a:off x="457200" y="6403543"/>
            <a:ext cx="112772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2" name="Text 40"/>
          <p:cNvSpPr txBox="1"/>
          <p:nvPr/>
        </p:nvSpPr>
        <p:spPr>
          <a:xfrm>
            <a:off x="457200" y="6565392"/>
            <a:ext cx="22576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— Internal Training Material</a:t>
            </a:r>
            <a:endParaRPr lang="en-US" sz="900" dirty="0"/>
          </a:p>
        </p:txBody>
      </p:sp>
      <p:sp>
        <p:nvSpPr>
          <p:cNvPr id="53" name="Text 41"/>
          <p:cNvSpPr txBox="1"/>
          <p:nvPr/>
        </p:nvSpPr>
        <p:spPr>
          <a:xfrm>
            <a:off x="11358677" y="6565392"/>
            <a:ext cx="4672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0"/>
            <a:ext cx="4876495" cy="68580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743700"/>
            <a:ext cx="12191695" cy="1143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224382"/>
            <a:ext cx="609905" cy="3840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5253228"/>
            <a:ext cx="457200" cy="457200"/>
          </a:xfrm>
          <a:prstGeom prst="roundRect">
            <a:avLst>
              <a:gd name="adj" fmla="val 200000"/>
            </a:avLst>
          </a:prstGeom>
          <a:noFill/>
          <a:ln w="25400">
            <a:solidFill>
              <a:srgbClr val="92400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10082" y="5367528"/>
            <a:ext cx="181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20517" y="5253228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9FAFB"/>
          </a:solidFill>
          <a:ln w="25400">
            <a:solidFill>
              <a:srgbClr val="9CA3A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01568" y="536752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67198" y="5253228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FBE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46420" y="536752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676095" y="1157630"/>
            <a:ext cx="10149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01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1652321"/>
            <a:ext cx="6163056" cy="1400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QA Strategy: Bronze → Silver → Gold</a:t>
            </a:r>
            <a:endParaRPr lang="en-US" sz="45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3424428"/>
            <a:ext cx="5734202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layered quality gates de-risk data ingestion, curation, and serving through a progressive maturity model.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24305" y="5253228"/>
            <a:ext cx="571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 1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524305" y="5471770"/>
            <a:ext cx="9198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Ingestion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830422" y="5253228"/>
            <a:ext cx="5907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 2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3830422" y="5471770"/>
            <a:ext cx="8531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Curation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076188" y="5253228"/>
            <a:ext cx="6007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 3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076188" y="5471770"/>
            <a:ext cx="7863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Serving</a:t>
            </a:r>
            <a:endParaRPr lang="en-US" sz="13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9" b="-9"/>
          <a:stretch/>
        </p:blipFill>
        <p:spPr>
          <a:xfrm>
            <a:off x="8229600" y="1276502"/>
            <a:ext cx="3047695" cy="3810305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8950147" y="5400446"/>
            <a:ext cx="17099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Gate Architecture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09905" y="504749"/>
            <a:ext cx="53346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Lakehouse Quality Framework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076249"/>
            <a:ext cx="68058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Progressive quality controls from ingestion to consumption to ensure trust at scale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9905" y="1686154"/>
            <a:ext cx="3276295" cy="4190695"/>
          </a:xfrm>
          <a:prstGeom prst="roundRect">
            <a:avLst>
              <a:gd name="adj" fmla="val 97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19049" y="1695298"/>
            <a:ext cx="3258007" cy="905256"/>
          </a:xfrm>
          <a:prstGeom prst="roundRect">
            <a:avLst>
              <a:gd name="adj" fmla="val 12759"/>
            </a:avLst>
          </a:prstGeom>
          <a:solidFill>
            <a:srgbClr val="78350F"/>
          </a:solidFill>
          <a:ln/>
        </p:spPr>
      </p:sp>
      <p:sp>
        <p:nvSpPr>
          <p:cNvPr id="9" name="Shape 7"/>
          <p:cNvSpPr/>
          <p:nvPr/>
        </p:nvSpPr>
        <p:spPr>
          <a:xfrm>
            <a:off x="619049" y="2591410"/>
            <a:ext cx="3258007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7649" y="1914754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Bronze Layer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47649" y="2219249"/>
            <a:ext cx="15124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Ingestion &amp; Landing</a:t>
            </a:r>
            <a:endParaRPr lang="en-US" sz="9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-4000" r="-4000" t="0" b="0"/>
          <a:stretch/>
        </p:blipFill>
        <p:spPr>
          <a:xfrm>
            <a:off x="847649" y="2852928"/>
            <a:ext cx="123444" cy="11430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028700" y="2824582"/>
            <a:ext cx="10579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CONTROLS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-2571" r="-2571" t="0" b="0"/>
          <a:stretch/>
        </p:blipFill>
        <p:spPr>
          <a:xfrm>
            <a:off x="847649" y="3071470"/>
            <a:ext cx="105156" cy="1143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52805" y="3071470"/>
            <a:ext cx="19860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Land data "as-is" (immutable)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-2571" r="-2571" t="0" b="0"/>
          <a:stretch/>
        </p:blipFill>
        <p:spPr>
          <a:xfrm>
            <a:off x="847649" y="3354019"/>
            <a:ext cx="105156" cy="1143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52805" y="3354019"/>
            <a:ext cx="1948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capture &amp; versioning</a:t>
            </a:r>
            <a:endParaRPr lang="en-US" sz="10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-2571" r="-2571" t="0" b="0"/>
          <a:stretch/>
        </p:blipFill>
        <p:spPr>
          <a:xfrm>
            <a:off x="847649" y="3635654"/>
            <a:ext cx="105156" cy="1143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52805" y="3635654"/>
            <a:ext cx="17574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PII tagging &amp; classification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-2571" r="-2571" t="0" b="0"/>
          <a:stretch/>
        </p:blipFill>
        <p:spPr>
          <a:xfrm>
            <a:off x="847649" y="3917290"/>
            <a:ext cx="105156" cy="1143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52805" y="3917290"/>
            <a:ext cx="1653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checksum validation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847649" y="4762195"/>
            <a:ext cx="2800807" cy="875995"/>
          </a:xfrm>
          <a:prstGeom prst="roundRect">
            <a:avLst>
              <a:gd name="adj" fmla="val 9077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972007" y="4895698"/>
            <a:ext cx="4572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</a:t>
            </a:r>
            <a:endParaRPr lang="en-US" sz="900" dirty="0"/>
          </a:p>
        </p:txBody>
      </p:sp>
      <p:sp>
        <p:nvSpPr>
          <p:cNvPr id="24" name="Text 17"/>
          <p:cNvSpPr txBox="1"/>
          <p:nvPr/>
        </p:nvSpPr>
        <p:spPr>
          <a:xfrm>
            <a:off x="2818181" y="4895698"/>
            <a:ext cx="8001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Eng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972007" y="5124298"/>
            <a:ext cx="6766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 Focus</a:t>
            </a:r>
            <a:endParaRPr lang="en-US" sz="900" dirty="0"/>
          </a:p>
        </p:txBody>
      </p:sp>
      <p:sp>
        <p:nvSpPr>
          <p:cNvPr id="26" name="Text 19"/>
          <p:cNvSpPr txBox="1"/>
          <p:nvPr/>
        </p:nvSpPr>
        <p:spPr>
          <a:xfrm>
            <a:off x="2248510" y="5124298"/>
            <a:ext cx="13624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Freshness / Availability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972007" y="5352898"/>
            <a:ext cx="8961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Check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2606954" y="5352898"/>
            <a:ext cx="10104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 &amp; Arrival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4457700" y="1686154"/>
            <a:ext cx="3276295" cy="4190695"/>
          </a:xfrm>
          <a:prstGeom prst="roundRect">
            <a:avLst>
              <a:gd name="adj" fmla="val 97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466844" y="1695298"/>
            <a:ext cx="3258007" cy="905256"/>
          </a:xfrm>
          <a:prstGeom prst="roundRect">
            <a:avLst>
              <a:gd name="adj" fmla="val 12759"/>
            </a:avLst>
          </a:prstGeom>
          <a:solidFill>
            <a:srgbClr val="475569"/>
          </a:solidFill>
          <a:ln/>
        </p:spPr>
      </p:sp>
      <p:sp>
        <p:nvSpPr>
          <p:cNvPr id="31" name="Shape 24"/>
          <p:cNvSpPr/>
          <p:nvPr/>
        </p:nvSpPr>
        <p:spPr>
          <a:xfrm>
            <a:off x="4466844" y="2591410"/>
            <a:ext cx="3258007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4695444" y="1914754"/>
            <a:ext cx="1239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Silver Layer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4695444" y="2219249"/>
            <a:ext cx="13697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Cleaned &amp; Conformed</a:t>
            </a:r>
            <a:endParaRPr lang="en-US" sz="90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rcRect l="-4000" r="-4000" t="0" b="0"/>
          <a:stretch/>
        </p:blipFill>
        <p:spPr>
          <a:xfrm>
            <a:off x="4695444" y="2852928"/>
            <a:ext cx="123444" cy="11430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4876495" y="2824582"/>
            <a:ext cx="10579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CONTROLS</a:t>
            </a:r>
            <a:endParaRPr lang="en-US" sz="900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rcRect l="-2571" r="-2571" t="0" b="0"/>
          <a:stretch/>
        </p:blipFill>
        <p:spPr>
          <a:xfrm>
            <a:off x="4695444" y="3071470"/>
            <a:ext cx="105156" cy="11430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4800600" y="3071470"/>
            <a:ext cx="18050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Strict schema enforcement</a:t>
            </a:r>
            <a:endParaRPr lang="en-US" sz="1000" dirty="0"/>
          </a:p>
        </p:txBody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rcRect l="-2571" r="-2571" t="0" b="0"/>
          <a:stretch/>
        </p:blipFill>
        <p:spPr>
          <a:xfrm>
            <a:off x="4695444" y="3354019"/>
            <a:ext cx="105156" cy="11430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4800600" y="3354019"/>
            <a:ext cx="20820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Null / Duplicate / Range checks</a:t>
            </a:r>
            <a:endParaRPr lang="en-US" sz="1000" dirty="0"/>
          </a:p>
        </p:txBody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rcRect l="-2571" r="-2571" t="0" b="0"/>
          <a:stretch/>
        </p:blipFill>
        <p:spPr>
          <a:xfrm>
            <a:off x="4695444" y="3635654"/>
            <a:ext cx="105156" cy="114300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4800600" y="3635654"/>
            <a:ext cx="16724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Referential integrity logic</a:t>
            </a:r>
            <a:endParaRPr lang="en-US" sz="1000" dirty="0"/>
          </a:p>
        </p:txBody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rcRect l="-2571" r="-2571" t="0" b="0"/>
          <a:stretch/>
        </p:blipFill>
        <p:spPr>
          <a:xfrm>
            <a:off x="4695444" y="3917290"/>
            <a:ext cx="105156" cy="114300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4800600" y="3917290"/>
            <a:ext cx="18717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SCD Type 2 history tracking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4695444" y="4762195"/>
            <a:ext cx="2800807" cy="875995"/>
          </a:xfrm>
          <a:prstGeom prst="roundRect">
            <a:avLst>
              <a:gd name="adj" fmla="val 9077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5" name="Text 33"/>
          <p:cNvSpPr txBox="1"/>
          <p:nvPr/>
        </p:nvSpPr>
        <p:spPr>
          <a:xfrm>
            <a:off x="4819802" y="4895698"/>
            <a:ext cx="4572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</a:t>
            </a:r>
            <a:endParaRPr lang="en-US" sz="900" dirty="0"/>
          </a:p>
        </p:txBody>
      </p:sp>
      <p:sp>
        <p:nvSpPr>
          <p:cNvPr id="46" name="Text 34"/>
          <p:cNvSpPr txBox="1"/>
          <p:nvPr/>
        </p:nvSpPr>
        <p:spPr>
          <a:xfrm>
            <a:off x="6453835" y="4895698"/>
            <a:ext cx="10104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 Eng / QE</a:t>
            </a:r>
            <a:endParaRPr lang="en-US" sz="900" dirty="0"/>
          </a:p>
        </p:txBody>
      </p:sp>
      <p:sp>
        <p:nvSpPr>
          <p:cNvPr id="47" name="Text 35"/>
          <p:cNvSpPr txBox="1"/>
          <p:nvPr/>
        </p:nvSpPr>
        <p:spPr>
          <a:xfrm>
            <a:off x="4819802" y="5124298"/>
            <a:ext cx="6766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 Focus</a:t>
            </a:r>
            <a:endParaRPr lang="en-US" sz="900" dirty="0"/>
          </a:p>
        </p:txBody>
      </p:sp>
      <p:sp>
        <p:nvSpPr>
          <p:cNvPr id="48" name="Text 36"/>
          <p:cNvSpPr txBox="1"/>
          <p:nvPr/>
        </p:nvSpPr>
        <p:spPr>
          <a:xfrm>
            <a:off x="5950001" y="5124298"/>
            <a:ext cx="15151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Completeness / Accuracy</a:t>
            </a:r>
            <a:endParaRPr lang="en-US" sz="900" dirty="0"/>
          </a:p>
        </p:txBody>
      </p:sp>
      <p:sp>
        <p:nvSpPr>
          <p:cNvPr id="49" name="Text 37"/>
          <p:cNvSpPr txBox="1"/>
          <p:nvPr/>
        </p:nvSpPr>
        <p:spPr>
          <a:xfrm>
            <a:off x="4819802" y="5352898"/>
            <a:ext cx="8961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Check</a:t>
            </a:r>
            <a:endParaRPr lang="en-US" sz="900" dirty="0"/>
          </a:p>
        </p:txBody>
      </p:sp>
      <p:sp>
        <p:nvSpPr>
          <p:cNvPr id="50" name="Text 38"/>
          <p:cNvSpPr txBox="1"/>
          <p:nvPr/>
        </p:nvSpPr>
        <p:spPr>
          <a:xfrm>
            <a:off x="6450178" y="5352898"/>
            <a:ext cx="10104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Constraints</a:t>
            </a:r>
            <a:endParaRPr lang="en-US" sz="900" dirty="0"/>
          </a:p>
        </p:txBody>
      </p:sp>
      <p:sp>
        <p:nvSpPr>
          <p:cNvPr id="51" name="Shape 39"/>
          <p:cNvSpPr/>
          <p:nvPr/>
        </p:nvSpPr>
        <p:spPr>
          <a:xfrm>
            <a:off x="8305495" y="1686154"/>
            <a:ext cx="3276295" cy="4190695"/>
          </a:xfrm>
          <a:prstGeom prst="roundRect">
            <a:avLst>
              <a:gd name="adj" fmla="val 97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52" name="Shape 40"/>
          <p:cNvSpPr/>
          <p:nvPr/>
        </p:nvSpPr>
        <p:spPr>
          <a:xfrm>
            <a:off x="8315554" y="1695298"/>
            <a:ext cx="3258007" cy="905256"/>
          </a:xfrm>
          <a:prstGeom prst="roundRect">
            <a:avLst>
              <a:gd name="adj" fmla="val 12759"/>
            </a:avLst>
          </a:prstGeom>
          <a:solidFill>
            <a:srgbClr val="B45309"/>
          </a:solidFill>
          <a:ln/>
        </p:spPr>
      </p:sp>
      <p:sp>
        <p:nvSpPr>
          <p:cNvPr id="53" name="Shape 41"/>
          <p:cNvSpPr/>
          <p:nvPr/>
        </p:nvSpPr>
        <p:spPr>
          <a:xfrm>
            <a:off x="8315554" y="2591410"/>
            <a:ext cx="3258007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Text 42"/>
          <p:cNvSpPr txBox="1"/>
          <p:nvPr/>
        </p:nvSpPr>
        <p:spPr>
          <a:xfrm>
            <a:off x="8544154" y="191475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 Layer</a:t>
            </a:r>
            <a:endParaRPr lang="en-US" sz="1500" dirty="0"/>
          </a:p>
        </p:txBody>
      </p:sp>
      <p:sp>
        <p:nvSpPr>
          <p:cNvPr id="55" name="Text 43"/>
          <p:cNvSpPr txBox="1"/>
          <p:nvPr/>
        </p:nvSpPr>
        <p:spPr>
          <a:xfrm>
            <a:off x="8544154" y="2219249"/>
            <a:ext cx="135056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Aggregated &amp; Trusted</a:t>
            </a:r>
            <a:endParaRPr lang="en-US" sz="900" dirty="0"/>
          </a:p>
        </p:txBody>
      </p:sp>
      <p:pic>
        <p:nvPicPr>
          <p:cNvPr id="56" name="Image 10" descr="preencoded.png">    </p:cNvPr>
          <p:cNvPicPr>
            <a:picLocks noChangeAspect="1"/>
          </p:cNvPicPr>
          <p:nvPr/>
        </p:nvPicPr>
        <p:blipFill>
          <a:blip r:embed="rId11"/>
          <a:srcRect l="-5467" r="-5467" t="0" b="0"/>
          <a:stretch/>
        </p:blipFill>
        <p:spPr>
          <a:xfrm>
            <a:off x="8544154" y="2852928"/>
            <a:ext cx="95098" cy="114300"/>
          </a:xfrm>
          <a:prstGeom prst="rect">
            <a:avLst/>
          </a:prstGeom>
        </p:spPr>
      </p:pic>
      <p:sp>
        <p:nvSpPr>
          <p:cNvPr id="57" name="Text 44"/>
          <p:cNvSpPr txBox="1"/>
          <p:nvPr/>
        </p:nvSpPr>
        <p:spPr>
          <a:xfrm>
            <a:off x="8695944" y="2824582"/>
            <a:ext cx="10579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CONTROLS</a:t>
            </a:r>
            <a:endParaRPr lang="en-US" sz="900" dirty="0"/>
          </a:p>
        </p:txBody>
      </p:sp>
      <p:pic>
        <p:nvPicPr>
          <p:cNvPr id="58" name="Image 11" descr="preencoded.png">    </p:cNvPr>
          <p:cNvPicPr>
            <a:picLocks noChangeAspect="1"/>
          </p:cNvPicPr>
          <p:nvPr/>
        </p:nvPicPr>
        <p:blipFill>
          <a:blip r:embed="rId12"/>
          <a:srcRect l="-2571" r="-2571" t="0" b="0"/>
          <a:stretch/>
        </p:blipFill>
        <p:spPr>
          <a:xfrm>
            <a:off x="8544154" y="3071470"/>
            <a:ext cx="105156" cy="114300"/>
          </a:xfrm>
          <a:prstGeom prst="rect">
            <a:avLst/>
          </a:prstGeom>
        </p:spPr>
      </p:pic>
      <p:sp>
        <p:nvSpPr>
          <p:cNvPr id="59" name="Text 45"/>
          <p:cNvSpPr txBox="1"/>
          <p:nvPr/>
        </p:nvSpPr>
        <p:spPr>
          <a:xfrm>
            <a:off x="8648395" y="3071470"/>
            <a:ext cx="18909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logic reconciliation</a:t>
            </a:r>
            <a:endParaRPr lang="en-US" sz="1000" dirty="0"/>
          </a:p>
        </p:txBody>
      </p:sp>
      <p:pic>
        <p:nvPicPr>
          <p:cNvPr id="60" name="Image 12" descr="preencoded.png">    </p:cNvPr>
          <p:cNvPicPr>
            <a:picLocks noChangeAspect="1"/>
          </p:cNvPicPr>
          <p:nvPr/>
        </p:nvPicPr>
        <p:blipFill>
          <a:blip r:embed="rId13"/>
          <a:srcRect l="-2571" r="-2571" t="0" b="0"/>
          <a:stretch/>
        </p:blipFill>
        <p:spPr>
          <a:xfrm>
            <a:off x="8544154" y="3354019"/>
            <a:ext cx="105156" cy="114300"/>
          </a:xfrm>
          <a:prstGeom prst="rect">
            <a:avLst/>
          </a:prstGeom>
        </p:spPr>
      </p:pic>
      <p:sp>
        <p:nvSpPr>
          <p:cNvPr id="61" name="Text 46"/>
          <p:cNvSpPr txBox="1"/>
          <p:nvPr/>
        </p:nvSpPr>
        <p:spPr>
          <a:xfrm>
            <a:off x="8648395" y="3354019"/>
            <a:ext cx="1690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Bias &amp; anomaly detection</a:t>
            </a:r>
            <a:endParaRPr lang="en-US" sz="1000" dirty="0"/>
          </a:p>
        </p:txBody>
      </p:sp>
      <p:pic>
        <p:nvPicPr>
          <p:cNvPr id="62" name="Image 13" descr="preencoded.png">    </p:cNvPr>
          <p:cNvPicPr>
            <a:picLocks noChangeAspect="1"/>
          </p:cNvPicPr>
          <p:nvPr/>
        </p:nvPicPr>
        <p:blipFill>
          <a:blip r:embed="rId14"/>
          <a:srcRect l="-2571" r="-2571" t="0" b="0"/>
          <a:stretch/>
        </p:blipFill>
        <p:spPr>
          <a:xfrm>
            <a:off x="8544154" y="3635654"/>
            <a:ext cx="105156" cy="114300"/>
          </a:xfrm>
          <a:prstGeom prst="rect">
            <a:avLst/>
          </a:prstGeom>
        </p:spPr>
      </p:pic>
      <p:sp>
        <p:nvSpPr>
          <p:cNvPr id="63" name="Text 47"/>
          <p:cNvSpPr txBox="1"/>
          <p:nvPr/>
        </p:nvSpPr>
        <p:spPr>
          <a:xfrm>
            <a:off x="8648395" y="3635654"/>
            <a:ext cx="17291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Row-level access policies</a:t>
            </a:r>
            <a:endParaRPr lang="en-US" sz="1000" dirty="0"/>
          </a:p>
        </p:txBody>
      </p:sp>
      <p:pic>
        <p:nvPicPr>
          <p:cNvPr id="64" name="Image 14" descr="preencoded.png">    </p:cNvPr>
          <p:cNvPicPr>
            <a:picLocks noChangeAspect="1"/>
          </p:cNvPicPr>
          <p:nvPr/>
        </p:nvPicPr>
        <p:blipFill>
          <a:blip r:embed="rId15"/>
          <a:srcRect l="-2571" r="-2571" t="0" b="0"/>
          <a:stretch/>
        </p:blipFill>
        <p:spPr>
          <a:xfrm>
            <a:off x="8544154" y="3917290"/>
            <a:ext cx="105156" cy="114300"/>
          </a:xfrm>
          <a:prstGeom prst="rect">
            <a:avLst/>
          </a:prstGeom>
        </p:spPr>
      </p:pic>
      <p:sp>
        <p:nvSpPr>
          <p:cNvPr id="65" name="Text 48"/>
          <p:cNvSpPr txBox="1"/>
          <p:nvPr/>
        </p:nvSpPr>
        <p:spPr>
          <a:xfrm>
            <a:off x="8648395" y="3917290"/>
            <a:ext cx="16056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Cross-source validation</a:t>
            </a:r>
            <a:endParaRPr lang="en-US" sz="1000" dirty="0"/>
          </a:p>
        </p:txBody>
      </p:sp>
      <p:sp>
        <p:nvSpPr>
          <p:cNvPr id="66" name="Shape 49"/>
          <p:cNvSpPr/>
          <p:nvPr/>
        </p:nvSpPr>
        <p:spPr>
          <a:xfrm>
            <a:off x="8544154" y="4762195"/>
            <a:ext cx="2800807" cy="875995"/>
          </a:xfrm>
          <a:prstGeom prst="roundRect">
            <a:avLst>
              <a:gd name="adj" fmla="val 9077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7" name="Text 50"/>
          <p:cNvSpPr txBox="1"/>
          <p:nvPr/>
        </p:nvSpPr>
        <p:spPr>
          <a:xfrm>
            <a:off x="8667598" y="4895698"/>
            <a:ext cx="4572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</a:t>
            </a:r>
            <a:endParaRPr lang="en-US" sz="900" dirty="0"/>
          </a:p>
        </p:txBody>
      </p:sp>
      <p:sp>
        <p:nvSpPr>
          <p:cNvPr id="68" name="Text 51"/>
          <p:cNvSpPr txBox="1"/>
          <p:nvPr/>
        </p:nvSpPr>
        <p:spPr>
          <a:xfrm>
            <a:off x="9980676" y="4895698"/>
            <a:ext cx="13341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/ Analytics QE</a:t>
            </a:r>
            <a:endParaRPr lang="en-US" sz="900" dirty="0"/>
          </a:p>
        </p:txBody>
      </p:sp>
      <p:sp>
        <p:nvSpPr>
          <p:cNvPr id="69" name="Text 52"/>
          <p:cNvSpPr txBox="1"/>
          <p:nvPr/>
        </p:nvSpPr>
        <p:spPr>
          <a:xfrm>
            <a:off x="8667598" y="5124298"/>
            <a:ext cx="6766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 Focus</a:t>
            </a:r>
            <a:endParaRPr lang="en-US" sz="900" dirty="0"/>
          </a:p>
        </p:txBody>
      </p:sp>
      <p:sp>
        <p:nvSpPr>
          <p:cNvPr id="70" name="Text 53"/>
          <p:cNvSpPr txBox="1"/>
          <p:nvPr/>
        </p:nvSpPr>
        <p:spPr>
          <a:xfrm>
            <a:off x="9947758" y="5124298"/>
            <a:ext cx="13624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Usability / Consistency</a:t>
            </a:r>
            <a:endParaRPr lang="en-US" sz="900" dirty="0"/>
          </a:p>
        </p:txBody>
      </p:sp>
      <p:sp>
        <p:nvSpPr>
          <p:cNvPr id="71" name="Text 54"/>
          <p:cNvSpPr txBox="1"/>
          <p:nvPr/>
        </p:nvSpPr>
        <p:spPr>
          <a:xfrm>
            <a:off x="8667598" y="5352898"/>
            <a:ext cx="8961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Check</a:t>
            </a:r>
            <a:endParaRPr lang="en-US" sz="900" dirty="0"/>
          </a:p>
        </p:txBody>
      </p:sp>
      <p:sp>
        <p:nvSpPr>
          <p:cNvPr id="72" name="Text 55"/>
          <p:cNvSpPr txBox="1"/>
          <p:nvPr/>
        </p:nvSpPr>
        <p:spPr>
          <a:xfrm>
            <a:off x="10385755" y="5352898"/>
            <a:ext cx="9244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Rules</a:t>
            </a:r>
            <a:endParaRPr lang="en-US" sz="900" dirty="0"/>
          </a:p>
        </p:txBody>
      </p:sp>
      <p:sp>
        <p:nvSpPr>
          <p:cNvPr id="73" name="Shape 56"/>
          <p:cNvSpPr/>
          <p:nvPr/>
        </p:nvSpPr>
        <p:spPr>
          <a:xfrm>
            <a:off x="609905" y="6143854"/>
            <a:ext cx="10972800" cy="9144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74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609905" y="6329477"/>
            <a:ext cx="114300" cy="114300"/>
          </a:xfrm>
          <a:prstGeom prst="rect">
            <a:avLst/>
          </a:prstGeom>
        </p:spPr>
      </p:pic>
      <p:sp>
        <p:nvSpPr>
          <p:cNvPr id="75" name="Text 57"/>
          <p:cNvSpPr txBox="1"/>
          <p:nvPr/>
        </p:nvSpPr>
        <p:spPr>
          <a:xfrm>
            <a:off x="724205" y="6314846"/>
            <a:ext cx="20482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 Enterprise Quality Engineering</a:t>
            </a:r>
            <a:endParaRPr lang="en-US" sz="900" dirty="0"/>
          </a:p>
        </p:txBody>
      </p:sp>
      <p:sp>
        <p:nvSpPr>
          <p:cNvPr id="76" name="Text 58"/>
          <p:cNvSpPr txBox="1"/>
          <p:nvPr/>
        </p:nvSpPr>
        <p:spPr>
          <a:xfrm>
            <a:off x="8261604" y="6314846"/>
            <a:ext cx="34107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1: Enterprise Lakehouse Quality Engineering Blueprint</a:t>
            </a:r>
            <a:endParaRPr lang="en-US" sz="900" dirty="0"/>
          </a:p>
        </p:txBody>
      </p:sp>
      <p:sp>
        <p:nvSpPr>
          <p:cNvPr id="77" name="Shape 59"/>
          <p:cNvSpPr/>
          <p:nvPr/>
        </p:nvSpPr>
        <p:spPr>
          <a:xfrm>
            <a:off x="3886200" y="3781044"/>
            <a:ext cx="571500" cy="1920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8" name="Shape 60"/>
          <p:cNvSpPr/>
          <p:nvPr/>
        </p:nvSpPr>
        <p:spPr>
          <a:xfrm>
            <a:off x="7733995" y="3781044"/>
            <a:ext cx="571500" cy="19202"/>
          </a:xfrm>
          <a:prstGeom prst="rect">
            <a:avLst/>
          </a:prstGeom>
          <a:solidFill>
            <a:srgbClr val="CBD5E1"/>
          </a:solidFill>
          <a:ln/>
        </p:spPr>
      </p:sp>
      <p:pic>
        <p:nvPicPr>
          <p:cNvPr id="79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-80" b="-80"/>
          <a:stretch/>
        </p:blipFill>
        <p:spPr>
          <a:xfrm>
            <a:off x="4352544" y="3666744"/>
            <a:ext cx="142646" cy="228600"/>
          </a:xfrm>
          <a:prstGeom prst="rect">
            <a:avLst/>
          </a:prstGeom>
        </p:spPr>
      </p:pic>
      <p:pic>
        <p:nvPicPr>
          <p:cNvPr id="80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-80" b="-80"/>
          <a:stretch/>
        </p:blipFill>
        <p:spPr>
          <a:xfrm>
            <a:off x="8201254" y="3666744"/>
            <a:ext cx="142646" cy="228600"/>
          </a:xfrm>
          <a:prstGeom prst="rect">
            <a:avLst/>
          </a:prstGeom>
        </p:spPr>
      </p:pic>
      <p:sp>
        <p:nvSpPr>
          <p:cNvPr id="81" name="Shape 61"/>
          <p:cNvSpPr/>
          <p:nvPr/>
        </p:nvSpPr>
        <p:spPr>
          <a:xfrm>
            <a:off x="4019702" y="3629254"/>
            <a:ext cx="304495" cy="30449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</p:sp>
      <p:pic>
        <p:nvPicPr>
          <p:cNvPr id="82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4105656" y="3715207"/>
            <a:ext cx="133502" cy="133502"/>
          </a:xfrm>
          <a:prstGeom prst="rect">
            <a:avLst/>
          </a:prstGeom>
        </p:spPr>
      </p:pic>
      <p:sp>
        <p:nvSpPr>
          <p:cNvPr id="83" name="Shape 62"/>
          <p:cNvSpPr/>
          <p:nvPr/>
        </p:nvSpPr>
        <p:spPr>
          <a:xfrm>
            <a:off x="7867498" y="3629254"/>
            <a:ext cx="304495" cy="30449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</p:sp>
      <p:pic>
        <p:nvPicPr>
          <p:cNvPr id="84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0" b="0"/>
          <a:stretch/>
        </p:blipFill>
        <p:spPr>
          <a:xfrm>
            <a:off x="7953451" y="3715207"/>
            <a:ext cx="133502" cy="13350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1219810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390449"/>
            <a:ext cx="38148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1 — QUALITY ENGINEERING BLUEPRINT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90702"/>
            <a:ext cx="542970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Controls &amp; Test Types by Layer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10536631" y="809244"/>
            <a:ext cx="13002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Comparison Matrix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2109"/>
            <a:ext cx="16340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CATEGORY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14700" y="1813255"/>
            <a:ext cx="2704795" cy="685800"/>
          </a:xfrm>
          <a:prstGeom prst="roundRect">
            <a:avLst>
              <a:gd name="adj" fmla="val 3704"/>
            </a:avLst>
          </a:prstGeom>
          <a:solidFill>
            <a:srgbClr val="FFFBEB"/>
          </a:solidFill>
          <a:ln/>
        </p:spPr>
      </p:sp>
      <p:sp>
        <p:nvSpPr>
          <p:cNvPr id="10" name="Shape 8"/>
          <p:cNvSpPr/>
          <p:nvPr/>
        </p:nvSpPr>
        <p:spPr>
          <a:xfrm>
            <a:off x="3314700" y="1813255"/>
            <a:ext cx="2704795" cy="38405"/>
          </a:xfrm>
          <a:prstGeom prst="rect">
            <a:avLst/>
          </a:prstGeom>
          <a:solidFill>
            <a:srgbClr val="B45309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29000" y="2004365"/>
            <a:ext cx="152705" cy="15270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3657600" y="1985162"/>
            <a:ext cx="11146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835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Bronze (Raw)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429000" y="2232965"/>
            <a:ext cx="11530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2400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Ingestion &amp; Landing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172200" y="1813255"/>
            <a:ext cx="2704795" cy="685800"/>
          </a:xfrm>
          <a:prstGeom prst="roundRect">
            <a:avLst>
              <a:gd name="adj" fmla="val 3704"/>
            </a:avLst>
          </a:prstGeom>
          <a:solidFill>
            <a:srgbClr val="F9FAFB"/>
          </a:solidFill>
          <a:ln/>
        </p:spPr>
      </p:sp>
      <p:sp>
        <p:nvSpPr>
          <p:cNvPr id="15" name="Shape 12"/>
          <p:cNvSpPr/>
          <p:nvPr/>
        </p:nvSpPr>
        <p:spPr>
          <a:xfrm>
            <a:off x="6172200" y="1813255"/>
            <a:ext cx="2704795" cy="38405"/>
          </a:xfrm>
          <a:prstGeom prst="rect">
            <a:avLst/>
          </a:prstGeom>
          <a:solidFill>
            <a:srgbClr val="9CA3A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-33" r="-33" t="0" b="0"/>
          <a:stretch/>
        </p:blipFill>
        <p:spPr>
          <a:xfrm>
            <a:off x="6286500" y="2004365"/>
            <a:ext cx="171907" cy="15270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534302" y="1985162"/>
            <a:ext cx="14008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Silver (Validated)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6286500" y="2232965"/>
            <a:ext cx="12865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Cleaning &amp; Integration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9029700" y="1813255"/>
            <a:ext cx="2704795" cy="685800"/>
          </a:xfrm>
          <a:prstGeom prst="roundRect">
            <a:avLst>
              <a:gd name="adj" fmla="val 3704"/>
            </a:avLst>
          </a:prstGeom>
          <a:solidFill>
            <a:srgbClr val="FEF3C7"/>
          </a:solidFill>
          <a:ln/>
        </p:spPr>
      </p:sp>
      <p:sp>
        <p:nvSpPr>
          <p:cNvPr id="20" name="Shape 16"/>
          <p:cNvSpPr/>
          <p:nvPr/>
        </p:nvSpPr>
        <p:spPr>
          <a:xfrm>
            <a:off x="9029700" y="1813255"/>
            <a:ext cx="2704795" cy="38405"/>
          </a:xfrm>
          <a:prstGeom prst="rect">
            <a:avLst/>
          </a:prstGeom>
          <a:solidFill>
            <a:srgbClr val="FBBF24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rcRect l="-33" r="-33" t="0" b="0"/>
          <a:stretch/>
        </p:blipFill>
        <p:spPr>
          <a:xfrm>
            <a:off x="9144000" y="2004365"/>
            <a:ext cx="171907" cy="15270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391802" y="1985162"/>
            <a:ext cx="11914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835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 (Trusted)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9144000" y="2232965"/>
            <a:ext cx="13057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2400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Aggregation &amp; Serving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457200" y="3338474"/>
            <a:ext cx="112772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457200" y="2756916"/>
            <a:ext cx="17958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&amp; Structure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457200" y="3033065"/>
            <a:ext cx="16861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Drift detection &amp; enforcement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3314700" y="2727655"/>
            <a:ext cx="9144" cy="4572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438144" y="2766060"/>
            <a:ext cx="152705" cy="152705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3666744" y="2737714"/>
            <a:ext cx="11768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Capture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666744" y="2915107"/>
            <a:ext cx="2095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 new columns; allow evolution.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6172200" y="2727655"/>
            <a:ext cx="9144" cy="4572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295644" y="2766060"/>
            <a:ext cx="152705" cy="15270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6524244" y="2737714"/>
            <a:ext cx="13103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Strict Enforcement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6524244" y="2915107"/>
            <a:ext cx="24295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 on schema mismatch; reject bad types.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9029700" y="2727655"/>
            <a:ext cx="9144" cy="4572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3" b="-43"/>
          <a:stretch/>
        </p:blipFill>
        <p:spPr>
          <a:xfrm>
            <a:off x="9153144" y="2766060"/>
            <a:ext cx="133502" cy="152705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363456" y="2737714"/>
            <a:ext cx="1205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Frozen Contracts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9363456" y="2915107"/>
            <a:ext cx="20866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tolerance for breaking changes.</a:t>
            </a:r>
            <a:endParaRPr lang="en-US" sz="900" dirty="0"/>
          </a:p>
        </p:txBody>
      </p:sp>
      <p:sp>
        <p:nvSpPr>
          <p:cNvPr id="39" name="Shape 31"/>
          <p:cNvSpPr/>
          <p:nvPr/>
        </p:nvSpPr>
        <p:spPr>
          <a:xfrm>
            <a:off x="457200" y="4166006"/>
            <a:ext cx="112772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0" name="Text 32"/>
          <p:cNvSpPr txBox="1"/>
          <p:nvPr/>
        </p:nvSpPr>
        <p:spPr>
          <a:xfrm>
            <a:off x="457200" y="3552444"/>
            <a:ext cx="11676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Quality</a:t>
            </a:r>
            <a:endParaRPr lang="en-US" sz="1300" dirty="0"/>
          </a:p>
        </p:txBody>
      </p:sp>
      <p:sp>
        <p:nvSpPr>
          <p:cNvPr id="41" name="Text 33"/>
          <p:cNvSpPr txBox="1"/>
          <p:nvPr/>
        </p:nvSpPr>
        <p:spPr>
          <a:xfrm>
            <a:off x="457200" y="3829507"/>
            <a:ext cx="21717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Accuracy, Completeness, Consistency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3314700" y="3499409"/>
            <a:ext cx="9144" cy="514807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438144" y="3537814"/>
            <a:ext cx="152705" cy="152705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3666744" y="3509467"/>
            <a:ext cx="14145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Freshness &amp; Volume</a:t>
            </a:r>
            <a:endParaRPr lang="en-US" sz="1000" dirty="0"/>
          </a:p>
        </p:txBody>
      </p:sp>
      <p:sp>
        <p:nvSpPr>
          <p:cNvPr id="45" name="Text 36"/>
          <p:cNvSpPr txBox="1"/>
          <p:nvPr/>
        </p:nvSpPr>
        <p:spPr>
          <a:xfrm>
            <a:off x="3666744" y="3685946"/>
            <a:ext cx="208666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arrival SLAs; Row count ±10% vs source.</a:t>
            </a:r>
            <a:endParaRPr lang="en-US" sz="900" dirty="0"/>
          </a:p>
        </p:txBody>
      </p:sp>
      <p:sp>
        <p:nvSpPr>
          <p:cNvPr id="46" name="Shape 37"/>
          <p:cNvSpPr/>
          <p:nvPr/>
        </p:nvSpPr>
        <p:spPr>
          <a:xfrm>
            <a:off x="6172200" y="3499409"/>
            <a:ext cx="9144" cy="514807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295644" y="3537814"/>
            <a:ext cx="152705" cy="152705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6524244" y="3509467"/>
            <a:ext cx="12719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Nulls &amp; Duplicates</a:t>
            </a:r>
            <a:endParaRPr lang="en-US" sz="1000" dirty="0"/>
          </a:p>
        </p:txBody>
      </p:sp>
      <p:sp>
        <p:nvSpPr>
          <p:cNvPr id="49" name="Text 39"/>
          <p:cNvSpPr txBox="1"/>
          <p:nvPr/>
        </p:nvSpPr>
        <p:spPr>
          <a:xfrm>
            <a:off x="6524244" y="3685946"/>
            <a:ext cx="20007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Drop/quarantine invalid PKs; Range checks.</a:t>
            </a:r>
            <a:endParaRPr lang="en-US" sz="900" dirty="0"/>
          </a:p>
        </p:txBody>
      </p:sp>
      <p:sp>
        <p:nvSpPr>
          <p:cNvPr id="50" name="Shape 40"/>
          <p:cNvSpPr/>
          <p:nvPr/>
        </p:nvSpPr>
        <p:spPr>
          <a:xfrm>
            <a:off x="9029700" y="3499409"/>
            <a:ext cx="9144" cy="514807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80" b="-180"/>
          <a:stretch/>
        </p:blipFill>
        <p:spPr>
          <a:xfrm>
            <a:off x="9153144" y="3537814"/>
            <a:ext cx="190195" cy="152705"/>
          </a:xfrm>
          <a:prstGeom prst="rect">
            <a:avLst/>
          </a:prstGeom>
        </p:spPr>
      </p:pic>
      <p:sp>
        <p:nvSpPr>
          <p:cNvPr id="52" name="Text 41"/>
          <p:cNvSpPr txBox="1"/>
          <p:nvPr/>
        </p:nvSpPr>
        <p:spPr>
          <a:xfrm>
            <a:off x="9420149" y="3509467"/>
            <a:ext cx="10716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Logic</a:t>
            </a:r>
            <a:endParaRPr lang="en-US" sz="1000" dirty="0"/>
          </a:p>
        </p:txBody>
      </p:sp>
      <p:sp>
        <p:nvSpPr>
          <p:cNvPr id="53" name="Text 42"/>
          <p:cNvSpPr txBox="1"/>
          <p:nvPr/>
        </p:nvSpPr>
        <p:spPr>
          <a:xfrm>
            <a:off x="9420149" y="3685946"/>
            <a:ext cx="18480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 reconciliation; Cross-system alignment.</a:t>
            </a:r>
            <a:endParaRPr lang="en-US" sz="900" dirty="0"/>
          </a:p>
        </p:txBody>
      </p:sp>
      <p:sp>
        <p:nvSpPr>
          <p:cNvPr id="54" name="Shape 43"/>
          <p:cNvSpPr/>
          <p:nvPr/>
        </p:nvSpPr>
        <p:spPr>
          <a:xfrm>
            <a:off x="457200" y="4930445"/>
            <a:ext cx="112772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5" name="Text 44"/>
          <p:cNvSpPr txBox="1"/>
          <p:nvPr/>
        </p:nvSpPr>
        <p:spPr>
          <a:xfrm>
            <a:off x="457200" y="4348886"/>
            <a:ext cx="1329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Lineage &amp; Ops</a:t>
            </a:r>
            <a:endParaRPr lang="en-US" sz="1300" dirty="0"/>
          </a:p>
        </p:txBody>
      </p:sp>
      <p:sp>
        <p:nvSpPr>
          <p:cNvPr id="56" name="Text 45"/>
          <p:cNvSpPr txBox="1"/>
          <p:nvPr/>
        </p:nvSpPr>
        <p:spPr>
          <a:xfrm>
            <a:off x="457200" y="4625035"/>
            <a:ext cx="19531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Traceability and operational health</a:t>
            </a:r>
            <a:endParaRPr lang="en-US" sz="900" dirty="0"/>
          </a:p>
        </p:txBody>
      </p:sp>
      <p:sp>
        <p:nvSpPr>
          <p:cNvPr id="57" name="Shape 46"/>
          <p:cNvSpPr/>
          <p:nvPr/>
        </p:nvSpPr>
        <p:spPr>
          <a:xfrm>
            <a:off x="3314700" y="4320540"/>
            <a:ext cx="9144" cy="4572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58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3438144" y="4358945"/>
            <a:ext cx="152705" cy="152705"/>
          </a:xfrm>
          <a:prstGeom prst="rect">
            <a:avLst/>
          </a:prstGeom>
        </p:spPr>
      </p:pic>
      <p:sp>
        <p:nvSpPr>
          <p:cNvPr id="59" name="Text 47"/>
          <p:cNvSpPr txBox="1"/>
          <p:nvPr/>
        </p:nvSpPr>
        <p:spPr>
          <a:xfrm>
            <a:off x="3666744" y="4329684"/>
            <a:ext cx="11292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Checksums</a:t>
            </a:r>
            <a:endParaRPr lang="en-US" sz="1000" dirty="0"/>
          </a:p>
        </p:txBody>
      </p:sp>
      <p:sp>
        <p:nvSpPr>
          <p:cNvPr id="60" name="Text 48"/>
          <p:cNvSpPr txBox="1"/>
          <p:nvPr/>
        </p:nvSpPr>
        <p:spPr>
          <a:xfrm>
            <a:off x="3666744" y="4507078"/>
            <a:ext cx="17053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exact replica of source.</a:t>
            </a:r>
            <a:endParaRPr lang="en-US" sz="900" dirty="0"/>
          </a:p>
        </p:txBody>
      </p:sp>
      <p:sp>
        <p:nvSpPr>
          <p:cNvPr id="61" name="Shape 49"/>
          <p:cNvSpPr/>
          <p:nvPr/>
        </p:nvSpPr>
        <p:spPr>
          <a:xfrm>
            <a:off x="6172200" y="4320540"/>
            <a:ext cx="9144" cy="4572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62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43" b="-43"/>
          <a:stretch/>
        </p:blipFill>
        <p:spPr>
          <a:xfrm>
            <a:off x="6295644" y="4358945"/>
            <a:ext cx="133502" cy="152705"/>
          </a:xfrm>
          <a:prstGeom prst="rect">
            <a:avLst/>
          </a:prstGeom>
        </p:spPr>
      </p:pic>
      <p:sp>
        <p:nvSpPr>
          <p:cNvPr id="63" name="Text 50"/>
          <p:cNvSpPr txBox="1"/>
          <p:nvPr/>
        </p:nvSpPr>
        <p:spPr>
          <a:xfrm>
            <a:off x="6505956" y="4329684"/>
            <a:ext cx="14813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Transformation Logic</a:t>
            </a:r>
            <a:endParaRPr lang="en-US" sz="1000" dirty="0"/>
          </a:p>
        </p:txBody>
      </p:sp>
      <p:sp>
        <p:nvSpPr>
          <p:cNvPr id="64" name="Text 51"/>
          <p:cNvSpPr txBox="1"/>
          <p:nvPr/>
        </p:nvSpPr>
        <p:spPr>
          <a:xfrm>
            <a:off x="6505956" y="4507078"/>
            <a:ext cx="21342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Job-level lineage; Error handling logs.</a:t>
            </a:r>
            <a:endParaRPr lang="en-US" sz="900" dirty="0"/>
          </a:p>
        </p:txBody>
      </p:sp>
      <p:sp>
        <p:nvSpPr>
          <p:cNvPr id="65" name="Shape 52"/>
          <p:cNvSpPr/>
          <p:nvPr/>
        </p:nvSpPr>
        <p:spPr>
          <a:xfrm>
            <a:off x="9029700" y="4320540"/>
            <a:ext cx="9144" cy="4572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66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43" b="-43"/>
          <a:stretch/>
        </p:blipFill>
        <p:spPr>
          <a:xfrm>
            <a:off x="9153144" y="4358945"/>
            <a:ext cx="133502" cy="152705"/>
          </a:xfrm>
          <a:prstGeom prst="rect">
            <a:avLst/>
          </a:prstGeom>
        </p:spPr>
      </p:pic>
      <p:sp>
        <p:nvSpPr>
          <p:cNvPr id="67" name="Text 53"/>
          <p:cNvSpPr txBox="1"/>
          <p:nvPr/>
        </p:nvSpPr>
        <p:spPr>
          <a:xfrm>
            <a:off x="9363456" y="4329684"/>
            <a:ext cx="7580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Trail</a:t>
            </a:r>
            <a:endParaRPr lang="en-US" sz="1000" dirty="0"/>
          </a:p>
        </p:txBody>
      </p:sp>
      <p:sp>
        <p:nvSpPr>
          <p:cNvPr id="68" name="Text 54"/>
          <p:cNvSpPr txBox="1"/>
          <p:nvPr/>
        </p:nvSpPr>
        <p:spPr>
          <a:xfrm>
            <a:off x="9363456" y="4507078"/>
            <a:ext cx="21909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provenance; Reproducible metrics.</a:t>
            </a:r>
            <a:endParaRPr lang="en-US" sz="900" dirty="0"/>
          </a:p>
        </p:txBody>
      </p:sp>
      <p:sp>
        <p:nvSpPr>
          <p:cNvPr id="69" name="Text 55"/>
          <p:cNvSpPr txBox="1"/>
          <p:nvPr/>
        </p:nvSpPr>
        <p:spPr>
          <a:xfrm>
            <a:off x="457200" y="5120640"/>
            <a:ext cx="15764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 &amp; Access</a:t>
            </a:r>
            <a:endParaRPr lang="en-US" sz="1300" dirty="0"/>
          </a:p>
        </p:txBody>
      </p:sp>
      <p:sp>
        <p:nvSpPr>
          <p:cNvPr id="70" name="Text 56"/>
          <p:cNvSpPr txBox="1"/>
          <p:nvPr/>
        </p:nvSpPr>
        <p:spPr>
          <a:xfrm>
            <a:off x="457200" y="5396789"/>
            <a:ext cx="1714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and PII protection</a:t>
            </a:r>
            <a:endParaRPr lang="en-US" sz="900" dirty="0"/>
          </a:p>
        </p:txBody>
      </p:sp>
      <p:sp>
        <p:nvSpPr>
          <p:cNvPr id="71" name="Shape 57"/>
          <p:cNvSpPr/>
          <p:nvPr/>
        </p:nvSpPr>
        <p:spPr>
          <a:xfrm>
            <a:off x="3314700" y="5092294"/>
            <a:ext cx="9144" cy="4572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72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3438144" y="5129784"/>
            <a:ext cx="152705" cy="152705"/>
          </a:xfrm>
          <a:prstGeom prst="rect">
            <a:avLst/>
          </a:prstGeom>
        </p:spPr>
      </p:pic>
      <p:sp>
        <p:nvSpPr>
          <p:cNvPr id="73" name="Text 58"/>
          <p:cNvSpPr txBox="1"/>
          <p:nvPr/>
        </p:nvSpPr>
        <p:spPr>
          <a:xfrm>
            <a:off x="3666744" y="5101438"/>
            <a:ext cx="8247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PII Tagging</a:t>
            </a:r>
            <a:endParaRPr lang="en-US" sz="1000" dirty="0"/>
          </a:p>
        </p:txBody>
      </p:sp>
      <p:sp>
        <p:nvSpPr>
          <p:cNvPr id="74" name="Text 59"/>
          <p:cNvSpPr txBox="1"/>
          <p:nvPr/>
        </p:nvSpPr>
        <p:spPr>
          <a:xfrm>
            <a:off x="3666744" y="5278831"/>
            <a:ext cx="22201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sensitive columns on ingestion.</a:t>
            </a:r>
            <a:endParaRPr lang="en-US" sz="900" dirty="0"/>
          </a:p>
        </p:txBody>
      </p:sp>
      <p:sp>
        <p:nvSpPr>
          <p:cNvPr id="75" name="Shape 60"/>
          <p:cNvSpPr/>
          <p:nvPr/>
        </p:nvSpPr>
        <p:spPr>
          <a:xfrm>
            <a:off x="6172200" y="5092294"/>
            <a:ext cx="9144" cy="4572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76" name="Image 13" descr="preencoded.png">    </p:cNvPr>
          <p:cNvPicPr>
            <a:picLocks noChangeAspect="1"/>
          </p:cNvPicPr>
          <p:nvPr/>
        </p:nvPicPr>
        <p:blipFill>
          <a:blip r:embed="rId14"/>
          <a:srcRect l="-33" r="-33" t="0" b="0"/>
          <a:stretch/>
        </p:blipFill>
        <p:spPr>
          <a:xfrm>
            <a:off x="6295644" y="5129784"/>
            <a:ext cx="171907" cy="152705"/>
          </a:xfrm>
          <a:prstGeom prst="rect">
            <a:avLst/>
          </a:prstGeom>
        </p:spPr>
      </p:pic>
      <p:sp>
        <p:nvSpPr>
          <p:cNvPr id="77" name="Text 61"/>
          <p:cNvSpPr txBox="1"/>
          <p:nvPr/>
        </p:nvSpPr>
        <p:spPr>
          <a:xfrm>
            <a:off x="6543446" y="5101438"/>
            <a:ext cx="16340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Masking &amp; Tokenization</a:t>
            </a:r>
            <a:endParaRPr lang="en-US" sz="1000" dirty="0"/>
          </a:p>
        </p:txBody>
      </p:sp>
      <p:sp>
        <p:nvSpPr>
          <p:cNvPr id="78" name="Text 62"/>
          <p:cNvSpPr txBox="1"/>
          <p:nvPr/>
        </p:nvSpPr>
        <p:spPr>
          <a:xfrm>
            <a:off x="6543446" y="5278831"/>
            <a:ext cx="18580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dynamic masking policies.</a:t>
            </a:r>
            <a:endParaRPr lang="en-US" sz="900" dirty="0"/>
          </a:p>
        </p:txBody>
      </p:sp>
      <p:sp>
        <p:nvSpPr>
          <p:cNvPr id="79" name="Shape 63"/>
          <p:cNvSpPr/>
          <p:nvPr/>
        </p:nvSpPr>
        <p:spPr>
          <a:xfrm>
            <a:off x="9029700" y="5092294"/>
            <a:ext cx="9144" cy="4572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80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-180" b="-180"/>
          <a:stretch/>
        </p:blipFill>
        <p:spPr>
          <a:xfrm>
            <a:off x="9153144" y="5129784"/>
            <a:ext cx="190195" cy="152705"/>
          </a:xfrm>
          <a:prstGeom prst="rect">
            <a:avLst/>
          </a:prstGeom>
        </p:spPr>
      </p:pic>
      <p:sp>
        <p:nvSpPr>
          <p:cNvPr id="81" name="Text 64"/>
          <p:cNvSpPr txBox="1"/>
          <p:nvPr/>
        </p:nvSpPr>
        <p:spPr>
          <a:xfrm>
            <a:off x="9420149" y="5101438"/>
            <a:ext cx="14813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RBAC &amp; Row Security</a:t>
            </a:r>
            <a:endParaRPr lang="en-US" sz="1000" dirty="0"/>
          </a:p>
        </p:txBody>
      </p:sp>
      <p:sp>
        <p:nvSpPr>
          <p:cNvPr id="82" name="Text 65"/>
          <p:cNvSpPr txBox="1"/>
          <p:nvPr/>
        </p:nvSpPr>
        <p:spPr>
          <a:xfrm>
            <a:off x="9420149" y="5278831"/>
            <a:ext cx="18864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Fine-grained access control lists.</a:t>
            </a:r>
            <a:endParaRPr lang="en-US" sz="900" dirty="0"/>
          </a:p>
        </p:txBody>
      </p:sp>
      <p:sp>
        <p:nvSpPr>
          <p:cNvPr id="83" name="Shape 66"/>
          <p:cNvSpPr/>
          <p:nvPr/>
        </p:nvSpPr>
        <p:spPr>
          <a:xfrm>
            <a:off x="2057400" y="6495898"/>
            <a:ext cx="9144" cy="15270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4" name="Text 67"/>
          <p:cNvSpPr txBox="1"/>
          <p:nvPr/>
        </p:nvSpPr>
        <p:spPr>
          <a:xfrm>
            <a:off x="457200" y="6495898"/>
            <a:ext cx="14575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TOOLING ECOSYSTEM</a:t>
            </a:r>
            <a:endParaRPr lang="en-US" sz="900" dirty="0"/>
          </a:p>
        </p:txBody>
      </p:sp>
      <p:pic>
        <p:nvPicPr>
          <p:cNvPr id="85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-1100" b="-1100"/>
          <a:stretch/>
        </p:blipFill>
        <p:spPr>
          <a:xfrm>
            <a:off x="2293315" y="6505956"/>
            <a:ext cx="114300" cy="133502"/>
          </a:xfrm>
          <a:prstGeom prst="rect">
            <a:avLst/>
          </a:prstGeom>
        </p:spPr>
      </p:pic>
      <p:sp>
        <p:nvSpPr>
          <p:cNvPr id="86" name="Text 68"/>
          <p:cNvSpPr txBox="1"/>
          <p:nvPr/>
        </p:nvSpPr>
        <p:spPr>
          <a:xfrm>
            <a:off x="2483510" y="6486754"/>
            <a:ext cx="11859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Delta Constraints</a:t>
            </a:r>
            <a:endParaRPr lang="en-US" sz="1000" dirty="0"/>
          </a:p>
        </p:txBody>
      </p:sp>
      <p:pic>
        <p:nvPicPr>
          <p:cNvPr id="87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-1100" b="-1100"/>
          <a:stretch/>
        </p:blipFill>
        <p:spPr>
          <a:xfrm>
            <a:off x="3872484" y="6505956"/>
            <a:ext cx="114300" cy="133502"/>
          </a:xfrm>
          <a:prstGeom prst="rect">
            <a:avLst/>
          </a:prstGeom>
        </p:spPr>
      </p:pic>
      <p:sp>
        <p:nvSpPr>
          <p:cNvPr id="88" name="Text 69"/>
          <p:cNvSpPr txBox="1"/>
          <p:nvPr/>
        </p:nvSpPr>
        <p:spPr>
          <a:xfrm>
            <a:off x="4063594" y="6486754"/>
            <a:ext cx="18342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Great Expectations / Deequ</a:t>
            </a:r>
            <a:endParaRPr lang="en-US" sz="1000" dirty="0"/>
          </a:p>
        </p:txBody>
      </p:sp>
      <p:pic>
        <p:nvPicPr>
          <p:cNvPr id="89" name="Image 17" descr="preencoded.png">    </p:cNvPr>
          <p:cNvPicPr>
            <a:picLocks noChangeAspect="1"/>
          </p:cNvPicPr>
          <p:nvPr/>
        </p:nvPicPr>
        <p:blipFill>
          <a:blip r:embed="rId18"/>
          <a:srcRect l="-1507" r="-1507" t="0" b="0"/>
          <a:stretch/>
        </p:blipFill>
        <p:spPr>
          <a:xfrm>
            <a:off x="6098134" y="6505956"/>
            <a:ext cx="171907" cy="133502"/>
          </a:xfrm>
          <a:prstGeom prst="rect">
            <a:avLst/>
          </a:prstGeom>
        </p:spPr>
      </p:pic>
      <p:sp>
        <p:nvSpPr>
          <p:cNvPr id="90" name="Text 70"/>
          <p:cNvSpPr txBox="1"/>
          <p:nvPr/>
        </p:nvSpPr>
        <p:spPr>
          <a:xfrm>
            <a:off x="6345936" y="6486754"/>
            <a:ext cx="6528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dbt tests</a:t>
            </a:r>
            <a:endParaRPr lang="en-US" sz="1000" dirty="0"/>
          </a:p>
        </p:txBody>
      </p:sp>
      <p:pic>
        <p:nvPicPr>
          <p:cNvPr id="91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7199071" y="6505956"/>
            <a:ext cx="133502" cy="133502"/>
          </a:xfrm>
          <a:prstGeom prst="rect">
            <a:avLst/>
          </a:prstGeom>
        </p:spPr>
      </p:pic>
      <p:sp>
        <p:nvSpPr>
          <p:cNvPr id="92" name="Text 71"/>
          <p:cNvSpPr txBox="1"/>
          <p:nvPr/>
        </p:nvSpPr>
        <p:spPr>
          <a:xfrm>
            <a:off x="7408469" y="6486754"/>
            <a:ext cx="15389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Monte Carlo / Datadog</a:t>
            </a:r>
            <a:endParaRPr lang="en-US" sz="1000" dirty="0"/>
          </a:p>
        </p:txBody>
      </p:sp>
      <p:pic>
        <p:nvPicPr>
          <p:cNvPr id="93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0" b="0"/>
          <a:stretch/>
        </p:blipFill>
        <p:spPr>
          <a:xfrm>
            <a:off x="9143086" y="6505956"/>
            <a:ext cx="133502" cy="133502"/>
          </a:xfrm>
          <a:prstGeom prst="rect">
            <a:avLst/>
          </a:prstGeom>
        </p:spPr>
      </p:pic>
      <p:sp>
        <p:nvSpPr>
          <p:cNvPr id="94" name="Text 72"/>
          <p:cNvSpPr txBox="1"/>
          <p:nvPr/>
        </p:nvSpPr>
        <p:spPr>
          <a:xfrm>
            <a:off x="9353398" y="6486754"/>
            <a:ext cx="13478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Airflow SLA Checks</a:t>
            </a:r>
            <a:endParaRPr lang="en-US" sz="1000" dirty="0"/>
          </a:p>
        </p:txBody>
      </p:sp>
      <p:sp>
        <p:nvSpPr>
          <p:cNvPr id="95" name="Text 73"/>
          <p:cNvSpPr txBox="1"/>
          <p:nvPr/>
        </p:nvSpPr>
        <p:spPr>
          <a:xfrm>
            <a:off x="11895430" y="6515100"/>
            <a:ext cx="1627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90802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71500" y="418795"/>
            <a:ext cx="67254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Example Checks &amp; Automation Patterns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990295"/>
            <a:ext cx="53538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Detailed breakdown of quality controls by layer vs. automation strategies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71500" y="1781251"/>
            <a:ext cx="6077102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71500" y="1781251"/>
            <a:ext cx="57607" cy="1218895"/>
          </a:xfrm>
          <a:prstGeom prst="rect">
            <a:avLst/>
          </a:prstGeom>
          <a:solidFill>
            <a:srgbClr val="CD7F32"/>
          </a:solidFill>
          <a:ln/>
        </p:spPr>
      </p:sp>
      <p:sp>
        <p:nvSpPr>
          <p:cNvPr id="9" name="Shape 7"/>
          <p:cNvSpPr/>
          <p:nvPr/>
        </p:nvSpPr>
        <p:spPr>
          <a:xfrm>
            <a:off x="819302" y="1971446"/>
            <a:ext cx="267005" cy="267005"/>
          </a:xfrm>
          <a:prstGeom prst="ellipse">
            <a:avLst/>
          </a:prstGeom>
          <a:solidFill>
            <a:srgbClr val="CD7F32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86054" y="2038198"/>
            <a:ext cx="133502" cy="13350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81405" y="1976018"/>
            <a:ext cx="205282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Bronze (Raw Ingestion)</a:t>
            </a: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9302" y="2352751"/>
            <a:ext cx="114300" cy="1143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09498" y="2361895"/>
            <a:ext cx="25484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Row counts vs source (±2% tolerance)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715207" y="2352751"/>
            <a:ext cx="114300" cy="1143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905402" y="2361895"/>
            <a:ext cx="16532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checksum validation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9302" y="2615184"/>
            <a:ext cx="114300" cy="1143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09498" y="2625242"/>
            <a:ext cx="18050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Arrival freshness &lt; 15 mins</a:t>
            </a:r>
            <a:endParaRPr lang="en-US" sz="10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715207" y="2615184"/>
            <a:ext cx="114300" cy="1143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3905402" y="2625242"/>
            <a:ext cx="19010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PII column detection tagging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571500" y="3221431"/>
            <a:ext cx="6077102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571500" y="3221431"/>
            <a:ext cx="57607" cy="1218895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2" name="Shape 15"/>
          <p:cNvSpPr/>
          <p:nvPr/>
        </p:nvSpPr>
        <p:spPr>
          <a:xfrm>
            <a:off x="819302" y="3411626"/>
            <a:ext cx="267005" cy="267005"/>
          </a:xfrm>
          <a:prstGeom prst="ellipse">
            <a:avLst/>
          </a:prstGeom>
          <a:solidFill>
            <a:srgbClr val="94A3B8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86054" y="3478378"/>
            <a:ext cx="133502" cy="13350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181405" y="3416198"/>
            <a:ext cx="243413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Silver (Validated &amp; Cleaned)</a:t>
            </a:r>
            <a:endParaRPr lang="en-US" sz="13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19302" y="3792931"/>
            <a:ext cx="114300" cy="11430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1009498" y="3802075"/>
            <a:ext cx="19010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NULL on business keys</a:t>
            </a:r>
            <a:endParaRPr lang="en-US" sz="10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3715207" y="3792931"/>
            <a:ext cx="114300" cy="114300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3905402" y="3802075"/>
            <a:ext cx="22814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 suppression (PK unique)</a:t>
            </a:r>
            <a:endParaRPr lang="en-US" sz="10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819302" y="4055364"/>
            <a:ext cx="114300" cy="114300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1009498" y="4065422"/>
            <a:ext cx="20052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 domain sets (Ref Tables)</a:t>
            </a:r>
            <a:endParaRPr lang="en-US" sz="100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3715207" y="4055364"/>
            <a:ext cx="114300" cy="114300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3905402" y="4065422"/>
            <a:ext cx="19961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SCD Type-2 history continuity</a:t>
            </a:r>
            <a:endParaRPr lang="en-US" sz="1000" dirty="0"/>
          </a:p>
        </p:txBody>
      </p:sp>
      <p:sp>
        <p:nvSpPr>
          <p:cNvPr id="33" name="Shape 21"/>
          <p:cNvSpPr/>
          <p:nvPr/>
        </p:nvSpPr>
        <p:spPr>
          <a:xfrm>
            <a:off x="571500" y="4661611"/>
            <a:ext cx="6077102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34" name="Shape 22"/>
          <p:cNvSpPr/>
          <p:nvPr/>
        </p:nvSpPr>
        <p:spPr>
          <a:xfrm>
            <a:off x="571500" y="4661611"/>
            <a:ext cx="57607" cy="121889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Shape 23"/>
          <p:cNvSpPr/>
          <p:nvPr/>
        </p:nvSpPr>
        <p:spPr>
          <a:xfrm>
            <a:off x="819302" y="4851806"/>
            <a:ext cx="267005" cy="267005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rcRect l="-837" r="-837" t="0" b="0"/>
          <a:stretch/>
        </p:blipFill>
        <p:spPr>
          <a:xfrm>
            <a:off x="875995" y="4918558"/>
            <a:ext cx="152705" cy="133502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1181405" y="4856378"/>
            <a:ext cx="250088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 (Aggregated &amp; Trusted)</a:t>
            </a:r>
            <a:endParaRPr lang="en-US" sz="1300" dirty="0"/>
          </a:p>
        </p:txBody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819302" y="5233111"/>
            <a:ext cx="114300" cy="114300"/>
          </a:xfrm>
          <a:prstGeom prst="rect">
            <a:avLst/>
          </a:prstGeom>
        </p:spPr>
      </p:pic>
      <p:sp>
        <p:nvSpPr>
          <p:cNvPr id="39" name="Text 25"/>
          <p:cNvSpPr txBox="1"/>
          <p:nvPr/>
        </p:nvSpPr>
        <p:spPr>
          <a:xfrm>
            <a:off x="1009498" y="5242255"/>
            <a:ext cx="17574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Totals reconciliation vs GL</a:t>
            </a:r>
            <a:endParaRPr lang="en-US" sz="1000" dirty="0"/>
          </a:p>
        </p:txBody>
      </p:sp>
      <p:pic>
        <p:nvPicPr>
          <p:cNvPr id="40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3715207" y="5233111"/>
            <a:ext cx="114300" cy="114300"/>
          </a:xfrm>
          <a:prstGeom prst="rect">
            <a:avLst/>
          </a:prstGeom>
        </p:spPr>
      </p:pic>
      <p:sp>
        <p:nvSpPr>
          <p:cNvPr id="41" name="Text 26"/>
          <p:cNvSpPr txBox="1"/>
          <p:nvPr/>
        </p:nvSpPr>
        <p:spPr>
          <a:xfrm>
            <a:off x="3905402" y="5242255"/>
            <a:ext cx="20436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 drift vs 30-day baseline</a:t>
            </a:r>
            <a:endParaRPr lang="en-US" sz="1000" dirty="0"/>
          </a:p>
        </p:txBody>
      </p:sp>
      <p:pic>
        <p:nvPicPr>
          <p:cNvPr id="42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819302" y="5495544"/>
            <a:ext cx="114300" cy="114300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1009498" y="5505602"/>
            <a:ext cx="23390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 consistency across marts</a:t>
            </a:r>
            <a:endParaRPr lang="en-US" sz="1000" dirty="0"/>
          </a:p>
        </p:txBody>
      </p:sp>
      <p:pic>
        <p:nvPicPr>
          <p:cNvPr id="44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3715207" y="5495544"/>
            <a:ext cx="114300" cy="114300"/>
          </a:xfrm>
          <a:prstGeom prst="rect">
            <a:avLst/>
          </a:prstGeom>
        </p:spPr>
      </p:pic>
      <p:sp>
        <p:nvSpPr>
          <p:cNvPr id="45" name="Text 28"/>
          <p:cNvSpPr txBox="1"/>
          <p:nvPr/>
        </p:nvSpPr>
        <p:spPr>
          <a:xfrm>
            <a:off x="3905402" y="5505602"/>
            <a:ext cx="15005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Strict BI contract tests</a:t>
            </a:r>
            <a:endParaRPr lang="en-US" sz="1000" dirty="0"/>
          </a:p>
        </p:txBody>
      </p:sp>
      <p:sp>
        <p:nvSpPr>
          <p:cNvPr id="46" name="Shape 29"/>
          <p:cNvSpPr/>
          <p:nvPr/>
        </p:nvSpPr>
        <p:spPr>
          <a:xfrm>
            <a:off x="7029907" y="1781251"/>
            <a:ext cx="4591202" cy="5838444"/>
          </a:xfrm>
          <a:prstGeom prst="roundRect">
            <a:avLst>
              <a:gd name="adj" fmla="val 4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30"/>
          <p:cNvSpPr/>
          <p:nvPr/>
        </p:nvSpPr>
        <p:spPr>
          <a:xfrm>
            <a:off x="7324344" y="2542946"/>
            <a:ext cx="4000500" cy="19202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48" name="Image 15" descr="preencoded.png">    </p:cNvPr>
          <p:cNvPicPr>
            <a:picLocks noChangeAspect="1"/>
          </p:cNvPicPr>
          <p:nvPr/>
        </p:nvPicPr>
        <p:blipFill>
          <a:blip r:embed="rId16"/>
          <a:srcRect l="-1004" r="-1004" t="0" b="0"/>
          <a:stretch/>
        </p:blipFill>
        <p:spPr>
          <a:xfrm>
            <a:off x="7324344" y="2128723"/>
            <a:ext cx="267005" cy="209398"/>
          </a:xfrm>
          <a:prstGeom prst="rect">
            <a:avLst/>
          </a:prstGeom>
        </p:spPr>
      </p:pic>
      <p:sp>
        <p:nvSpPr>
          <p:cNvPr id="49" name="Text 31"/>
          <p:cNvSpPr txBox="1"/>
          <p:nvPr/>
        </p:nvSpPr>
        <p:spPr>
          <a:xfrm>
            <a:off x="7705649" y="2076602"/>
            <a:ext cx="302483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Automation &amp; CI/CD Patterns</a:t>
            </a:r>
            <a:endParaRPr lang="en-US" sz="1600" dirty="0"/>
          </a:p>
        </p:txBody>
      </p:sp>
      <p:pic>
        <p:nvPicPr>
          <p:cNvPr id="50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-100" b="-100"/>
          <a:stretch/>
        </p:blipFill>
        <p:spPr>
          <a:xfrm>
            <a:off x="7324344" y="2829154"/>
            <a:ext cx="114300" cy="152705"/>
          </a:xfrm>
          <a:prstGeom prst="rect">
            <a:avLst/>
          </a:prstGeom>
        </p:spPr>
      </p:pic>
      <p:sp>
        <p:nvSpPr>
          <p:cNvPr id="51" name="Text 32"/>
          <p:cNvSpPr txBox="1"/>
          <p:nvPr/>
        </p:nvSpPr>
        <p:spPr>
          <a:xfrm>
            <a:off x="7515454" y="2809951"/>
            <a:ext cx="1858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Contracts as Code</a:t>
            </a:r>
            <a:endParaRPr lang="en-US" sz="1200" dirty="0"/>
          </a:p>
        </p:txBody>
      </p:sp>
      <p:sp>
        <p:nvSpPr>
          <p:cNvPr id="52" name="Text 33"/>
          <p:cNvSpPr txBox="1"/>
          <p:nvPr/>
        </p:nvSpPr>
        <p:spPr>
          <a:xfrm>
            <a:off x="7591349" y="3114446"/>
            <a:ext cx="359633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expectations in YAML/JSON at source. Ingestion pipelines auto-generate validation logic based on the contract schema.</a:t>
            </a:r>
            <a:endParaRPr lang="en-US" sz="1000" dirty="0"/>
          </a:p>
        </p:txBody>
      </p:sp>
      <p:pic>
        <p:nvPicPr>
          <p:cNvPr id="53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-43" b="-43"/>
          <a:stretch/>
        </p:blipFill>
        <p:spPr>
          <a:xfrm>
            <a:off x="7324344" y="3962095"/>
            <a:ext cx="133502" cy="152705"/>
          </a:xfrm>
          <a:prstGeom prst="rect">
            <a:avLst/>
          </a:prstGeom>
        </p:spPr>
      </p:pic>
      <p:sp>
        <p:nvSpPr>
          <p:cNvPr id="54" name="Text 34"/>
          <p:cNvSpPr txBox="1"/>
          <p:nvPr/>
        </p:nvSpPr>
        <p:spPr>
          <a:xfrm>
            <a:off x="7534656" y="3943807"/>
            <a:ext cx="20674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PR-Validated Expectations</a:t>
            </a:r>
            <a:endParaRPr lang="en-US" sz="1200" dirty="0"/>
          </a:p>
        </p:txBody>
      </p:sp>
      <p:sp>
        <p:nvSpPr>
          <p:cNvPr id="55" name="Text 35"/>
          <p:cNvSpPr txBox="1"/>
          <p:nvPr/>
        </p:nvSpPr>
        <p:spPr>
          <a:xfrm>
            <a:off x="7591349" y="4248302"/>
            <a:ext cx="3796589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dbt test or Great Expectations suites on a staging clone during Pull Request. Block merge if new logic breaks existing constraints.</a:t>
            </a:r>
            <a:endParaRPr lang="en-US" sz="1000" dirty="0"/>
          </a:p>
        </p:txBody>
      </p:sp>
      <p:pic>
        <p:nvPicPr>
          <p:cNvPr id="56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7324344" y="5095951"/>
            <a:ext cx="152705" cy="152705"/>
          </a:xfrm>
          <a:prstGeom prst="rect">
            <a:avLst/>
          </a:prstGeom>
        </p:spPr>
      </p:pic>
      <p:sp>
        <p:nvSpPr>
          <p:cNvPr id="57" name="Text 36"/>
          <p:cNvSpPr txBox="1"/>
          <p:nvPr/>
        </p:nvSpPr>
        <p:spPr>
          <a:xfrm>
            <a:off x="7552944" y="5076749"/>
            <a:ext cx="16770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Data-Diff on Promote</a:t>
            </a:r>
            <a:endParaRPr lang="en-US" sz="1200" dirty="0"/>
          </a:p>
        </p:txBody>
      </p:sp>
      <p:sp>
        <p:nvSpPr>
          <p:cNvPr id="58" name="Text 37"/>
          <p:cNvSpPr txBox="1"/>
          <p:nvPr/>
        </p:nvSpPr>
        <p:spPr>
          <a:xfrm>
            <a:off x="7591349" y="5381244"/>
            <a:ext cx="3796589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row-level output of new code vs. production code on a sample dataset to catch unintended regressions before full deployment.</a:t>
            </a:r>
            <a:endParaRPr lang="en-US" sz="1000" dirty="0"/>
          </a:p>
        </p:txBody>
      </p:sp>
      <p:pic>
        <p:nvPicPr>
          <p:cNvPr id="59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0" b="0"/>
          <a:stretch/>
        </p:blipFill>
        <p:spPr>
          <a:xfrm>
            <a:off x="7324344" y="6229807"/>
            <a:ext cx="152705" cy="152705"/>
          </a:xfrm>
          <a:prstGeom prst="rect">
            <a:avLst/>
          </a:prstGeom>
        </p:spPr>
      </p:pic>
      <p:sp>
        <p:nvSpPr>
          <p:cNvPr id="60" name="Text 38"/>
          <p:cNvSpPr txBox="1"/>
          <p:nvPr/>
        </p:nvSpPr>
        <p:spPr>
          <a:xfrm>
            <a:off x="7552944" y="6210605"/>
            <a:ext cx="21625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Canary Releases &amp; Rollback</a:t>
            </a:r>
            <a:endParaRPr lang="en-US" sz="1200" dirty="0"/>
          </a:p>
        </p:txBody>
      </p:sp>
      <p:sp>
        <p:nvSpPr>
          <p:cNvPr id="61" name="Text 39"/>
          <p:cNvSpPr txBox="1"/>
          <p:nvPr/>
        </p:nvSpPr>
        <p:spPr>
          <a:xfrm>
            <a:off x="7591349" y="6515100"/>
            <a:ext cx="336773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to a "canary" partition first. If error rate or freshness SLOs are breached, system automatically reverts to the previous version.</a:t>
            </a:r>
            <a:endParaRPr lang="en-US" sz="1000" dirty="0"/>
          </a:p>
        </p:txBody>
      </p:sp>
      <p:sp>
        <p:nvSpPr>
          <p:cNvPr id="62" name="Shape 40"/>
          <p:cNvSpPr/>
          <p:nvPr/>
        </p:nvSpPr>
        <p:spPr>
          <a:xfrm>
            <a:off x="0" y="8001000"/>
            <a:ext cx="12191695" cy="1810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Shape 41"/>
          <p:cNvSpPr/>
          <p:nvPr/>
        </p:nvSpPr>
        <p:spPr>
          <a:xfrm>
            <a:off x="0" y="8001000"/>
            <a:ext cx="1219169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4" name="Text 42"/>
          <p:cNvSpPr txBox="1"/>
          <p:nvPr/>
        </p:nvSpPr>
        <p:spPr>
          <a:xfrm>
            <a:off x="571500" y="8020202"/>
            <a:ext cx="35250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1 — Enterprise Lakehouse Quality Engineering Blueprint</a:t>
            </a:r>
            <a:endParaRPr lang="en-US" sz="900" dirty="0"/>
          </a:p>
        </p:txBody>
      </p:sp>
      <p:sp>
        <p:nvSpPr>
          <p:cNvPr id="65" name="Text 43"/>
          <p:cNvSpPr txBox="1"/>
          <p:nvPr/>
        </p:nvSpPr>
        <p:spPr>
          <a:xfrm>
            <a:off x="10229393" y="8020202"/>
            <a:ext cx="14859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&amp; Proprietary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0"/>
            <a:ext cx="4876495" cy="68580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743700"/>
            <a:ext cx="12191695" cy="1143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790956"/>
            <a:ext cx="609905" cy="3840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5609844"/>
            <a:ext cx="390449" cy="457200"/>
          </a:xfrm>
          <a:prstGeom prst="roundRect">
            <a:avLst>
              <a:gd name="adj" fmla="val 234192"/>
            </a:avLst>
          </a:prstGeom>
          <a:solidFill>
            <a:srgbClr val="EFF6FF"/>
          </a:solidFill>
          <a:ln w="25400">
            <a:solidFill>
              <a:srgbClr val="1E40A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75334" y="5724144"/>
            <a:ext cx="181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52190" y="5609844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EEF2FF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33242" y="5724144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03113" y="5609844"/>
            <a:ext cx="457200" cy="457200"/>
          </a:xfrm>
          <a:prstGeom prst="roundRect">
            <a:avLst>
              <a:gd name="adj" fmla="val 200000"/>
            </a:avLst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82335" y="5724144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676095" y="724205"/>
            <a:ext cx="10433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1218895"/>
            <a:ext cx="5524805" cy="2115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QE in Data Mesh &amp; Domain-driven Pipelines</a:t>
            </a:r>
            <a:endParaRPr lang="en-US" sz="45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3705149"/>
            <a:ext cx="5896051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Establishing the operating model for federated domains through clear ownership, data contracts, and automated platform guardrails.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53896" y="5533949"/>
            <a:ext cx="8001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OPERATING MODEL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453896" y="5905195"/>
            <a:ext cx="10433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Ownership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962095" y="5609844"/>
            <a:ext cx="7717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3962095" y="5829300"/>
            <a:ext cx="9573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313018" y="5609844"/>
            <a:ext cx="7626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313018" y="5829300"/>
            <a:ext cx="9957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Guardrails</a:t>
            </a:r>
            <a:endParaRPr lang="en-US" sz="13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9" b="-9"/>
          <a:stretch/>
        </p:blipFill>
        <p:spPr>
          <a:xfrm>
            <a:off x="8229600" y="1352398"/>
            <a:ext cx="3047695" cy="3810305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8826703" y="5324551"/>
            <a:ext cx="19577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Federated Mesh Architecture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90802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71500" y="418795"/>
            <a:ext cx="48865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Ownership &amp; Data Contracts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990295"/>
            <a:ext cx="65059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Defining roles, responsibilities, and the structure of data contracts in a mesh architecture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71500" y="1781251"/>
            <a:ext cx="6077102" cy="1037844"/>
          </a:xfrm>
          <a:prstGeom prst="roundRect">
            <a:avLst>
              <a:gd name="adj" fmla="val 64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71500" y="1781251"/>
            <a:ext cx="47549" cy="10378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Shape 7"/>
          <p:cNvSpPr/>
          <p:nvPr/>
        </p:nvSpPr>
        <p:spPr>
          <a:xfrm>
            <a:off x="771754" y="1933956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3B82F6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100" b="-1100"/>
          <a:stretch/>
        </p:blipFill>
        <p:spPr>
          <a:xfrm>
            <a:off x="866851" y="2018995"/>
            <a:ext cx="114300" cy="13350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90549" y="1990649"/>
            <a:ext cx="18288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 Product Owner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190549" y="2324405"/>
            <a:ext cx="511332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Accountable for data product value and quality. Defines "what good looks like" from a business perspective and approves SLA breaches.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71500" y="3003804"/>
            <a:ext cx="6077102" cy="1037844"/>
          </a:xfrm>
          <a:prstGeom prst="roundRect">
            <a:avLst>
              <a:gd name="adj" fmla="val 64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1500" y="3003804"/>
            <a:ext cx="47549" cy="10378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Shape 12"/>
          <p:cNvSpPr/>
          <p:nvPr/>
        </p:nvSpPr>
        <p:spPr>
          <a:xfrm>
            <a:off x="771754" y="3156509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10B981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-1507" r="-1507" t="0" b="0"/>
          <a:stretch/>
        </p:blipFill>
        <p:spPr>
          <a:xfrm>
            <a:off x="838505" y="3242462"/>
            <a:ext cx="171907" cy="13350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190549" y="3214116"/>
            <a:ext cx="11530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Engineer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1190549" y="3546958"/>
            <a:ext cx="518007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Builds pipelines to meet contract specs. Implements transform logic, enforces schema, and ensures technical stability of ingestion.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71500" y="4227271"/>
            <a:ext cx="6077102" cy="1037844"/>
          </a:xfrm>
          <a:prstGeom prst="roundRect">
            <a:avLst>
              <a:gd name="adj" fmla="val 64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71500" y="4227271"/>
            <a:ext cx="47549" cy="103784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Shape 17"/>
          <p:cNvSpPr/>
          <p:nvPr/>
        </p:nvSpPr>
        <p:spPr>
          <a:xfrm>
            <a:off x="771754" y="4379976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8B5CF6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rcRect l="-2512" r="-2512" t="0" b="0"/>
          <a:stretch/>
        </p:blipFill>
        <p:spPr>
          <a:xfrm>
            <a:off x="871423" y="4465015"/>
            <a:ext cx="105156" cy="13350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190549" y="4436669"/>
            <a:ext cx="13533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QE Owner / Lead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1190549" y="4770425"/>
            <a:ext cx="518007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Architects the test strategy. Defines validation rules, sets up CI/CD gates, and monitors drift/quality metrics across the lifecycle.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571500" y="5450738"/>
            <a:ext cx="6077102" cy="1037844"/>
          </a:xfrm>
          <a:prstGeom prst="roundRect">
            <a:avLst>
              <a:gd name="adj" fmla="val 64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71500" y="5450738"/>
            <a:ext cx="47549" cy="10378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Shape 22"/>
          <p:cNvSpPr/>
          <p:nvPr/>
        </p:nvSpPr>
        <p:spPr>
          <a:xfrm>
            <a:off x="771754" y="5602529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F59E0B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57707" y="5688482"/>
            <a:ext cx="133502" cy="13350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190549" y="5660136"/>
            <a:ext cx="11055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Steward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1190549" y="5992978"/>
            <a:ext cx="539861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Ensures compliance with governance standards (PII, retention). audits access controls and metadata completeness.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7029907" y="1781251"/>
            <a:ext cx="4591202" cy="5333695"/>
          </a:xfrm>
          <a:prstGeom prst="roundRect">
            <a:avLst>
              <a:gd name="adj" fmla="val 4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7324344" y="2542946"/>
            <a:ext cx="4000500" cy="19202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rcRect l="-1528" r="-1528" t="0" b="0"/>
          <a:stretch/>
        </p:blipFill>
        <p:spPr>
          <a:xfrm>
            <a:off x="7324344" y="2128723"/>
            <a:ext cx="161849" cy="209398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7601407" y="2076602"/>
            <a:ext cx="261518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Contract Structure</a:t>
            </a:r>
            <a:endParaRPr lang="en-US" sz="1600" dirty="0"/>
          </a:p>
        </p:txBody>
      </p:sp>
      <p:sp>
        <p:nvSpPr>
          <p:cNvPr id="35" name="Text 28"/>
          <p:cNvSpPr txBox="1"/>
          <p:nvPr/>
        </p:nvSpPr>
        <p:spPr>
          <a:xfrm>
            <a:off x="7324344" y="2771546"/>
            <a:ext cx="17391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SPECIFICATIONS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7324344" y="3066898"/>
            <a:ext cx="410108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Versioning: Explicit field types, nullability, and version (e.g., v1.2.0).</a:t>
            </a:r>
            <a:endParaRPr lang="en-US" sz="1000" dirty="0"/>
          </a:p>
        </p:txBody>
      </p:sp>
      <p:sp>
        <p:nvSpPr>
          <p:cNvPr id="37" name="Text 30"/>
          <p:cNvSpPr txBox="1"/>
          <p:nvPr/>
        </p:nvSpPr>
        <p:spPr>
          <a:xfrm>
            <a:off x="7324344" y="3535985"/>
            <a:ext cx="410108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SLOs (Service Level Obj): Freshness (e.g., &lt;30m), Completeness (&gt;99%), Accuracy (±1%).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7324344" y="4004158"/>
            <a:ext cx="410108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Semantics: Field descriptions, business glossary links, and value distribution expectations.</a:t>
            </a:r>
            <a:endParaRPr lang="en-US" sz="1000" dirty="0"/>
          </a:p>
        </p:txBody>
      </p:sp>
      <p:sp>
        <p:nvSpPr>
          <p:cNvPr id="39" name="Text 32"/>
          <p:cNvSpPr txBox="1"/>
          <p:nvPr/>
        </p:nvSpPr>
        <p:spPr>
          <a:xfrm>
            <a:off x="7324344" y="4472330"/>
            <a:ext cx="410108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Governance: PII tags, data retention policies, and authorized consumer roles.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7324344" y="5170018"/>
            <a:ext cx="4000500" cy="1647749"/>
          </a:xfrm>
          <a:prstGeom prst="roundRect">
            <a:avLst>
              <a:gd name="adj" fmla="val 2566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487107" y="5367528"/>
            <a:ext cx="142646" cy="142646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7705649" y="5341010"/>
            <a:ext cx="205099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338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Management Policy</a:t>
            </a:r>
            <a:endParaRPr lang="en-US" sz="1100" dirty="0"/>
          </a:p>
        </p:txBody>
      </p:sp>
      <p:sp>
        <p:nvSpPr>
          <p:cNvPr id="43" name="Text 35"/>
          <p:cNvSpPr txBox="1"/>
          <p:nvPr/>
        </p:nvSpPr>
        <p:spPr>
          <a:xfrm>
            <a:off x="7487107" y="5621731"/>
            <a:ext cx="33293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338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Backward compatibility required for minor updates.</a:t>
            </a:r>
            <a:endParaRPr lang="en-US" sz="1000" dirty="0"/>
          </a:p>
        </p:txBody>
      </p:sp>
      <p:sp>
        <p:nvSpPr>
          <p:cNvPr id="44" name="Text 36"/>
          <p:cNvSpPr txBox="1"/>
          <p:nvPr/>
        </p:nvSpPr>
        <p:spPr>
          <a:xfrm>
            <a:off x="7487107" y="5904281"/>
            <a:ext cx="377738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338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Breaking changes require a major version bump &amp; consumer approval workflow.</a:t>
            </a:r>
            <a:endParaRPr lang="en-US" sz="1000" dirty="0"/>
          </a:p>
        </p:txBody>
      </p:sp>
      <p:sp>
        <p:nvSpPr>
          <p:cNvPr id="45" name="Text 37"/>
          <p:cNvSpPr txBox="1"/>
          <p:nvPr/>
        </p:nvSpPr>
        <p:spPr>
          <a:xfrm>
            <a:off x="7487107" y="6372454"/>
            <a:ext cx="3682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338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notifications sent 7 days prior to deprecation.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0" y="7492594"/>
            <a:ext cx="12191695" cy="1810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39"/>
          <p:cNvSpPr/>
          <p:nvPr/>
        </p:nvSpPr>
        <p:spPr>
          <a:xfrm>
            <a:off x="0" y="7492594"/>
            <a:ext cx="1219169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8" name="Text 40"/>
          <p:cNvSpPr txBox="1"/>
          <p:nvPr/>
        </p:nvSpPr>
        <p:spPr>
          <a:xfrm>
            <a:off x="571500" y="7511796"/>
            <a:ext cx="35250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1 — Enterprise Lakehouse Quality Engineering Blueprint</a:t>
            </a:r>
            <a:endParaRPr lang="en-US" sz="900" dirty="0"/>
          </a:p>
        </p:txBody>
      </p:sp>
      <p:sp>
        <p:nvSpPr>
          <p:cNvPr id="49" name="Text 41"/>
          <p:cNvSpPr txBox="1"/>
          <p:nvPr/>
        </p:nvSpPr>
        <p:spPr>
          <a:xfrm>
            <a:off x="10229393" y="7511796"/>
            <a:ext cx="14859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&amp; Proprietary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52551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11354105" y="185623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40058" y="261518"/>
            <a:ext cx="324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4495" y="1067105"/>
            <a:ext cx="4076395" cy="247619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04495" y="1067105"/>
            <a:ext cx="38405" cy="2476195"/>
          </a:xfrm>
          <a:prstGeom prst="rect">
            <a:avLst/>
          </a:prstGeom>
          <a:solidFill>
            <a:srgbClr val="005FC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2222" b="-2222"/>
          <a:stretch/>
        </p:blipFill>
        <p:spPr>
          <a:xfrm>
            <a:off x="533095" y="1297534"/>
            <a:ext cx="123444" cy="17190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57454" y="1257300"/>
            <a:ext cx="164043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Cases &amp; Value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33595" y="1067105"/>
            <a:ext cx="4076395" cy="247619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33595" y="1067105"/>
            <a:ext cx="38405" cy="2476195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2725" b="-2725"/>
          <a:stretch/>
        </p:blipFill>
        <p:spPr>
          <a:xfrm>
            <a:off x="4762195" y="1297534"/>
            <a:ext cx="142646" cy="17190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905756" y="1257300"/>
            <a:ext cx="149778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Inputs &amp; Sources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762195" y="1623060"/>
            <a:ext cx="1114654" cy="209398"/>
          </a:xfrm>
          <a:prstGeom prst="roundRect">
            <a:avLst>
              <a:gd name="adj" fmla="val 79396"/>
            </a:avLst>
          </a:prstGeom>
          <a:solidFill>
            <a:srgbClr val="E0F2FE"/>
          </a:solidFill>
          <a:ln/>
        </p:spPr>
      </p:sp>
      <p:sp>
        <p:nvSpPr>
          <p:cNvPr id="16" name="Shape 12"/>
          <p:cNvSpPr/>
          <p:nvPr/>
        </p:nvSpPr>
        <p:spPr>
          <a:xfrm>
            <a:off x="5909767" y="1623060"/>
            <a:ext cx="1238098" cy="209398"/>
          </a:xfrm>
          <a:prstGeom prst="roundRect">
            <a:avLst>
              <a:gd name="adj" fmla="val 79396"/>
            </a:avLst>
          </a:prstGeom>
          <a:solidFill>
            <a:srgbClr val="E0F2FE"/>
          </a:solidFill>
          <a:ln/>
        </p:spPr>
      </p:sp>
      <p:sp>
        <p:nvSpPr>
          <p:cNvPr id="17" name="Shape 13"/>
          <p:cNvSpPr/>
          <p:nvPr/>
        </p:nvSpPr>
        <p:spPr>
          <a:xfrm>
            <a:off x="7178954" y="1623060"/>
            <a:ext cx="1181405" cy="209398"/>
          </a:xfrm>
          <a:prstGeom prst="roundRect">
            <a:avLst>
              <a:gd name="adj" fmla="val 79396"/>
            </a:avLst>
          </a:prstGeom>
          <a:solidFill>
            <a:srgbClr val="E0F2FE"/>
          </a:solidFill>
          <a:ln/>
        </p:spPr>
      </p:sp>
      <p:sp>
        <p:nvSpPr>
          <p:cNvPr id="18" name="Shape 14"/>
          <p:cNvSpPr/>
          <p:nvPr/>
        </p:nvSpPr>
        <p:spPr>
          <a:xfrm>
            <a:off x="304495" y="3690518"/>
            <a:ext cx="4076395" cy="19431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04495" y="3690518"/>
            <a:ext cx="38405" cy="194310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310" b="-1310"/>
          <a:stretch/>
        </p:blipFill>
        <p:spPr>
          <a:xfrm>
            <a:off x="533095" y="3921862"/>
            <a:ext cx="209398" cy="17190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43407" y="3881628"/>
            <a:ext cx="185989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Transformation Logic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4533595" y="3690518"/>
            <a:ext cx="4076395" cy="19431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533595" y="3690518"/>
            <a:ext cx="38405" cy="1943100"/>
          </a:xfrm>
          <a:prstGeom prst="rect">
            <a:avLst/>
          </a:prstGeom>
          <a:solidFill>
            <a:srgbClr val="EC4899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2725" b="-2725"/>
          <a:stretch/>
        </p:blipFill>
        <p:spPr>
          <a:xfrm>
            <a:off x="4762195" y="392186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4905756" y="3881628"/>
            <a:ext cx="179313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Outputs &amp; Interfaces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762195" y="5013655"/>
            <a:ext cx="3657600" cy="276149"/>
          </a:xfrm>
          <a:prstGeom prst="roundRect">
            <a:avLst>
              <a:gd name="adj" fmla="val 45672"/>
            </a:avLst>
          </a:prstGeom>
          <a:solidFill>
            <a:srgbClr val="F3F4F6"/>
          </a:solidFill>
          <a:ln/>
        </p:spPr>
      </p:sp>
      <p:sp>
        <p:nvSpPr>
          <p:cNvPr id="27" name="Shape 21"/>
          <p:cNvSpPr/>
          <p:nvPr/>
        </p:nvSpPr>
        <p:spPr>
          <a:xfrm>
            <a:off x="304495" y="5779008"/>
            <a:ext cx="4076395" cy="190469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04495" y="5779008"/>
            <a:ext cx="38405" cy="1904695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310" b="-1310"/>
          <a:stretch/>
        </p:blipFill>
        <p:spPr>
          <a:xfrm>
            <a:off x="533095" y="6009437"/>
            <a:ext cx="209398" cy="171907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43407" y="5969203"/>
            <a:ext cx="185989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Consumers &amp; Access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4533595" y="5779008"/>
            <a:ext cx="4076395" cy="190469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533595" y="5779008"/>
            <a:ext cx="38405" cy="1904695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762195" y="6009437"/>
            <a:ext cx="171907" cy="171907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4934102" y="5969203"/>
            <a:ext cx="194584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&amp; Owners</a:t>
            </a:r>
            <a:endParaRPr lang="en-US" sz="1300" dirty="0"/>
          </a:p>
        </p:txBody>
      </p:sp>
      <p:sp>
        <p:nvSpPr>
          <p:cNvPr id="35" name="Shape 27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28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7" name="Shape 29"/>
          <p:cNvSpPr/>
          <p:nvPr/>
        </p:nvSpPr>
        <p:spPr>
          <a:xfrm>
            <a:off x="7379208" y="6633972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38" name="Shape 30"/>
          <p:cNvSpPr/>
          <p:nvPr/>
        </p:nvSpPr>
        <p:spPr>
          <a:xfrm>
            <a:off x="7531913" y="6633972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D1D5DB"/>
          </a:solidFill>
          <a:ln/>
        </p:spPr>
      </p:sp>
      <p:sp>
        <p:nvSpPr>
          <p:cNvPr id="39" name="Shape 31"/>
          <p:cNvSpPr/>
          <p:nvPr/>
        </p:nvSpPr>
        <p:spPr>
          <a:xfrm>
            <a:off x="7684618" y="6633972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D1D5DB"/>
          </a:solidFill>
          <a:ln/>
        </p:spPr>
      </p:sp>
      <p:sp>
        <p:nvSpPr>
          <p:cNvPr id="40" name="Shape 32"/>
          <p:cNvSpPr/>
          <p:nvPr/>
        </p:nvSpPr>
        <p:spPr>
          <a:xfrm>
            <a:off x="7836408" y="6633972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D1D5DB"/>
          </a:solidFill>
          <a:ln/>
        </p:spPr>
      </p:sp>
      <p:sp>
        <p:nvSpPr>
          <p:cNvPr id="41" name="Text 33"/>
          <p:cNvSpPr txBox="1"/>
          <p:nvPr/>
        </p:nvSpPr>
        <p:spPr>
          <a:xfrm>
            <a:off x="457200" y="118872"/>
            <a:ext cx="34152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1 — QUALITY ENGINEERING BLUEPRINT</a:t>
            </a:r>
            <a:endParaRPr lang="en-US" sz="1000" dirty="0"/>
          </a:p>
        </p:txBody>
      </p:sp>
      <p:sp>
        <p:nvSpPr>
          <p:cNvPr id="42" name="Text 34"/>
          <p:cNvSpPr txBox="1"/>
          <p:nvPr/>
        </p:nvSpPr>
        <p:spPr>
          <a:xfrm>
            <a:off x="457200" y="347472"/>
            <a:ext cx="50484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 Data Product Canvas (Quality-First)</a:t>
            </a:r>
            <a:endParaRPr lang="en-US" sz="1800" dirty="0"/>
          </a:p>
        </p:txBody>
      </p:sp>
      <p:sp>
        <p:nvSpPr>
          <p:cNvPr id="43" name="Text 35"/>
          <p:cNvSpPr txBox="1"/>
          <p:nvPr/>
        </p:nvSpPr>
        <p:spPr>
          <a:xfrm>
            <a:off x="9629546" y="204826"/>
            <a:ext cx="16669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Template: canvas_one_pager</a:t>
            </a:r>
            <a:endParaRPr lang="en-US" sz="900" dirty="0"/>
          </a:p>
        </p:txBody>
      </p:sp>
      <p:sp>
        <p:nvSpPr>
          <p:cNvPr id="44" name="Text 36"/>
          <p:cNvSpPr txBox="1"/>
          <p:nvPr/>
        </p:nvSpPr>
        <p:spPr>
          <a:xfrm>
            <a:off x="9534449" y="366674"/>
            <a:ext cx="17766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Proprietary &amp; Confidential</a:t>
            </a:r>
            <a:endParaRPr lang="en-US" sz="1000" dirty="0"/>
          </a:p>
        </p:txBody>
      </p:sp>
      <p:sp>
        <p:nvSpPr>
          <p:cNvPr id="45" name="Text 37"/>
          <p:cNvSpPr txBox="1"/>
          <p:nvPr/>
        </p:nvSpPr>
        <p:spPr>
          <a:xfrm>
            <a:off x="533095" y="1632204"/>
            <a:ext cx="339882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Goal: Provide clean customer 360 view for marketing personalization.</a:t>
            </a:r>
            <a:endParaRPr lang="en-US" sz="1000" dirty="0"/>
          </a:p>
        </p:txBody>
      </p:sp>
      <p:sp>
        <p:nvSpPr>
          <p:cNvPr id="46" name="Text 38"/>
          <p:cNvSpPr txBox="1"/>
          <p:nvPr/>
        </p:nvSpPr>
        <p:spPr>
          <a:xfrm>
            <a:off x="533095" y="2093062"/>
            <a:ext cx="14941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OUTCOMES</a:t>
            </a:r>
            <a:endParaRPr lang="en-US" sz="1000" dirty="0"/>
          </a:p>
        </p:txBody>
      </p:sp>
      <p:sp>
        <p:nvSpPr>
          <p:cNvPr id="47" name="Text 39"/>
          <p:cNvSpPr txBox="1"/>
          <p:nvPr/>
        </p:nvSpPr>
        <p:spPr>
          <a:xfrm>
            <a:off x="685800" y="2341778"/>
            <a:ext cx="272308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churn by 5% via targeted offers.</a:t>
            </a:r>
            <a:endParaRPr lang="en-US" sz="1000" dirty="0"/>
          </a:p>
        </p:txBody>
      </p:sp>
      <p:sp>
        <p:nvSpPr>
          <p:cNvPr id="48" name="Text 40"/>
          <p:cNvSpPr txBox="1"/>
          <p:nvPr/>
        </p:nvSpPr>
        <p:spPr>
          <a:xfrm>
            <a:off x="685800" y="2591410"/>
            <a:ext cx="238932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Increase upsell conversion by 10%.</a:t>
            </a:r>
            <a:endParaRPr lang="en-US" sz="1000" dirty="0"/>
          </a:p>
        </p:txBody>
      </p:sp>
      <p:sp>
        <p:nvSpPr>
          <p:cNvPr id="49" name="Text 41"/>
          <p:cNvSpPr txBox="1"/>
          <p:nvPr/>
        </p:nvSpPr>
        <p:spPr>
          <a:xfrm>
            <a:off x="533095" y="2859329"/>
            <a:ext cx="12655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ROI HYPOTHESIS</a:t>
            </a:r>
            <a:endParaRPr lang="en-US" sz="1000" dirty="0"/>
          </a:p>
        </p:txBody>
      </p:sp>
      <p:sp>
        <p:nvSpPr>
          <p:cNvPr id="50" name="Text 42"/>
          <p:cNvSpPr txBox="1"/>
          <p:nvPr/>
        </p:nvSpPr>
        <p:spPr>
          <a:xfrm>
            <a:off x="533095" y="3108046"/>
            <a:ext cx="29416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$2M annual revenue lift based on pilot data.</a:t>
            </a:r>
            <a:endParaRPr lang="en-US" sz="1000" dirty="0"/>
          </a:p>
        </p:txBody>
      </p:sp>
      <p:sp>
        <p:nvSpPr>
          <p:cNvPr id="51" name="Text 43"/>
          <p:cNvSpPr txBox="1"/>
          <p:nvPr/>
        </p:nvSpPr>
        <p:spPr>
          <a:xfrm>
            <a:off x="4839005" y="1651406"/>
            <a:ext cx="10479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(Salesforce)</a:t>
            </a:r>
            <a:endParaRPr lang="en-US" sz="900" dirty="0"/>
          </a:p>
        </p:txBody>
      </p:sp>
      <p:sp>
        <p:nvSpPr>
          <p:cNvPr id="52" name="Text 44"/>
          <p:cNvSpPr txBox="1"/>
          <p:nvPr/>
        </p:nvSpPr>
        <p:spPr>
          <a:xfrm>
            <a:off x="5985662" y="1651406"/>
            <a:ext cx="11722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Clickstream (Kafka)</a:t>
            </a:r>
            <a:endParaRPr lang="en-US" sz="900" dirty="0"/>
          </a:p>
        </p:txBody>
      </p:sp>
      <p:sp>
        <p:nvSpPr>
          <p:cNvPr id="53" name="Text 45"/>
          <p:cNvSpPr txBox="1"/>
          <p:nvPr/>
        </p:nvSpPr>
        <p:spPr>
          <a:xfrm>
            <a:off x="7254850" y="1651406"/>
            <a:ext cx="11146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(Zendesk)</a:t>
            </a:r>
            <a:endParaRPr lang="en-US" sz="900" dirty="0"/>
          </a:p>
        </p:txBody>
      </p:sp>
      <p:sp>
        <p:nvSpPr>
          <p:cNvPr id="54" name="Text 46"/>
          <p:cNvSpPr txBox="1"/>
          <p:nvPr/>
        </p:nvSpPr>
        <p:spPr>
          <a:xfrm>
            <a:off x="4762195" y="1956816"/>
            <a:ext cx="117043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DEPENDENCIES</a:t>
            </a:r>
            <a:endParaRPr lang="en-US" sz="1000" dirty="0"/>
          </a:p>
        </p:txBody>
      </p:sp>
      <p:sp>
        <p:nvSpPr>
          <p:cNvPr id="55" name="Text 47"/>
          <p:cNvSpPr txBox="1"/>
          <p:nvPr/>
        </p:nvSpPr>
        <p:spPr>
          <a:xfrm>
            <a:off x="4914900" y="2205533"/>
            <a:ext cx="277977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batch dump from CRM (02:00 UTC)</a:t>
            </a:r>
            <a:endParaRPr lang="en-US" sz="1000" dirty="0"/>
          </a:p>
        </p:txBody>
      </p:sp>
      <p:sp>
        <p:nvSpPr>
          <p:cNvPr id="56" name="Text 48"/>
          <p:cNvSpPr txBox="1"/>
          <p:nvPr/>
        </p:nvSpPr>
        <p:spPr>
          <a:xfrm>
            <a:off x="4914900" y="2455164"/>
            <a:ext cx="29800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events stream topic: `user_events`</a:t>
            </a:r>
            <a:endParaRPr lang="en-US" sz="1000" dirty="0"/>
          </a:p>
        </p:txBody>
      </p:sp>
      <p:sp>
        <p:nvSpPr>
          <p:cNvPr id="57" name="Text 49"/>
          <p:cNvSpPr txBox="1"/>
          <p:nvPr/>
        </p:nvSpPr>
        <p:spPr>
          <a:xfrm>
            <a:off x="533095" y="4256532"/>
            <a:ext cx="354147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Logic: Identity resolution across email/device_id.</a:t>
            </a:r>
            <a:endParaRPr lang="en-US" sz="1000" dirty="0"/>
          </a:p>
        </p:txBody>
      </p:sp>
      <p:sp>
        <p:nvSpPr>
          <p:cNvPr id="58" name="Text 50"/>
          <p:cNvSpPr txBox="1"/>
          <p:nvPr/>
        </p:nvSpPr>
        <p:spPr>
          <a:xfrm>
            <a:off x="533095" y="4525366"/>
            <a:ext cx="147492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PROCESSING STEPS</a:t>
            </a:r>
            <a:endParaRPr lang="en-US" sz="1000" dirty="0"/>
          </a:p>
        </p:txBody>
      </p:sp>
      <p:sp>
        <p:nvSpPr>
          <p:cNvPr id="59" name="Text 51"/>
          <p:cNvSpPr txBox="1"/>
          <p:nvPr/>
        </p:nvSpPr>
        <p:spPr>
          <a:xfrm>
            <a:off x="685800" y="4774082"/>
            <a:ext cx="224668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 raw Bronze (append-only)</a:t>
            </a:r>
            <a:endParaRPr lang="en-US" sz="1000" dirty="0"/>
          </a:p>
        </p:txBody>
      </p:sp>
      <p:sp>
        <p:nvSpPr>
          <p:cNvPr id="60" name="Text 52"/>
          <p:cNvSpPr txBox="1"/>
          <p:nvPr/>
        </p:nvSpPr>
        <p:spPr>
          <a:xfrm>
            <a:off x="685800" y="5022799"/>
            <a:ext cx="189372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Deduplicate &amp; clean (Silver)</a:t>
            </a:r>
            <a:endParaRPr lang="en-US" sz="1000" dirty="0"/>
          </a:p>
        </p:txBody>
      </p:sp>
      <p:sp>
        <p:nvSpPr>
          <p:cNvPr id="61" name="Text 53"/>
          <p:cNvSpPr txBox="1"/>
          <p:nvPr/>
        </p:nvSpPr>
        <p:spPr>
          <a:xfrm>
            <a:off x="685800" y="5253228"/>
            <a:ext cx="227502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 session metrics (Gold)</a:t>
            </a:r>
            <a:endParaRPr lang="en-US" sz="1000" dirty="0"/>
          </a:p>
        </p:txBody>
      </p:sp>
      <p:sp>
        <p:nvSpPr>
          <p:cNvPr id="62" name="Text 54"/>
          <p:cNvSpPr txBox="1"/>
          <p:nvPr/>
        </p:nvSpPr>
        <p:spPr>
          <a:xfrm>
            <a:off x="4762195" y="4256532"/>
            <a:ext cx="307512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Interface: Delta Table `gold.cust_360`</a:t>
            </a:r>
            <a:endParaRPr lang="en-US" sz="1000" dirty="0"/>
          </a:p>
        </p:txBody>
      </p:sp>
      <p:sp>
        <p:nvSpPr>
          <p:cNvPr id="63" name="Text 55"/>
          <p:cNvSpPr txBox="1"/>
          <p:nvPr/>
        </p:nvSpPr>
        <p:spPr>
          <a:xfrm>
            <a:off x="4762195" y="4506163"/>
            <a:ext cx="35131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Secondary Interface: REST API for real-time scoring.</a:t>
            </a:r>
            <a:endParaRPr lang="en-US" sz="1000" dirty="0"/>
          </a:p>
        </p:txBody>
      </p:sp>
      <p:sp>
        <p:nvSpPr>
          <p:cNvPr id="64" name="Text 56"/>
          <p:cNvSpPr txBox="1"/>
          <p:nvPr/>
        </p:nvSpPr>
        <p:spPr>
          <a:xfrm>
            <a:off x="4762195" y="4774082"/>
            <a:ext cx="71323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</a:t>
            </a:r>
            <a:endParaRPr lang="en-US" sz="1000" dirty="0"/>
          </a:p>
        </p:txBody>
      </p:sp>
      <p:sp>
        <p:nvSpPr>
          <p:cNvPr id="65" name="Text 57"/>
          <p:cNvSpPr txBox="1"/>
          <p:nvPr/>
        </p:nvSpPr>
        <p:spPr>
          <a:xfrm>
            <a:off x="4800600" y="5071262"/>
            <a:ext cx="323697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cust_id (PK), segment, LTV, last_login</a:t>
            </a:r>
            <a:endParaRPr lang="en-US" sz="1000" dirty="0"/>
          </a:p>
        </p:txBody>
      </p:sp>
      <p:sp>
        <p:nvSpPr>
          <p:cNvPr id="66" name="Text 58"/>
          <p:cNvSpPr txBox="1"/>
          <p:nvPr/>
        </p:nvSpPr>
        <p:spPr>
          <a:xfrm>
            <a:off x="533095" y="6344107"/>
            <a:ext cx="335127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Downstream Teams: Marketing Ops, Data Science (Churn Model).</a:t>
            </a:r>
            <a:endParaRPr lang="en-US" sz="1000" dirty="0"/>
          </a:p>
        </p:txBody>
      </p:sp>
      <p:sp>
        <p:nvSpPr>
          <p:cNvPr id="67" name="Text 59"/>
          <p:cNvSpPr txBox="1"/>
          <p:nvPr/>
        </p:nvSpPr>
        <p:spPr>
          <a:xfrm>
            <a:off x="533095" y="6804965"/>
            <a:ext cx="132222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POLICIES</a:t>
            </a:r>
            <a:endParaRPr lang="en-US" sz="1000" dirty="0"/>
          </a:p>
        </p:txBody>
      </p:sp>
      <p:sp>
        <p:nvSpPr>
          <p:cNvPr id="68" name="Text 60"/>
          <p:cNvSpPr txBox="1"/>
          <p:nvPr/>
        </p:nvSpPr>
        <p:spPr>
          <a:xfrm>
            <a:off x="685800" y="7053682"/>
            <a:ext cx="220827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PII Masking applied for DS team.</a:t>
            </a:r>
            <a:endParaRPr lang="en-US" sz="1000" dirty="0"/>
          </a:p>
        </p:txBody>
      </p:sp>
      <p:sp>
        <p:nvSpPr>
          <p:cNvPr id="69" name="Text 61"/>
          <p:cNvSpPr txBox="1"/>
          <p:nvPr/>
        </p:nvSpPr>
        <p:spPr>
          <a:xfrm>
            <a:off x="685800" y="7303313"/>
            <a:ext cx="308427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Read-only access via `marketing_reader` role.</a:t>
            </a:r>
            <a:endParaRPr lang="en-US" sz="1000" dirty="0"/>
          </a:p>
        </p:txBody>
      </p:sp>
      <p:sp>
        <p:nvSpPr>
          <p:cNvPr id="70" name="Text 62"/>
          <p:cNvSpPr txBox="1"/>
          <p:nvPr/>
        </p:nvSpPr>
        <p:spPr>
          <a:xfrm>
            <a:off x="4762195" y="6334963"/>
            <a:ext cx="9052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Owner</a:t>
            </a:r>
            <a:endParaRPr lang="en-US" sz="900" dirty="0"/>
          </a:p>
        </p:txBody>
      </p:sp>
      <p:sp>
        <p:nvSpPr>
          <p:cNvPr id="71" name="Text 63"/>
          <p:cNvSpPr txBox="1"/>
          <p:nvPr/>
        </p:nvSpPr>
        <p:spPr>
          <a:xfrm>
            <a:off x="4762195" y="6496812"/>
            <a:ext cx="6144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Sarah J.</a:t>
            </a:r>
            <a:endParaRPr lang="en-US" sz="1000" dirty="0"/>
          </a:p>
        </p:txBody>
      </p:sp>
      <p:sp>
        <p:nvSpPr>
          <p:cNvPr id="72" name="Text 64"/>
          <p:cNvSpPr txBox="1"/>
          <p:nvPr/>
        </p:nvSpPr>
        <p:spPr>
          <a:xfrm>
            <a:off x="6629400" y="6334963"/>
            <a:ext cx="8193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Steward</a:t>
            </a:r>
            <a:endParaRPr lang="en-US" sz="900" dirty="0"/>
          </a:p>
        </p:txBody>
      </p:sp>
      <p:sp>
        <p:nvSpPr>
          <p:cNvPr id="73" name="Text 65"/>
          <p:cNvSpPr txBox="1"/>
          <p:nvPr/>
        </p:nvSpPr>
        <p:spPr>
          <a:xfrm>
            <a:off x="6629400" y="6496812"/>
            <a:ext cx="5577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Mike L.</a:t>
            </a:r>
            <a:endParaRPr lang="en-US" sz="1000" dirty="0"/>
          </a:p>
        </p:txBody>
      </p:sp>
      <p:sp>
        <p:nvSpPr>
          <p:cNvPr id="74" name="Text 66"/>
          <p:cNvSpPr txBox="1"/>
          <p:nvPr/>
        </p:nvSpPr>
        <p:spPr>
          <a:xfrm>
            <a:off x="4762195" y="6753758"/>
            <a:ext cx="8193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</a:t>
            </a:r>
            <a:endParaRPr lang="en-US" sz="900" dirty="0"/>
          </a:p>
        </p:txBody>
      </p:sp>
      <p:sp>
        <p:nvSpPr>
          <p:cNvPr id="75" name="Shape 67"/>
          <p:cNvSpPr/>
          <p:nvPr/>
        </p:nvSpPr>
        <p:spPr>
          <a:xfrm>
            <a:off x="4762195" y="6925666"/>
            <a:ext cx="952805" cy="161849"/>
          </a:xfrm>
          <a:prstGeom prst="roundRect">
            <a:avLst>
              <a:gd name="adj" fmla="val 132934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6" name="Text 68"/>
          <p:cNvSpPr txBox="1"/>
          <p:nvPr/>
        </p:nvSpPr>
        <p:spPr>
          <a:xfrm>
            <a:off x="4809744" y="6934810"/>
            <a:ext cx="9436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77" name="Text 69"/>
          <p:cNvSpPr txBox="1"/>
          <p:nvPr/>
        </p:nvSpPr>
        <p:spPr>
          <a:xfrm>
            <a:off x="6629400" y="6753758"/>
            <a:ext cx="6007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Retention</a:t>
            </a:r>
            <a:endParaRPr lang="en-US" sz="900" dirty="0"/>
          </a:p>
        </p:txBody>
      </p:sp>
      <p:sp>
        <p:nvSpPr>
          <p:cNvPr id="78" name="Text 70"/>
          <p:cNvSpPr txBox="1"/>
          <p:nvPr/>
        </p:nvSpPr>
        <p:spPr>
          <a:xfrm>
            <a:off x="6629400" y="6915607"/>
            <a:ext cx="5769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Years</a:t>
            </a:r>
            <a:endParaRPr lang="en-US" sz="1000" dirty="0"/>
          </a:p>
        </p:txBody>
      </p:sp>
      <p:sp>
        <p:nvSpPr>
          <p:cNvPr id="79" name="Text 71"/>
          <p:cNvSpPr txBox="1"/>
          <p:nvPr/>
        </p:nvSpPr>
        <p:spPr>
          <a:xfrm>
            <a:off x="457200" y="6596482"/>
            <a:ext cx="32580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© 2026 Enterprise Quality Engineering. All rights reserved.</a:t>
            </a:r>
            <a:endParaRPr lang="en-US" sz="900" dirty="0"/>
          </a:p>
        </p:txBody>
      </p:sp>
      <p:sp>
        <p:nvSpPr>
          <p:cNvPr id="80" name="Text 72"/>
          <p:cNvSpPr txBox="1"/>
          <p:nvPr/>
        </p:nvSpPr>
        <p:spPr>
          <a:xfrm>
            <a:off x="11664086" y="6596482"/>
            <a:ext cx="1627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900" dirty="0"/>
          </a:p>
        </p:txBody>
      </p:sp>
      <p:sp>
        <p:nvSpPr>
          <p:cNvPr id="81" name="Shape 73"/>
          <p:cNvSpPr/>
          <p:nvPr/>
        </p:nvSpPr>
        <p:spPr>
          <a:xfrm>
            <a:off x="8839505" y="1067105"/>
            <a:ext cx="3047695" cy="5105095"/>
          </a:xfrm>
          <a:prstGeom prst="roundRect">
            <a:avLst>
              <a:gd name="adj" fmla="val 75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82" name="Shape 74"/>
          <p:cNvSpPr/>
          <p:nvPr/>
        </p:nvSpPr>
        <p:spPr>
          <a:xfrm>
            <a:off x="11048695" y="685800"/>
            <a:ext cx="1218895" cy="1218895"/>
          </a:xfrm>
          <a:prstGeom prst="roundRect">
            <a:avLst>
              <a:gd name="adj" fmla="val 75019"/>
            </a:avLst>
          </a:prstGeom>
          <a:solidFill>
            <a:srgbClr val="3B82F6">
              <a:alpha val="10000"/>
            </a:srgbClr>
          </a:solidFill>
          <a:ln/>
        </p:spPr>
      </p:sp>
      <p:pic>
        <p:nvPicPr>
          <p:cNvPr id="8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068105" y="1343254"/>
            <a:ext cx="171907" cy="171907"/>
          </a:xfrm>
          <a:prstGeom prst="rect">
            <a:avLst/>
          </a:prstGeom>
        </p:spPr>
      </p:pic>
      <p:sp>
        <p:nvSpPr>
          <p:cNvPr id="84" name="Text 75"/>
          <p:cNvSpPr txBox="1"/>
          <p:nvPr/>
        </p:nvSpPr>
        <p:spPr>
          <a:xfrm>
            <a:off x="9315907" y="1295705"/>
            <a:ext cx="151058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Contract</a:t>
            </a:r>
            <a:endParaRPr lang="en-US" sz="1300" dirty="0"/>
          </a:p>
        </p:txBody>
      </p:sp>
      <p:sp>
        <p:nvSpPr>
          <p:cNvPr id="85" name="Shape 76"/>
          <p:cNvSpPr/>
          <p:nvPr/>
        </p:nvSpPr>
        <p:spPr>
          <a:xfrm>
            <a:off x="9068105" y="1828800"/>
            <a:ext cx="25904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6" name="Text 77"/>
          <p:cNvSpPr txBox="1"/>
          <p:nvPr/>
        </p:nvSpPr>
        <p:spPr>
          <a:xfrm>
            <a:off x="9068105" y="1600200"/>
            <a:ext cx="19431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Guaranteed Service Levels (SLOs)</a:t>
            </a:r>
            <a:endParaRPr lang="en-US" sz="900" dirty="0"/>
          </a:p>
        </p:txBody>
      </p:sp>
      <p:sp>
        <p:nvSpPr>
          <p:cNvPr id="87" name="Shape 78"/>
          <p:cNvSpPr/>
          <p:nvPr/>
        </p:nvSpPr>
        <p:spPr>
          <a:xfrm>
            <a:off x="9068105" y="2066544"/>
            <a:ext cx="2553005" cy="942746"/>
          </a:xfrm>
          <a:prstGeom prst="roundRect">
            <a:avLst>
              <a:gd name="adj" fmla="val 5878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8" name="Shape 79"/>
          <p:cNvSpPr/>
          <p:nvPr/>
        </p:nvSpPr>
        <p:spPr>
          <a:xfrm>
            <a:off x="9068105" y="2066544"/>
            <a:ext cx="28346" cy="942746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89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210751" y="2206447"/>
            <a:ext cx="133502" cy="133502"/>
          </a:xfrm>
          <a:prstGeom prst="rect">
            <a:avLst/>
          </a:prstGeom>
        </p:spPr>
      </p:pic>
      <p:sp>
        <p:nvSpPr>
          <p:cNvPr id="90" name="Text 80"/>
          <p:cNvSpPr txBox="1"/>
          <p:nvPr/>
        </p:nvSpPr>
        <p:spPr>
          <a:xfrm>
            <a:off x="9381744" y="2200046"/>
            <a:ext cx="91714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FRESHNESS</a:t>
            </a:r>
            <a:endParaRPr lang="en-US" sz="1000" dirty="0"/>
          </a:p>
        </p:txBody>
      </p:sp>
      <p:sp>
        <p:nvSpPr>
          <p:cNvPr id="91" name="Text 81"/>
          <p:cNvSpPr txBox="1"/>
          <p:nvPr/>
        </p:nvSpPr>
        <p:spPr>
          <a:xfrm>
            <a:off x="9210751" y="2442362"/>
            <a:ext cx="9336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T-1 Hour</a:t>
            </a:r>
            <a:endParaRPr lang="en-US" sz="1500" dirty="0"/>
          </a:p>
        </p:txBody>
      </p:sp>
      <p:sp>
        <p:nvSpPr>
          <p:cNvPr id="92" name="Text 82"/>
          <p:cNvSpPr txBox="1"/>
          <p:nvPr/>
        </p:nvSpPr>
        <p:spPr>
          <a:xfrm>
            <a:off x="9210751" y="2737714"/>
            <a:ext cx="17913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available by 8:00 AM daily</a:t>
            </a:r>
            <a:endParaRPr lang="en-US" sz="900" dirty="0"/>
          </a:p>
        </p:txBody>
      </p:sp>
      <p:sp>
        <p:nvSpPr>
          <p:cNvPr id="93" name="Shape 83"/>
          <p:cNvSpPr/>
          <p:nvPr/>
        </p:nvSpPr>
        <p:spPr>
          <a:xfrm>
            <a:off x="9068105" y="3156509"/>
            <a:ext cx="2553005" cy="942746"/>
          </a:xfrm>
          <a:prstGeom prst="roundRect">
            <a:avLst>
              <a:gd name="adj" fmla="val 5878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4" name="Shape 84"/>
          <p:cNvSpPr/>
          <p:nvPr/>
        </p:nvSpPr>
        <p:spPr>
          <a:xfrm>
            <a:off x="9068105" y="3156509"/>
            <a:ext cx="28346" cy="94274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95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9210751" y="3296412"/>
            <a:ext cx="133502" cy="133502"/>
          </a:xfrm>
          <a:prstGeom prst="rect">
            <a:avLst/>
          </a:prstGeom>
        </p:spPr>
      </p:pic>
      <p:sp>
        <p:nvSpPr>
          <p:cNvPr id="96" name="Text 85"/>
          <p:cNvSpPr txBox="1"/>
          <p:nvPr/>
        </p:nvSpPr>
        <p:spPr>
          <a:xfrm>
            <a:off x="9381744" y="3290011"/>
            <a:ext cx="12307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COMPLETENESS</a:t>
            </a:r>
            <a:endParaRPr lang="en-US" sz="1000" dirty="0"/>
          </a:p>
        </p:txBody>
      </p:sp>
      <p:sp>
        <p:nvSpPr>
          <p:cNvPr id="97" name="Text 86"/>
          <p:cNvSpPr txBox="1"/>
          <p:nvPr/>
        </p:nvSpPr>
        <p:spPr>
          <a:xfrm>
            <a:off x="9210751" y="3532327"/>
            <a:ext cx="886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99.95%</a:t>
            </a:r>
            <a:endParaRPr lang="en-US" sz="1500" dirty="0"/>
          </a:p>
        </p:txBody>
      </p:sp>
      <p:sp>
        <p:nvSpPr>
          <p:cNvPr id="98" name="Text 87"/>
          <p:cNvSpPr txBox="1"/>
          <p:nvPr/>
        </p:nvSpPr>
        <p:spPr>
          <a:xfrm>
            <a:off x="9210751" y="3827678"/>
            <a:ext cx="13432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Non-null essential keys</a:t>
            </a:r>
            <a:endParaRPr lang="en-US" sz="900" dirty="0"/>
          </a:p>
        </p:txBody>
      </p:sp>
      <p:sp>
        <p:nvSpPr>
          <p:cNvPr id="99" name="Shape 88"/>
          <p:cNvSpPr/>
          <p:nvPr/>
        </p:nvSpPr>
        <p:spPr>
          <a:xfrm>
            <a:off x="9068105" y="4246474"/>
            <a:ext cx="2553005" cy="942746"/>
          </a:xfrm>
          <a:prstGeom prst="roundRect">
            <a:avLst>
              <a:gd name="adj" fmla="val 5878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0" name="Shape 89"/>
          <p:cNvSpPr/>
          <p:nvPr/>
        </p:nvSpPr>
        <p:spPr>
          <a:xfrm>
            <a:off x="9068105" y="4246474"/>
            <a:ext cx="28346" cy="942746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01" name="Image 9" descr="preencoded.png">    </p:cNvPr>
          <p:cNvPicPr>
            <a:picLocks noChangeAspect="1"/>
          </p:cNvPicPr>
          <p:nvPr/>
        </p:nvPicPr>
        <p:blipFill>
          <a:blip r:embed="rId10"/>
          <a:srcRect l="-1507" r="-1507" t="0" b="0"/>
          <a:stretch/>
        </p:blipFill>
        <p:spPr>
          <a:xfrm>
            <a:off x="9210751" y="4386377"/>
            <a:ext cx="171907" cy="133502"/>
          </a:xfrm>
          <a:prstGeom prst="rect">
            <a:avLst/>
          </a:prstGeom>
        </p:spPr>
      </p:pic>
      <p:sp>
        <p:nvSpPr>
          <p:cNvPr id="102" name="Text 90"/>
          <p:cNvSpPr txBox="1"/>
          <p:nvPr/>
        </p:nvSpPr>
        <p:spPr>
          <a:xfrm>
            <a:off x="9420149" y="4379976"/>
            <a:ext cx="8787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03" name="Text 91"/>
          <p:cNvSpPr txBox="1"/>
          <p:nvPr/>
        </p:nvSpPr>
        <p:spPr>
          <a:xfrm>
            <a:off x="9210751" y="4621378"/>
            <a:ext cx="9811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+/- 0.5%</a:t>
            </a:r>
            <a:endParaRPr lang="en-US" sz="1500" dirty="0"/>
          </a:p>
        </p:txBody>
      </p:sp>
      <p:sp>
        <p:nvSpPr>
          <p:cNvPr id="104" name="Text 92"/>
          <p:cNvSpPr txBox="1"/>
          <p:nvPr/>
        </p:nvSpPr>
        <p:spPr>
          <a:xfrm>
            <a:off x="9210751" y="4916729"/>
            <a:ext cx="15718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 vs Source System</a:t>
            </a:r>
            <a:endParaRPr lang="en-US" sz="900" dirty="0"/>
          </a:p>
        </p:txBody>
      </p:sp>
      <p:sp>
        <p:nvSpPr>
          <p:cNvPr id="105" name="Shape 93"/>
          <p:cNvSpPr/>
          <p:nvPr/>
        </p:nvSpPr>
        <p:spPr>
          <a:xfrm>
            <a:off x="9068105" y="5336438"/>
            <a:ext cx="2553005" cy="942746"/>
          </a:xfrm>
          <a:prstGeom prst="roundRect">
            <a:avLst>
              <a:gd name="adj" fmla="val 5878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6" name="Shape 94"/>
          <p:cNvSpPr/>
          <p:nvPr/>
        </p:nvSpPr>
        <p:spPr>
          <a:xfrm>
            <a:off x="9068105" y="5336438"/>
            <a:ext cx="28346" cy="942746"/>
          </a:xfrm>
          <a:prstGeom prst="rect">
            <a:avLst/>
          </a:prstGeom>
          <a:solidFill>
            <a:srgbClr val="EC4899"/>
          </a:solidFill>
          <a:ln/>
        </p:spPr>
      </p:sp>
      <p:pic>
        <p:nvPicPr>
          <p:cNvPr id="107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9210751" y="5476342"/>
            <a:ext cx="133502" cy="133502"/>
          </a:xfrm>
          <a:prstGeom prst="rect">
            <a:avLst/>
          </a:prstGeom>
        </p:spPr>
      </p:pic>
      <p:sp>
        <p:nvSpPr>
          <p:cNvPr id="108" name="Text 95"/>
          <p:cNvSpPr txBox="1"/>
          <p:nvPr/>
        </p:nvSpPr>
        <p:spPr>
          <a:xfrm>
            <a:off x="9381744" y="5469026"/>
            <a:ext cx="73609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VALIDITY</a:t>
            </a:r>
            <a:endParaRPr lang="en-US" sz="1000" dirty="0"/>
          </a:p>
        </p:txBody>
      </p:sp>
      <p:sp>
        <p:nvSpPr>
          <p:cNvPr id="109" name="Text 96"/>
          <p:cNvSpPr txBox="1"/>
          <p:nvPr/>
        </p:nvSpPr>
        <p:spPr>
          <a:xfrm>
            <a:off x="9210751" y="5711342"/>
            <a:ext cx="9912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Critical</a:t>
            </a:r>
            <a:endParaRPr lang="en-US" sz="1500" dirty="0"/>
          </a:p>
        </p:txBody>
      </p:sp>
      <p:sp>
        <p:nvSpPr>
          <p:cNvPr id="110" name="Text 97"/>
          <p:cNvSpPr txBox="1"/>
          <p:nvPr/>
        </p:nvSpPr>
        <p:spPr>
          <a:xfrm>
            <a:off x="9210751" y="6006694"/>
            <a:ext cx="13624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BC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Blocking errors allowed</a:t>
            </a:r>
            <a:endParaRPr lang="en-US" sz="900" dirty="0"/>
          </a:p>
        </p:txBody>
      </p:sp>
      <p:sp>
        <p:nvSpPr>
          <p:cNvPr id="111" name="Shape 98"/>
          <p:cNvSpPr/>
          <p:nvPr/>
        </p:nvSpPr>
        <p:spPr>
          <a:xfrm>
            <a:off x="9068105" y="5324551"/>
            <a:ext cx="25904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2" name="Text 99"/>
          <p:cNvSpPr txBox="1"/>
          <p:nvPr/>
        </p:nvSpPr>
        <p:spPr>
          <a:xfrm>
            <a:off x="9068105" y="5524805"/>
            <a:ext cx="8860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Health</a:t>
            </a:r>
            <a:endParaRPr lang="en-US" sz="900" dirty="0"/>
          </a:p>
        </p:txBody>
      </p:sp>
      <p:sp>
        <p:nvSpPr>
          <p:cNvPr id="113" name="Shape 100"/>
          <p:cNvSpPr/>
          <p:nvPr/>
        </p:nvSpPr>
        <p:spPr>
          <a:xfrm>
            <a:off x="10966399" y="5486400"/>
            <a:ext cx="694944" cy="228600"/>
          </a:xfrm>
          <a:prstGeom prst="roundRect">
            <a:avLst>
              <a:gd name="adj" fmla="val 400000"/>
            </a:avLst>
          </a:prstGeom>
          <a:solidFill>
            <a:srgbClr val="10B981"/>
          </a:solidFill>
          <a:ln/>
        </p:spPr>
      </p:sp>
      <p:sp>
        <p:nvSpPr>
          <p:cNvPr id="114" name="Text 101"/>
          <p:cNvSpPr txBox="1"/>
          <p:nvPr/>
        </p:nvSpPr>
        <p:spPr>
          <a:xfrm>
            <a:off x="11042294" y="5524805"/>
            <a:ext cx="6291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HEALTHY</a:t>
            </a:r>
            <a:endParaRPr lang="en-US" sz="900" dirty="0"/>
          </a:p>
        </p:txBody>
      </p:sp>
      <p:sp>
        <p:nvSpPr>
          <p:cNvPr id="115" name="Text 102"/>
          <p:cNvSpPr txBox="1"/>
          <p:nvPr/>
        </p:nvSpPr>
        <p:spPr>
          <a:xfrm>
            <a:off x="9508846" y="5790895"/>
            <a:ext cx="18004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 validated: Today, 09:15 AM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047902"/>
          </a:xfrm>
          <a:prstGeom prst="rect">
            <a:avLst/>
          </a:prstGeom>
          <a:solidFill>
            <a:srgbClr val="0026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76402" y="286207"/>
            <a:ext cx="506303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CI/CD for Data Pipelines with QE Gates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76402" y="685800"/>
            <a:ext cx="48627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Robust automation ensuring quality from local development to production serving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52805" y="5658307"/>
            <a:ext cx="10287000" cy="381305"/>
          </a:xfrm>
          <a:prstGeom prst="rect">
            <a:avLst/>
          </a:prstGeom>
          <a:noFill/>
          <a:ln w="25400">
            <a:solidFill>
              <a:srgbClr val="005E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44745" y="5962802"/>
            <a:ext cx="2104949" cy="171907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139842" y="5982005"/>
            <a:ext cx="20007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5EB8">
                    <a:alpha val="4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 Feedback &amp; Observability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220602" y="5943600"/>
            <a:ext cx="75895" cy="75895"/>
          </a:xfrm>
          <a:prstGeom prst="rect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5198" y="5943600"/>
            <a:ext cx="75895" cy="75895"/>
          </a:xfrm>
          <a:prstGeom prst="rect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25305" y="5277002"/>
            <a:ext cx="2438705" cy="91440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525305" y="5277002"/>
            <a:ext cx="38405" cy="9144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715500" y="5438851"/>
            <a:ext cx="71506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Benefit: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9715500" y="5591556"/>
            <a:ext cx="197236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Shifting checks left (to Dev/Test) reduces production incidents by ~40-60% and accelerates hotfix cycles.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0" y="6420002"/>
            <a:ext cx="12191695" cy="4379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6420002"/>
            <a:ext cx="12191695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76402" y="6590995"/>
            <a:ext cx="275325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1 — Enterprise Lakehouse Quality Engineering Blueprint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11608308" y="6590995"/>
            <a:ext cx="19111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76402" y="3715207"/>
            <a:ext cx="11239805" cy="3840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523183" y="3362249"/>
            <a:ext cx="10104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Pull Request Gate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3433572" y="4190695"/>
            <a:ext cx="11914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Peer review + CI Build Pass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872070" y="3362249"/>
            <a:ext cx="77175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Release Gate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7732166" y="4190695"/>
            <a:ext cx="10479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Sign-off + Contract Compliance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9107" y="2909621"/>
            <a:ext cx="2476195" cy="1647749"/>
          </a:xfrm>
          <a:prstGeom prst="rect">
            <a:avLst/>
          </a:prstGeom>
          <a:solidFill>
            <a:srgbClr val="FFFFFF"/>
          </a:solidFill>
          <a:ln w="50800">
            <a:solidFill>
              <a:srgbClr val="005EB8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80" b="-180"/>
          <a:stretch/>
        </p:blipFill>
        <p:spPr>
          <a:xfrm>
            <a:off x="2762402" y="3167482"/>
            <a:ext cx="190195" cy="152705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780898" y="3100730"/>
            <a:ext cx="14859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26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DEVELOPMENT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895198" y="3491179"/>
            <a:ext cx="151241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dbt/spark unit tests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895198" y="3724351"/>
            <a:ext cx="174101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Static code analysis (SQLLint)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895198" y="3957523"/>
            <a:ext cx="159837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Schema contract validation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895198" y="4190695"/>
            <a:ext cx="158831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Sample data profile checks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858207" y="2909621"/>
            <a:ext cx="2476195" cy="1647749"/>
          </a:xfrm>
          <a:prstGeom prst="rect">
            <a:avLst/>
          </a:prstGeom>
          <a:solidFill>
            <a:srgbClr val="FFFFFF"/>
          </a:solidFill>
          <a:ln w="50800">
            <a:solidFill>
              <a:srgbClr val="005EB8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029907" y="3167482"/>
            <a:ext cx="152705" cy="152705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5009998" y="3100730"/>
            <a:ext cx="19248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26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INTEGRATION / TEST</a:t>
            </a:r>
            <a:endParaRPr lang="en-US" sz="1200" dirty="0"/>
          </a:p>
        </p:txBody>
      </p:sp>
      <p:sp>
        <p:nvSpPr>
          <p:cNvPr id="35" name="Text 31"/>
          <p:cNvSpPr txBox="1"/>
          <p:nvPr/>
        </p:nvSpPr>
        <p:spPr>
          <a:xfrm>
            <a:off x="5124298" y="3491179"/>
            <a:ext cx="121706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integration tests</a:t>
            </a:r>
            <a:endParaRPr lang="en-US" sz="900" dirty="0"/>
          </a:p>
        </p:txBody>
      </p:sp>
      <p:sp>
        <p:nvSpPr>
          <p:cNvPr id="36" name="Text 32"/>
          <p:cNvSpPr txBox="1"/>
          <p:nvPr/>
        </p:nvSpPr>
        <p:spPr>
          <a:xfrm>
            <a:off x="5124298" y="3724351"/>
            <a:ext cx="138897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Data-diff vs. Golden Set</a:t>
            </a:r>
            <a:endParaRPr lang="en-US" sz="900" dirty="0"/>
          </a:p>
        </p:txBody>
      </p:sp>
      <p:sp>
        <p:nvSpPr>
          <p:cNvPr id="37" name="Text 33"/>
          <p:cNvSpPr txBox="1"/>
          <p:nvPr/>
        </p:nvSpPr>
        <p:spPr>
          <a:xfrm>
            <a:off x="5124298" y="3957523"/>
            <a:ext cx="158831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Performance/Volume tests</a:t>
            </a:r>
            <a:endParaRPr lang="en-US" sz="900" dirty="0"/>
          </a:p>
        </p:txBody>
      </p:sp>
      <p:sp>
        <p:nvSpPr>
          <p:cNvPr id="38" name="Text 34"/>
          <p:cNvSpPr txBox="1"/>
          <p:nvPr/>
        </p:nvSpPr>
        <p:spPr>
          <a:xfrm>
            <a:off x="5124298" y="4190695"/>
            <a:ext cx="135971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 &amp; PII scanning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9087307" y="2909621"/>
            <a:ext cx="2476195" cy="1647749"/>
          </a:xfrm>
          <a:prstGeom prst="rect">
            <a:avLst/>
          </a:prstGeom>
          <a:solidFill>
            <a:srgbClr val="FFFFFF"/>
          </a:solidFill>
          <a:ln w="50800">
            <a:solidFill>
              <a:srgbClr val="005EB8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1259007" y="3167482"/>
            <a:ext cx="152705" cy="152705"/>
          </a:xfrm>
          <a:prstGeom prst="rect">
            <a:avLst/>
          </a:prstGeom>
        </p:spPr>
      </p:pic>
      <p:sp>
        <p:nvSpPr>
          <p:cNvPr id="41" name="Text 36"/>
          <p:cNvSpPr txBox="1"/>
          <p:nvPr/>
        </p:nvSpPr>
        <p:spPr>
          <a:xfrm>
            <a:off x="9239098" y="3100730"/>
            <a:ext cx="138165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26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PRODUCTION</a:t>
            </a:r>
            <a:endParaRPr lang="en-US" sz="1200" dirty="0"/>
          </a:p>
        </p:txBody>
      </p:sp>
      <p:sp>
        <p:nvSpPr>
          <p:cNvPr id="42" name="Text 37"/>
          <p:cNvSpPr txBox="1"/>
          <p:nvPr/>
        </p:nvSpPr>
        <p:spPr>
          <a:xfrm>
            <a:off x="9353398" y="3491179"/>
            <a:ext cx="116951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Canary Deployment</a:t>
            </a:r>
            <a:endParaRPr lang="en-US" sz="900" dirty="0"/>
          </a:p>
        </p:txBody>
      </p:sp>
      <p:sp>
        <p:nvSpPr>
          <p:cNvPr id="43" name="Text 38"/>
          <p:cNvSpPr txBox="1"/>
          <p:nvPr/>
        </p:nvSpPr>
        <p:spPr>
          <a:xfrm>
            <a:off x="9353398" y="3724351"/>
            <a:ext cx="119786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SLO monitoring</a:t>
            </a:r>
            <a:endParaRPr lang="en-US" sz="900" dirty="0"/>
          </a:p>
        </p:txBody>
      </p:sp>
      <p:sp>
        <p:nvSpPr>
          <p:cNvPr id="44" name="Text 39"/>
          <p:cNvSpPr txBox="1"/>
          <p:nvPr/>
        </p:nvSpPr>
        <p:spPr>
          <a:xfrm>
            <a:off x="9353398" y="3957523"/>
            <a:ext cx="122712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Drift detection alerts</a:t>
            </a:r>
            <a:endParaRPr lang="en-US" sz="900" dirty="0"/>
          </a:p>
        </p:txBody>
      </p:sp>
      <p:sp>
        <p:nvSpPr>
          <p:cNvPr id="45" name="Text 40"/>
          <p:cNvSpPr txBox="1"/>
          <p:nvPr/>
        </p:nvSpPr>
        <p:spPr>
          <a:xfrm>
            <a:off x="9353398" y="4190695"/>
            <a:ext cx="147401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rollback logic</a:t>
            </a:r>
            <a:endParaRPr lang="en-US" sz="900" dirty="0"/>
          </a:p>
        </p:txBody>
      </p:sp>
      <p:sp>
        <p:nvSpPr>
          <p:cNvPr id="46" name="Shape 41"/>
          <p:cNvSpPr/>
          <p:nvPr/>
        </p:nvSpPr>
        <p:spPr>
          <a:xfrm>
            <a:off x="3791102" y="3543300"/>
            <a:ext cx="381305" cy="381305"/>
          </a:xfrm>
          <a:prstGeom prst="ellipse">
            <a:avLst/>
          </a:prstGeom>
          <a:solidFill>
            <a:srgbClr val="005EB8"/>
          </a:solidFill>
          <a:ln/>
          <a:effectLst>
            <a:outerShdw sx="100000" sy="100000" kx="0" ky="0" algn="bl" rotWithShape="0" blurRad="12700" dist="12700" dir="16200000">
              <a:srgbClr val="ffffff">
                <a:alpha val="100000"/>
              </a:srgbClr>
            </a:outerShdw>
          </a:effectLst>
        </p:spPr>
      </p:sp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100" b="-1100"/>
          <a:stretch/>
        </p:blipFill>
        <p:spPr>
          <a:xfrm>
            <a:off x="3924605" y="3666744"/>
            <a:ext cx="114300" cy="133502"/>
          </a:xfrm>
          <a:prstGeom prst="rect">
            <a:avLst/>
          </a:prstGeom>
        </p:spPr>
      </p:pic>
      <p:sp>
        <p:nvSpPr>
          <p:cNvPr id="48" name="Shape 42"/>
          <p:cNvSpPr/>
          <p:nvPr/>
        </p:nvSpPr>
        <p:spPr>
          <a:xfrm>
            <a:off x="8020202" y="3543300"/>
            <a:ext cx="381305" cy="381305"/>
          </a:xfrm>
          <a:prstGeom prst="ellipse">
            <a:avLst/>
          </a:prstGeom>
          <a:solidFill>
            <a:srgbClr val="005EB8"/>
          </a:solidFill>
          <a:ln/>
          <a:effectLst>
            <a:outerShdw sx="100000" sy="100000" kx="0" ky="0" algn="bl" rotWithShape="0" blurRad="12700" dist="12700" dir="16200000">
              <a:srgbClr val="ffffff">
                <a:alpha val="100000"/>
              </a:srgbClr>
            </a:outerShdw>
          </a:effectLst>
        </p:spPr>
      </p:sp>
      <p:pic>
        <p:nvPicPr>
          <p:cNvPr id="4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143646" y="3666744"/>
            <a:ext cx="133502" cy="13350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0"/>
            <a:ext cx="4876495" cy="68580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743700"/>
            <a:ext cx="12191695" cy="1143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090879"/>
            <a:ext cx="609905" cy="3840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5253228"/>
            <a:ext cx="362102" cy="457200"/>
          </a:xfrm>
          <a:prstGeom prst="roundRect">
            <a:avLst>
              <a:gd name="adj" fmla="val 252526"/>
            </a:avLst>
          </a:prstGeom>
          <a:noFill/>
          <a:ln w="25400">
            <a:solidFill>
              <a:srgbClr val="E5E7E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80" b="-180"/>
          <a:stretch/>
        </p:blipFill>
        <p:spPr>
          <a:xfrm>
            <a:off x="997610" y="5405018"/>
            <a:ext cx="190195" cy="15270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288182" y="5253228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00" b="-100"/>
          <a:stretch/>
        </p:blipFill>
        <p:spPr>
          <a:xfrm>
            <a:off x="3459175" y="5405018"/>
            <a:ext cx="114300" cy="1527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811012" y="5253228"/>
            <a:ext cx="314554" cy="457200"/>
          </a:xfrm>
          <a:prstGeom prst="roundRect">
            <a:avLst>
              <a:gd name="adj" fmla="val 290697"/>
            </a:avLst>
          </a:prstGeom>
          <a:solidFill>
            <a:srgbClr val="F5F3FF"/>
          </a:solidFill>
          <a:ln w="25400">
            <a:solidFill>
              <a:srgbClr val="8B5CF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889650" y="5405018"/>
            <a:ext cx="152705" cy="15270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76095" y="1024128"/>
            <a:ext cx="10433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03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914400" y="1518818"/>
            <a:ext cx="5943600" cy="1400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QE Impact: Deal Wins &amp; RFP Scoring</a:t>
            </a:r>
            <a:endParaRPr lang="en-US" sz="4500" dirty="0"/>
          </a:p>
        </p:txBody>
      </p:sp>
      <p:sp>
        <p:nvSpPr>
          <p:cNvPr id="16" name="Text 11"/>
          <p:cNvSpPr txBox="1"/>
          <p:nvPr/>
        </p:nvSpPr>
        <p:spPr>
          <a:xfrm>
            <a:off x="914400" y="3290926"/>
            <a:ext cx="5686654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Positioning Quality Engineering as a strategic differentiator to reduce risk, assure compliance, and accelerate value delivery.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424635" y="5119726"/>
            <a:ext cx="6574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1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1424635" y="5339182"/>
            <a:ext cx="986638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Reduction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3897173" y="5253228"/>
            <a:ext cx="6766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2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3897173" y="5471770"/>
            <a:ext cx="11292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6272784" y="5119726"/>
            <a:ext cx="6766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3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6272784" y="5339182"/>
            <a:ext cx="662026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Value</a:t>
            </a:r>
            <a:endParaRPr lang="en-US" sz="13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9" b="-9"/>
          <a:stretch/>
        </p:blipFill>
        <p:spPr>
          <a:xfrm>
            <a:off x="8229600" y="1276502"/>
            <a:ext cx="3047695" cy="381030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790127" y="5400446"/>
            <a:ext cx="20336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Competitive Advantage Model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90802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71500" y="418795"/>
            <a:ext cx="509595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Value Narrative &amp; RFP Scoring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990295"/>
            <a:ext cx="60679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Translating quality engineering capabilities into business value and deal assurance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71500" y="1781251"/>
            <a:ext cx="4972507" cy="2190902"/>
          </a:xfrm>
          <a:prstGeom prst="roundRect">
            <a:avLst>
              <a:gd name="adj" fmla="val 21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1754" y="2029054"/>
            <a:ext cx="190195" cy="19019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57046" y="1981505"/>
            <a:ext cx="24387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Expected Business Value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71754" y="2457907"/>
            <a:ext cx="131490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40-60%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771754" y="2857500"/>
            <a:ext cx="21415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Reduction in Data Quality Incidents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3133649" y="2457907"/>
            <a:ext cx="126735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25-35%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3133649" y="2857500"/>
            <a:ext cx="21890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Time-to-Insight (Cycle Time)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771754" y="3208630"/>
            <a:ext cx="12957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20-30%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771754" y="3609137"/>
            <a:ext cx="217901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L3 Engineering Support Cost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3133649" y="3208630"/>
            <a:ext cx="9528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2100" dirty="0"/>
          </a:p>
        </p:txBody>
      </p:sp>
      <p:sp>
        <p:nvSpPr>
          <p:cNvPr id="17" name="Text 14"/>
          <p:cNvSpPr txBox="1"/>
          <p:nvPr/>
        </p:nvSpPr>
        <p:spPr>
          <a:xfrm>
            <a:off x="3133649" y="3609137"/>
            <a:ext cx="18461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Audit Traceability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71500" y="4198925"/>
            <a:ext cx="4972507" cy="1295705"/>
          </a:xfrm>
          <a:prstGeom prst="roundRect">
            <a:avLst>
              <a:gd name="adj" fmla="val 4151"/>
            </a:avLst>
          </a:prstGeom>
          <a:solidFill>
            <a:srgbClr val="F8FAF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24205" y="4369918"/>
            <a:ext cx="29297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PERFORMANCE INDICATORS (KPIS)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850392" y="4627778"/>
            <a:ext cx="10835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DQ Incident Rate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3222346" y="4627778"/>
            <a:ext cx="116037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 Adherence %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850392" y="4889297"/>
            <a:ext cx="148407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 Time to Recovery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3222346" y="4889297"/>
            <a:ext cx="11027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Coverage %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850392" y="5150815"/>
            <a:ext cx="14264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Product Adoption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3222346" y="5150815"/>
            <a:ext cx="13222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Findings Count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924398" y="1781251"/>
            <a:ext cx="5695798" cy="5181905"/>
          </a:xfrm>
          <a:prstGeom prst="roundRect">
            <a:avLst>
              <a:gd name="adj" fmla="val 389"/>
            </a:avLst>
          </a:prstGeom>
          <a:solidFill>
            <a:srgbClr val="FFFFFF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00" b="-100"/>
          <a:stretch/>
        </p:blipFill>
        <p:spPr>
          <a:xfrm>
            <a:off x="5924398" y="1819656"/>
            <a:ext cx="114300" cy="152705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6115507" y="1781251"/>
            <a:ext cx="2638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Sample RFP Scoring Rubric Impact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5924398" y="2162556"/>
            <a:ext cx="5695798" cy="3000146"/>
          </a:xfrm>
          <a:prstGeom prst="roundRect">
            <a:avLst>
              <a:gd name="adj" fmla="val 774"/>
            </a:avLst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5934456" y="2171700"/>
            <a:ext cx="1571854" cy="43799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Shape 27"/>
          <p:cNvSpPr/>
          <p:nvPr/>
        </p:nvSpPr>
        <p:spPr>
          <a:xfrm>
            <a:off x="5934456" y="2600554"/>
            <a:ext cx="1571854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6086246" y="2305202"/>
            <a:ext cx="12911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Evaluation Criteria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7499909" y="2171700"/>
            <a:ext cx="3409798" cy="43799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" name="Shape 30"/>
          <p:cNvSpPr/>
          <p:nvPr/>
        </p:nvSpPr>
        <p:spPr>
          <a:xfrm>
            <a:off x="7499909" y="2600554"/>
            <a:ext cx="3409798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7651699" y="2305202"/>
            <a:ext cx="17099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QE Contribution Strategy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10904220" y="2171700"/>
            <a:ext cx="714146" cy="43799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7" name="Shape 33"/>
          <p:cNvSpPr/>
          <p:nvPr/>
        </p:nvSpPr>
        <p:spPr>
          <a:xfrm>
            <a:off x="10904220" y="2600554"/>
            <a:ext cx="71414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11056925" y="2305202"/>
            <a:ext cx="5102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Points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5934456" y="3234233"/>
            <a:ext cx="1571854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6"/>
          <p:cNvSpPr txBox="1"/>
          <p:nvPr/>
        </p:nvSpPr>
        <p:spPr>
          <a:xfrm>
            <a:off x="6086246" y="2743200"/>
            <a:ext cx="88148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 &amp; Architecture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7499909" y="3234233"/>
            <a:ext cx="3409798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7651699" y="2743200"/>
            <a:ext cx="268193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Layered gates (Bronze/Silver/Gold) show structured risk mitigation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10904220" y="3234233"/>
            <a:ext cx="71414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Text 40"/>
          <p:cNvSpPr txBox="1"/>
          <p:nvPr/>
        </p:nvSpPr>
        <p:spPr>
          <a:xfrm>
            <a:off x="11171225" y="2743200"/>
            <a:ext cx="2816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000" dirty="0"/>
          </a:p>
        </p:txBody>
      </p:sp>
      <p:sp>
        <p:nvSpPr>
          <p:cNvPr id="45" name="Shape 41"/>
          <p:cNvSpPr/>
          <p:nvPr/>
        </p:nvSpPr>
        <p:spPr>
          <a:xfrm>
            <a:off x="5934456" y="3872484"/>
            <a:ext cx="1571854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2"/>
          <p:cNvSpPr txBox="1"/>
          <p:nvPr/>
        </p:nvSpPr>
        <p:spPr>
          <a:xfrm>
            <a:off x="6086246" y="3381451"/>
            <a:ext cx="747979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Scalability</a:t>
            </a:r>
            <a:endParaRPr lang="en-US" sz="1000" dirty="0"/>
          </a:p>
        </p:txBody>
      </p:sp>
      <p:sp>
        <p:nvSpPr>
          <p:cNvPr id="47" name="Shape 43"/>
          <p:cNvSpPr/>
          <p:nvPr/>
        </p:nvSpPr>
        <p:spPr>
          <a:xfrm>
            <a:off x="7499909" y="3872484"/>
            <a:ext cx="3409798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8" name="Text 44"/>
          <p:cNvSpPr txBox="1"/>
          <p:nvPr/>
        </p:nvSpPr>
        <p:spPr>
          <a:xfrm>
            <a:off x="7651699" y="3381451"/>
            <a:ext cx="2882189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Data Mesh controls demonstrate ability to scale domains</a:t>
            </a:r>
            <a:endParaRPr lang="en-US" sz="1000" dirty="0"/>
          </a:p>
        </p:txBody>
      </p:sp>
      <p:sp>
        <p:nvSpPr>
          <p:cNvPr id="49" name="Shape 45"/>
          <p:cNvSpPr/>
          <p:nvPr/>
        </p:nvSpPr>
        <p:spPr>
          <a:xfrm>
            <a:off x="10904220" y="3872484"/>
            <a:ext cx="71414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6"/>
          <p:cNvSpPr txBox="1"/>
          <p:nvPr/>
        </p:nvSpPr>
        <p:spPr>
          <a:xfrm>
            <a:off x="11174882" y="3381451"/>
            <a:ext cx="2715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000" dirty="0"/>
          </a:p>
        </p:txBody>
      </p:sp>
      <p:sp>
        <p:nvSpPr>
          <p:cNvPr id="51" name="Shape 47"/>
          <p:cNvSpPr/>
          <p:nvPr/>
        </p:nvSpPr>
        <p:spPr>
          <a:xfrm>
            <a:off x="5934456" y="4510735"/>
            <a:ext cx="1571854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48"/>
          <p:cNvSpPr txBox="1"/>
          <p:nvPr/>
        </p:nvSpPr>
        <p:spPr>
          <a:xfrm>
            <a:off x="6086246" y="4019702"/>
            <a:ext cx="11676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&amp; Testing</a:t>
            </a:r>
            <a:endParaRPr lang="en-US" sz="1000" dirty="0"/>
          </a:p>
        </p:txBody>
      </p:sp>
      <p:sp>
        <p:nvSpPr>
          <p:cNvPr id="53" name="Shape 49"/>
          <p:cNvSpPr/>
          <p:nvPr/>
        </p:nvSpPr>
        <p:spPr>
          <a:xfrm>
            <a:off x="7499909" y="4510735"/>
            <a:ext cx="3409798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Text 50"/>
          <p:cNvSpPr txBox="1"/>
          <p:nvPr/>
        </p:nvSpPr>
        <p:spPr>
          <a:xfrm>
            <a:off x="7651699" y="4019702"/>
            <a:ext cx="281543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automation, contracts, and observability SLOs</a:t>
            </a:r>
            <a:endParaRPr lang="en-US" sz="1000" dirty="0"/>
          </a:p>
        </p:txBody>
      </p:sp>
      <p:sp>
        <p:nvSpPr>
          <p:cNvPr id="55" name="Shape 51"/>
          <p:cNvSpPr/>
          <p:nvPr/>
        </p:nvSpPr>
        <p:spPr>
          <a:xfrm>
            <a:off x="10904220" y="4510735"/>
            <a:ext cx="71414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6" name="Text 52"/>
          <p:cNvSpPr txBox="1"/>
          <p:nvPr/>
        </p:nvSpPr>
        <p:spPr>
          <a:xfrm>
            <a:off x="11174882" y="4019702"/>
            <a:ext cx="2715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000" dirty="0"/>
          </a:p>
        </p:txBody>
      </p:sp>
      <p:sp>
        <p:nvSpPr>
          <p:cNvPr id="57" name="Text 53"/>
          <p:cNvSpPr txBox="1"/>
          <p:nvPr/>
        </p:nvSpPr>
        <p:spPr>
          <a:xfrm>
            <a:off x="6086246" y="4657954"/>
            <a:ext cx="13295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Commercials / TCO</a:t>
            </a:r>
            <a:endParaRPr lang="en-US" sz="1000" dirty="0"/>
          </a:p>
        </p:txBody>
      </p:sp>
      <p:sp>
        <p:nvSpPr>
          <p:cNvPr id="58" name="Text 54"/>
          <p:cNvSpPr txBox="1"/>
          <p:nvPr/>
        </p:nvSpPr>
        <p:spPr>
          <a:xfrm>
            <a:off x="7651699" y="4657954"/>
            <a:ext cx="313913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Reduced support costs and rework lowers long-term TCO</a:t>
            </a:r>
            <a:endParaRPr lang="en-US" sz="1000" dirty="0"/>
          </a:p>
        </p:txBody>
      </p:sp>
      <p:sp>
        <p:nvSpPr>
          <p:cNvPr id="59" name="Text 55"/>
          <p:cNvSpPr txBox="1"/>
          <p:nvPr/>
        </p:nvSpPr>
        <p:spPr>
          <a:xfrm>
            <a:off x="11172139" y="4657954"/>
            <a:ext cx="2715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000" dirty="0"/>
          </a:p>
        </p:txBody>
      </p:sp>
      <p:sp>
        <p:nvSpPr>
          <p:cNvPr id="60" name="Shape 56"/>
          <p:cNvSpPr/>
          <p:nvPr/>
        </p:nvSpPr>
        <p:spPr>
          <a:xfrm>
            <a:off x="5924398" y="5391302"/>
            <a:ext cx="5695798" cy="1571854"/>
          </a:xfrm>
          <a:prstGeom prst="roundRect">
            <a:avLst>
              <a:gd name="adj" fmla="val 4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7"/>
          <p:cNvSpPr txBox="1"/>
          <p:nvPr/>
        </p:nvSpPr>
        <p:spPr>
          <a:xfrm>
            <a:off x="6124651" y="5600700"/>
            <a:ext cx="24103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QE Maturity Ladder Positioning</a:t>
            </a:r>
            <a:endParaRPr lang="en-US" sz="1200" dirty="0"/>
          </a:p>
        </p:txBody>
      </p:sp>
      <p:sp>
        <p:nvSpPr>
          <p:cNvPr id="62" name="Shape 58"/>
          <p:cNvSpPr/>
          <p:nvPr/>
        </p:nvSpPr>
        <p:spPr>
          <a:xfrm>
            <a:off x="6314846" y="6105449"/>
            <a:ext cx="4914900" cy="1920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3" name="Text 59"/>
          <p:cNvSpPr txBox="1"/>
          <p:nvPr/>
        </p:nvSpPr>
        <p:spPr>
          <a:xfrm>
            <a:off x="6902806" y="6596482"/>
            <a:ext cx="38295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RFP scores typically require demonstrating Level 3+ capabilities</a:t>
            </a:r>
            <a:endParaRPr lang="en-US" sz="900" dirty="0"/>
          </a:p>
        </p:txBody>
      </p:sp>
      <p:sp>
        <p:nvSpPr>
          <p:cNvPr id="64" name="Shape 60"/>
          <p:cNvSpPr/>
          <p:nvPr/>
        </p:nvSpPr>
        <p:spPr>
          <a:xfrm>
            <a:off x="0" y="7338974"/>
            <a:ext cx="12191695" cy="1810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Shape 61"/>
          <p:cNvSpPr/>
          <p:nvPr/>
        </p:nvSpPr>
        <p:spPr>
          <a:xfrm>
            <a:off x="0" y="7338974"/>
            <a:ext cx="1219169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6" name="Text 62"/>
          <p:cNvSpPr txBox="1"/>
          <p:nvPr/>
        </p:nvSpPr>
        <p:spPr>
          <a:xfrm>
            <a:off x="571500" y="7358177"/>
            <a:ext cx="35250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1 — Enterprise Lakehouse Quality Engineering Blueprint</a:t>
            </a:r>
            <a:endParaRPr lang="en-US" sz="900" dirty="0"/>
          </a:p>
        </p:txBody>
      </p:sp>
      <p:sp>
        <p:nvSpPr>
          <p:cNvPr id="67" name="Text 63"/>
          <p:cNvSpPr txBox="1"/>
          <p:nvPr/>
        </p:nvSpPr>
        <p:spPr>
          <a:xfrm>
            <a:off x="10229393" y="7358177"/>
            <a:ext cx="14859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&amp; Proprietary</a:t>
            </a:r>
            <a:endParaRPr lang="en-US" sz="900" dirty="0"/>
          </a:p>
        </p:txBody>
      </p:sp>
      <p:sp>
        <p:nvSpPr>
          <p:cNvPr id="68" name="Shape 64"/>
          <p:cNvSpPr/>
          <p:nvPr/>
        </p:nvSpPr>
        <p:spPr>
          <a:xfrm>
            <a:off x="6467551" y="5971946"/>
            <a:ext cx="267005" cy="26700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</p:sp>
      <p:sp>
        <p:nvSpPr>
          <p:cNvPr id="69" name="Text 65"/>
          <p:cNvSpPr txBox="1"/>
          <p:nvPr/>
        </p:nvSpPr>
        <p:spPr>
          <a:xfrm>
            <a:off x="6576365" y="6019495"/>
            <a:ext cx="1435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00" dirty="0"/>
          </a:p>
        </p:txBody>
      </p:sp>
      <p:sp>
        <p:nvSpPr>
          <p:cNvPr id="70" name="Text 66"/>
          <p:cNvSpPr txBox="1"/>
          <p:nvPr/>
        </p:nvSpPr>
        <p:spPr>
          <a:xfrm>
            <a:off x="6424574" y="6324905"/>
            <a:ext cx="44074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 hoc</a:t>
            </a:r>
            <a:endParaRPr lang="en-US" sz="800" dirty="0"/>
          </a:p>
        </p:txBody>
      </p:sp>
      <p:sp>
        <p:nvSpPr>
          <p:cNvPr id="71" name="Shape 67"/>
          <p:cNvSpPr/>
          <p:nvPr/>
        </p:nvSpPr>
        <p:spPr>
          <a:xfrm>
            <a:off x="7915046" y="5971946"/>
            <a:ext cx="267005" cy="26700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</p:sp>
      <p:sp>
        <p:nvSpPr>
          <p:cNvPr id="72" name="Text 68"/>
          <p:cNvSpPr txBox="1"/>
          <p:nvPr/>
        </p:nvSpPr>
        <p:spPr>
          <a:xfrm>
            <a:off x="8012887" y="6019495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  <p:sp>
        <p:nvSpPr>
          <p:cNvPr id="73" name="Text 69"/>
          <p:cNvSpPr txBox="1"/>
          <p:nvPr/>
        </p:nvSpPr>
        <p:spPr>
          <a:xfrm>
            <a:off x="7814462" y="6324905"/>
            <a:ext cx="55504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Managed</a:t>
            </a:r>
            <a:endParaRPr lang="en-US" sz="800" dirty="0"/>
          </a:p>
        </p:txBody>
      </p:sp>
      <p:sp>
        <p:nvSpPr>
          <p:cNvPr id="74" name="Shape 70"/>
          <p:cNvSpPr/>
          <p:nvPr/>
        </p:nvSpPr>
        <p:spPr>
          <a:xfrm>
            <a:off x="9363456" y="5971946"/>
            <a:ext cx="267005" cy="267005"/>
          </a:xfrm>
          <a:prstGeom prst="ellipse">
            <a:avLst/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75" name="Text 71"/>
          <p:cNvSpPr txBox="1"/>
          <p:nvPr/>
        </p:nvSpPr>
        <p:spPr>
          <a:xfrm>
            <a:off x="9460382" y="6019495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00" dirty="0"/>
          </a:p>
        </p:txBody>
      </p:sp>
      <p:sp>
        <p:nvSpPr>
          <p:cNvPr id="76" name="Text 72"/>
          <p:cNvSpPr txBox="1"/>
          <p:nvPr/>
        </p:nvSpPr>
        <p:spPr>
          <a:xfrm>
            <a:off x="9217152" y="6324905"/>
            <a:ext cx="64099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</a:t>
            </a:r>
            <a:endParaRPr lang="en-US" sz="800" dirty="0"/>
          </a:p>
        </p:txBody>
      </p:sp>
      <p:sp>
        <p:nvSpPr>
          <p:cNvPr id="77" name="Shape 73"/>
          <p:cNvSpPr/>
          <p:nvPr/>
        </p:nvSpPr>
        <p:spPr>
          <a:xfrm>
            <a:off x="10810951" y="5971946"/>
            <a:ext cx="267005" cy="267005"/>
          </a:xfrm>
          <a:prstGeom prst="ellipse">
            <a:avLst/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78" name="Text 74"/>
          <p:cNvSpPr txBox="1"/>
          <p:nvPr/>
        </p:nvSpPr>
        <p:spPr>
          <a:xfrm>
            <a:off x="10906049" y="6019495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00" dirty="0"/>
          </a:p>
        </p:txBody>
      </p:sp>
      <p:sp>
        <p:nvSpPr>
          <p:cNvPr id="79" name="Text 75"/>
          <p:cNvSpPr txBox="1"/>
          <p:nvPr/>
        </p:nvSpPr>
        <p:spPr>
          <a:xfrm>
            <a:off x="10690250" y="6324905"/>
            <a:ext cx="59344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2026-01-18T11:05:37Z</dcterms:created>
  <dcterms:modified xsi:type="dcterms:W3CDTF">2026-01-18T11:05:37Z</dcterms:modified>
</cp:coreProperties>
</file>